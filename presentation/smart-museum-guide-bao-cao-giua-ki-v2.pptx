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giới thiệu nhóm và đề tài Smart Museum Guide. Nói rõ phạm vi buổi hôm nay: báo cáo sơ bộ giữa kì gồm hai phần — workflow của hệ thống và demo ứng dụng đang chạy. Hình bên phải là ảnh chụp thật từ app mobile (trái) và trang web khách mở bằng QR (phải).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6 phần. Nhấn mạnh: phần 4 và phần 6 (workflow và demo) là trọng tâm của buổi giữa kì.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tình huống giả định để người nghe hình dung. Sau đó khái quát thành ba trở ngại: ngôn ngữ, thiết bị thuyết minh, và việc nội dung gắn cứng vào hiện vật trong khi bảo tàng thường xuyên luân chuyển trưng bày. Trở ngại thứ ba là điểm dẫn tới ý tưởng cốt lõi của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Đặt câu hỏi trung tâm, rồi chuyển thành năm mục tiêu cụ thể. Số 26 ngôn ngữ là danh sách cấu hình mặc định trong SUPPORTED_LANGUAGES của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về ý tưởng. So sánh cách thường gặp (QR trỏ thẳng vào hiện vật) với cách của nhóm: beacon và QR chỉ trỏ tới Zone; bảng ExhibitAssignment mang chiều thời gian để biết zone đang trưng bày hiện vật nào. Nhờ vậy bảo tàng luân chuyển hiện vật mà không phải in lại QR hay cấu hình lại beacon.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Git repository gồm ba dự án độc lập: backend (API NestJS + Admin Next.js), visitor-mobile (Expo) và visitor-web (Vite). Visitor chỉ gọi các endpoint /api/public; Admin gọi /api/admin có JWT. OpenAI là tùy chọn — không có key thì nhân viên vẫn tự nhập bản dịch. beacon-scan là công cụ Swift nhỏ để Admin đọc định danh beacon, vì Web Bluetooth trên macOS không trả về service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dữ liệu trong Prisma schema. Nhấn vào bảng ExhibitAssignment: activeTo = null nghĩa là đang trưng bày không thời hạn. Bốn quy tắc bên phải đều có unit test. Lưu ý về định danh beacon: không dùng MAC vì iOS không cung cấp MAC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5 bước của nhân viên. Bước 2 là tùy chọn: nếu backend có OPENAI_API_KEY thì tự dịch và tạo audio; nếu không, nhân viên nhập tay. Bước 5 minh họa bằng ảnh chụp thật của trang ZONE_A01: chỉ cần chọn hiện vật và bấm “Đặt làm hiện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lối vào: app mobile dùng BLE (tự động) và trình duyệt dùng QR (không cần cài). Cả hai đổ về cùng một dịch vụ resolve ở backend, nên nội dung luôn nhất quán. Điểm cần nhấn: app chỉ gọi API một lần cho mỗi zone được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tách thành các module thuần để kiểm thử độc lập. Nguồn tín hiệu có hai loại: thật (react-native-ble-plx, cần development build) và mô phỏng. SignalProcessor giữ cửa sổ 4 giây, loại outlier theo median, làm mượt bằng trung bình có trọng số. Không dùng machine learning — chủ ý giữ đơn giản, giải thích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máy trạng thái bằng ví dụ đi qua cửa giữa hai phòng: tín hiệu hai beacon gần bằng nhau, nếu không có hysteresis và dwell thì app sẽ đổi qua đổi lại liên tục. Ứng viên phải mạnh hơn beacon hiện tại ít nhất 4 dB và giữ ưu thế 3 giây mới được xác nhận. Cooldown 60 giây tránh làm phiền khi khách bước ra rồi quay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demo. Các ảnh trong những slide tiếp theo là ảnh chụp thật từ hệ thống chạy với dữ liệu seed — dùng làm phương án dự phòng nếu demo trực tiếp gặp sự cố mạng hoặc thiết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Đăng nhập Admin (tài khoản seed cục bộ). Trang Tổng quan cho biết 3 khu vực, 3 beacon đang bật, 4/5 hiện vật đã xuất bản, và bảng trạng thái trực tiếp. Nhấn mạnh: bảng này dùng cùng ExhibitResolverService với app khách, nên những gì nhân viên thấy chính là những gì khách sẽ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trang web bằng QR (hoặc gõ localhost:4173/q/ZONE_A01). Đổi ngôn ngữ để thấy nội dung tiếng Việt, Anh, Nhật. Bản tiếng Nhật trong dữ liệu mẫu có bản dịch nhưng chưa có audio — giao diện hiển thị thông báo rõ ràng. Nếu ngôn ngữ yêu cầu không có bản dịch, API tự dùng bản dự phòng và gắn cờ translationFallback.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Màn demo thể hiện rõ nhất ý tưởng cốt lõi. Mở cùng một mã QR: đang là Tượng đá Chăm. Trong Admin, vào ZONE_A01, chọn Trống đồng Đông Sơn và bấm Đặt làm hiện tại. Tải lại trang QR: nội dung đổi ngay. Phần lịch sử trong Admin cho thấy bản gán cũ được đóng lại chứ không bị xóa (CurrentExhibitPlanner).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có điện thoại cài development build và beacon thật: đi vào khu vực và chờ gợi ý. Nếu không, chạy chế độ mô phỏng — tín hiệu giả lập đi qua đúng pipeline SignalProcessor và BeaconZoneDetector như phần cứng thật. Luồng: cấp quyền → quét → sau 3 giây giữ ưu thế thì xác nhận khu vực và hiện gợi ý → mở chi tiết hiện vật, nghe audio. App cũng có tab QR dùng chung API làm phương án dự phòng.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lấy từ lần chạy npm test: backend 8 suite / 79 test, mobile 7 suite / 62 test, tất cả đều đạt. Các module được kiểm thử là phần quyết định của hệ thống: giải mã beacon, xử lý tín hiệu, máy trạng thái, quy tắc lịch trưng bày và chọn bản dịch.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trung thực: phần mềm đã có đủ luồng chính và chạy được với dữ liệu mẫu, nhưng chưa có thử nghiệm thực địa. Kế hoạch cuối kì tập trung vào đo đạc, hiệu chỉnh và đánh giá với người dùng. (Nhóm điều chỉnh các mục cho khớp phân công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dành cho hội đồng: đề xuất cách đánh giá định lượng cho phần nhận diện vị trí và định tính cho trải nghiệm người dùng. So sánh cấu hình là một dạng ablation cho các tham số của máy trạng thái. Chủ động xin góp ý về phương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một câu: hạ tầng đứng yên, nội dung chuyển động. Cảm ơn và mời đặt câu hỏi. Chuẩn bị sẵn các câu hỏi dễ gặp: vì sao không dùng GPS/Wi-Fi (trong nhà, độ chính xác theo phòng), vì sao không dùng ML cho RSSI (dữ liệu ít, cần giải thích được), xử lý khi beacon hết pin (QR dự phòng, Admin bật/tắt beacon).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image" Target="../media/image-2-1.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2.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image" Target="../media/image-4-2.png"/><Relationship Id="rId9" Type="http://schemas.openxmlformats.org/officeDocument/2006/relationships/image" Target="../media/image-4-9.png"/><Relationship Id="rId10" Type="http://schemas.openxmlformats.org/officeDocument/2006/relationships/image" Target="../media/image-4-2.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1.png"/><Relationship Id="rId6" Type="http://schemas.openxmlformats.org/officeDocument/2006/relationships/image" Target="../media/image-8-1.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2.png"/><Relationship Id="rId5" Type="http://schemas.openxmlformats.org/officeDocument/2006/relationships/image" Target="../media/image-10-5.png"/><Relationship Id="rId6" Type="http://schemas.openxmlformats.org/officeDocument/2006/relationships/image" Target="../media/image-10-2.png"/><Relationship Id="rId7" Type="http://schemas.openxmlformats.org/officeDocument/2006/relationships/image" Target="../media/image-10-7.png"/><Relationship Id="rId8" Type="http://schemas.openxmlformats.org/officeDocument/2006/relationships/image" Target="../media/image-10-2.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image" Target="../media/image-12-3.png"/><Relationship Id="rId6" Type="http://schemas.openxmlformats.org/officeDocument/2006/relationships/image" Target="../media/image-12-3.png"/><Relationship Id="rId7" Type="http://schemas.openxmlformats.org/officeDocument/2006/relationships/image" Target="../media/image-12-3.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3.png"/><Relationship Id="rId5" Type="http://schemas.openxmlformats.org/officeDocument/2006/relationships/image" Target="../media/image-13-3.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2.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B17"/>
        </a:solidFill>
      </p:bgPr>
    </p:bg>
    <p:spTree>
      <p:nvGrpSpPr>
        <p:cNvPr id="1" name=""/>
        <p:cNvGrpSpPr/>
        <p:nvPr/>
      </p:nvGrpSpPr>
      <p:grpSpPr>
        <a:xfrm>
          <a:off x="0" y="0"/>
          <a:ext cx="0" cy="0"/>
          <a:chOff x="0" y="0"/>
          <a:chExt cx="0" cy="0"/>
        </a:xfrm>
      </p:grpSpPr>
      <p:pic>
        <p:nvPicPr>
          <p:cNvPr id="2" name="Image 0" descr="Họa tiết vòm trang trí">    </p:cNvPr>
          <p:cNvPicPr>
            <a:picLocks noChangeAspect="1"/>
          </p:cNvPicPr>
          <p:nvPr/>
        </p:nvPicPr>
        <p:blipFill>
          <a:blip r:embed="rId1"/>
          <a:stretch>
            <a:fillRect/>
          </a:stretch>
        </p:blipFill>
        <p:spPr>
          <a:xfrm>
            <a:off x="6720840" y="502920"/>
            <a:ext cx="4764024" cy="6355080"/>
          </a:xfrm>
          <a:prstGeom prst="rect">
            <a:avLst/>
          </a:prstGeom>
        </p:spPr>
      </p:pic>
      <p:pic>
        <p:nvPicPr>
          <p:cNvPr id="3" name="Image 1" descr="Họa tiết vòm trang trí">    </p:cNvPr>
          <p:cNvPicPr>
            <a:picLocks noChangeAspect="1"/>
          </p:cNvPicPr>
          <p:nvPr/>
        </p:nvPicPr>
        <p:blipFill>
          <a:blip r:embed="rId2"/>
          <a:stretch>
            <a:fillRect/>
          </a:stretch>
        </p:blipFill>
        <p:spPr>
          <a:xfrm>
            <a:off x="7086600" y="1097280"/>
            <a:ext cx="4050792" cy="5760720"/>
          </a:xfrm>
          <a:prstGeom prst="rect">
            <a:avLst/>
          </a:prstGeom>
        </p:spPr>
      </p:pic>
      <p:pic>
        <p:nvPicPr>
          <p:cNvPr id="4" name="Image 2" descr="Ảnh chụp màn hình ứng dụng khách tham quan">    </p:cNvPr>
          <p:cNvPicPr>
            <a:picLocks noChangeAspect="1"/>
          </p:cNvPicPr>
          <p:nvPr/>
        </p:nvPicPr>
        <p:blipFill>
          <a:blip r:embed="rId3"/>
          <a:stretch>
            <a:fillRect/>
          </a:stretch>
        </p:blipFill>
        <p:spPr>
          <a:xfrm>
            <a:off x="6903720" y="1783080"/>
            <a:ext cx="2348049" cy="4572000"/>
          </a:xfrm>
          <a:prstGeom prst="rect">
            <a:avLst/>
          </a:prstGeom>
        </p:spPr>
      </p:pic>
      <p:pic>
        <p:nvPicPr>
          <p:cNvPr id="5" name="Image 3" descr="Ảnh chụp màn hình ứng dụng khách tham quan">    </p:cNvPr>
          <p:cNvPicPr>
            <a:picLocks noChangeAspect="1"/>
          </p:cNvPicPr>
          <p:nvPr/>
        </p:nvPicPr>
        <p:blipFill>
          <a:blip r:embed="rId4"/>
          <a:stretch>
            <a:fillRect/>
          </a:stretch>
        </p:blipFill>
        <p:spPr>
          <a:xfrm>
            <a:off x="8915400" y="868680"/>
            <a:ext cx="2559373" cy="4983480"/>
          </a:xfrm>
          <a:prstGeom prst="rect">
            <a:avLst/>
          </a:prstGeom>
        </p:spPr>
      </p:pic>
      <p:sp>
        <p:nvSpPr>
          <p:cNvPr id="6" name="Text 0"/>
          <p:cNvSpPr txBox="1"/>
          <p:nvPr/>
        </p:nvSpPr>
        <p:spPr>
          <a:xfrm>
            <a:off x="731520" y="1325880"/>
            <a:ext cx="5486400" cy="292608"/>
          </a:xfrm>
          <a:prstGeom prst="rect">
            <a:avLst/>
          </a:prstGeom>
          <a:noFill/>
          <a:ln/>
        </p:spPr>
        <p:txBody>
          <a:bodyPr wrap="square" lIns="0" tIns="0" rIns="0" bIns="0" rtlCol="0" anchor="t"/>
          <a:lstStyle/>
          <a:p>
            <a:pPr indent="0" marL="0">
              <a:buNone/>
            </a:pPr>
            <a:r>
              <a:rPr lang="en-US" sz="1200" b="1" spc="300" kern="0" dirty="0">
                <a:solidFill>
                  <a:srgbClr val="B08A4F"/>
                </a:solidFill>
                <a:latin typeface="Calibri" pitchFamily="34" charset="0"/>
                <a:ea typeface="Calibri" pitchFamily="34" charset="-122"/>
                <a:cs typeface="Calibri" pitchFamily="34" charset="-120"/>
              </a:rPr>
              <a:t>BÁO CÁO SƠ BỘ GIỮA KÌ</a:t>
            </a:r>
            <a:endParaRPr lang="en-US" sz="1200" dirty="0"/>
          </a:p>
        </p:txBody>
      </p:sp>
      <p:sp>
        <p:nvSpPr>
          <p:cNvPr id="7" name="Text 1"/>
          <p:cNvSpPr txBox="1"/>
          <p:nvPr/>
        </p:nvSpPr>
        <p:spPr>
          <a:xfrm>
            <a:off x="731520" y="1691640"/>
            <a:ext cx="6035040" cy="1783080"/>
          </a:xfrm>
          <a:prstGeom prst="rect">
            <a:avLst/>
          </a:prstGeom>
          <a:noFill/>
          <a:ln/>
        </p:spPr>
        <p:txBody>
          <a:bodyPr wrap="square" lIns="0" tIns="0" rIns="0" bIns="0" rtlCol="0" anchor="t"/>
          <a:lstStyle/>
          <a:p>
            <a:pPr indent="0" marL="0">
              <a:buNone/>
            </a:pPr>
            <a:r>
              <a:rPr lang="en-US" sz="5400" dirty="0">
                <a:solidFill>
                  <a:srgbClr val="FFFFFF"/>
                </a:solidFill>
                <a:latin typeface="Cambria" pitchFamily="34" charset="0"/>
                <a:ea typeface="Cambria" pitchFamily="34" charset="-122"/>
                <a:cs typeface="Cambria" pitchFamily="34" charset="-120"/>
              </a:rPr>
              <a:t>Smart Museum Guide</a:t>
            </a:r>
            <a:endParaRPr lang="en-US" sz="5400" dirty="0"/>
          </a:p>
        </p:txBody>
      </p:sp>
      <p:sp>
        <p:nvSpPr>
          <p:cNvPr id="8" name="Text 2"/>
          <p:cNvSpPr txBox="1"/>
          <p:nvPr/>
        </p:nvSpPr>
        <p:spPr>
          <a:xfrm>
            <a:off x="731520" y="3474720"/>
            <a:ext cx="5669280" cy="914400"/>
          </a:xfrm>
          <a:prstGeom prst="rect">
            <a:avLst/>
          </a:prstGeom>
          <a:noFill/>
          <a:ln/>
        </p:spPr>
        <p:txBody>
          <a:bodyPr wrap="square" lIns="0" tIns="0" rIns="0" bIns="0" rtlCol="0" anchor="t"/>
          <a:lstStyle/>
          <a:p>
            <a:pPr indent="0" marL="0">
              <a:lnSpc>
                <a:spcPct val="110000"/>
              </a:lnSpc>
              <a:buNone/>
            </a:pPr>
            <a:r>
              <a:rPr lang="en-US" sz="1800" dirty="0">
                <a:solidFill>
                  <a:srgbClr val="EFE6DA"/>
                </a:solidFill>
                <a:latin typeface="Calibri" pitchFamily="34" charset="0"/>
                <a:ea typeface="Calibri" pitchFamily="34" charset="-122"/>
                <a:cs typeface="Calibri" pitchFamily="34" charset="-120"/>
              </a:rPr>
              <a:t>Hệ thống hướng dẫn tham quan bảo tàng đa ngôn ngữ, tự nhận biết khu vực khách đang đứng bằng BLE beacon và mã QR</a:t>
            </a:r>
            <a:endParaRPr lang="en-US" sz="1800" dirty="0"/>
          </a:p>
        </p:txBody>
      </p:sp>
      <p:sp>
        <p:nvSpPr>
          <p:cNvPr id="9" name="Text 3"/>
          <p:cNvSpPr txBox="1"/>
          <p:nvPr/>
        </p:nvSpPr>
        <p:spPr>
          <a:xfrm>
            <a:off x="731520" y="4663440"/>
            <a:ext cx="5486400" cy="320040"/>
          </a:xfrm>
          <a:prstGeom prst="rect">
            <a:avLst/>
          </a:prstGeom>
          <a:noFill/>
          <a:ln/>
        </p:spPr>
        <p:txBody>
          <a:bodyPr wrap="square" lIns="0" tIns="0" rIns="0" bIns="0" rtlCol="0" anchor="t"/>
          <a:lstStyle/>
          <a:p>
            <a:pPr indent="0" marL="0">
              <a:buNone/>
            </a:pPr>
            <a:r>
              <a:rPr lang="en-US" sz="1500" b="1" dirty="0">
                <a:solidFill>
                  <a:srgbClr val="B08A4F"/>
                </a:solidFill>
                <a:latin typeface="Calibri" pitchFamily="34" charset="0"/>
                <a:ea typeface="Calibri" pitchFamily="34" charset="-122"/>
                <a:cs typeface="Calibri" pitchFamily="34" charset="-120"/>
              </a:rPr>
              <a:t>Workflow hệ thống  ·  Demo ứng dụng</a:t>
            </a:r>
            <a:endParaRPr lang="en-US" sz="1500" dirty="0"/>
          </a:p>
        </p:txBody>
      </p:sp>
      <p:sp>
        <p:nvSpPr>
          <p:cNvPr id="10" name="Text 4"/>
          <p:cNvSpPr txBox="1"/>
          <p:nvPr/>
        </p:nvSpPr>
        <p:spPr>
          <a:xfrm>
            <a:off x="731520" y="5504688"/>
            <a:ext cx="1920240" cy="228600"/>
          </a:xfrm>
          <a:prstGeom prst="rect">
            <a:avLst/>
          </a:prstGeom>
          <a:noFill/>
          <a:ln/>
        </p:spPr>
        <p:txBody>
          <a:bodyPr wrap="square" lIns="0" tIns="0" rIns="0" bIns="0" rtlCol="0" anchor="t"/>
          <a:lstStyle/>
          <a:p>
            <a:pPr indent="0" marL="0">
              <a:buNone/>
            </a:pPr>
            <a:r>
              <a:rPr lang="en-US" sz="900" b="1" spc="200" kern="0" dirty="0">
                <a:solidFill>
                  <a:srgbClr val="B08A4F"/>
                </a:solidFill>
                <a:latin typeface="Calibri" pitchFamily="34" charset="0"/>
                <a:ea typeface="Calibri" pitchFamily="34" charset="-122"/>
                <a:cs typeface="Calibri" pitchFamily="34" charset="-120"/>
              </a:rPr>
              <a:t>NHÓM THỰC HIỆN</a:t>
            </a:r>
            <a:endParaRPr lang="en-US" sz="900" dirty="0"/>
          </a:p>
        </p:txBody>
      </p:sp>
      <p:sp>
        <p:nvSpPr>
          <p:cNvPr id="11" name="Text 5"/>
          <p:cNvSpPr txBox="1"/>
          <p:nvPr/>
        </p:nvSpPr>
        <p:spPr>
          <a:xfrm>
            <a:off x="731520" y="5751576"/>
            <a:ext cx="1920240" cy="457200"/>
          </a:xfrm>
          <a:prstGeom prst="rect">
            <a:avLst/>
          </a:prstGeom>
          <a:noFill/>
          <a:ln/>
        </p:spPr>
        <p:txBody>
          <a:bodyPr wrap="square" lIns="0" tIns="0" rIns="0" bIns="0" rtlCol="0" anchor="t"/>
          <a:lstStyle/>
          <a:p>
            <a:pPr indent="0" marL="0">
              <a:buNone/>
            </a:pPr>
            <a:r>
              <a:rPr lang="en-US" sz="1250" dirty="0">
                <a:solidFill>
                  <a:srgbClr val="F6F0E8"/>
                </a:solidFill>
                <a:latin typeface="Calibri" pitchFamily="34" charset="0"/>
                <a:ea typeface="Calibri" pitchFamily="34" charset="-122"/>
                <a:cs typeface="Calibri" pitchFamily="34" charset="-120"/>
              </a:rPr>
              <a:t>[Tên nhóm / thành viên]</a:t>
            </a:r>
            <a:endParaRPr lang="en-US" sz="1250" dirty="0"/>
          </a:p>
        </p:txBody>
      </p:sp>
      <p:sp>
        <p:nvSpPr>
          <p:cNvPr id="12" name="Text 6"/>
          <p:cNvSpPr txBox="1"/>
          <p:nvPr/>
        </p:nvSpPr>
        <p:spPr>
          <a:xfrm>
            <a:off x="2743200" y="5504688"/>
            <a:ext cx="1920240" cy="228600"/>
          </a:xfrm>
          <a:prstGeom prst="rect">
            <a:avLst/>
          </a:prstGeom>
          <a:noFill/>
          <a:ln/>
        </p:spPr>
        <p:txBody>
          <a:bodyPr wrap="square" lIns="0" tIns="0" rIns="0" bIns="0" rtlCol="0" anchor="t"/>
          <a:lstStyle/>
          <a:p>
            <a:pPr indent="0" marL="0">
              <a:buNone/>
            </a:pPr>
            <a:r>
              <a:rPr lang="en-US" sz="900" b="1" spc="200" kern="0" dirty="0">
                <a:solidFill>
                  <a:srgbClr val="B08A4F"/>
                </a:solidFill>
                <a:latin typeface="Calibri" pitchFamily="34" charset="0"/>
                <a:ea typeface="Calibri" pitchFamily="34" charset="-122"/>
                <a:cs typeface="Calibri" pitchFamily="34" charset="-120"/>
              </a:rPr>
              <a:t>GIẢNG VIÊN</a:t>
            </a:r>
            <a:endParaRPr lang="en-US" sz="900" dirty="0"/>
          </a:p>
        </p:txBody>
      </p:sp>
      <p:sp>
        <p:nvSpPr>
          <p:cNvPr id="13" name="Text 7"/>
          <p:cNvSpPr txBox="1"/>
          <p:nvPr/>
        </p:nvSpPr>
        <p:spPr>
          <a:xfrm>
            <a:off x="2743200" y="5751576"/>
            <a:ext cx="1920240" cy="457200"/>
          </a:xfrm>
          <a:prstGeom prst="rect">
            <a:avLst/>
          </a:prstGeom>
          <a:noFill/>
          <a:ln/>
        </p:spPr>
        <p:txBody>
          <a:bodyPr wrap="square" lIns="0" tIns="0" rIns="0" bIns="0" rtlCol="0" anchor="t"/>
          <a:lstStyle/>
          <a:p>
            <a:pPr indent="0" marL="0">
              <a:buNone/>
            </a:pPr>
            <a:r>
              <a:rPr lang="en-US" sz="1250" dirty="0">
                <a:solidFill>
                  <a:srgbClr val="F6F0E8"/>
                </a:solidFill>
                <a:latin typeface="Calibri" pitchFamily="34" charset="0"/>
                <a:ea typeface="Calibri" pitchFamily="34" charset="-122"/>
                <a:cs typeface="Calibri" pitchFamily="34" charset="-120"/>
              </a:rPr>
              <a:t>[Họ tên giảng viên]</a:t>
            </a:r>
            <a:endParaRPr lang="en-US" sz="1250" dirty="0"/>
          </a:p>
        </p:txBody>
      </p:sp>
      <p:sp>
        <p:nvSpPr>
          <p:cNvPr id="14" name="Text 8"/>
          <p:cNvSpPr txBox="1"/>
          <p:nvPr/>
        </p:nvSpPr>
        <p:spPr>
          <a:xfrm>
            <a:off x="4754880" y="5504688"/>
            <a:ext cx="1920240" cy="228600"/>
          </a:xfrm>
          <a:prstGeom prst="rect">
            <a:avLst/>
          </a:prstGeom>
          <a:noFill/>
          <a:ln/>
        </p:spPr>
        <p:txBody>
          <a:bodyPr wrap="square" lIns="0" tIns="0" rIns="0" bIns="0" rtlCol="0" anchor="t"/>
          <a:lstStyle/>
          <a:p>
            <a:pPr indent="0" marL="0">
              <a:buNone/>
            </a:pPr>
            <a:r>
              <a:rPr lang="en-US" sz="900" b="1" spc="200" kern="0" dirty="0">
                <a:solidFill>
                  <a:srgbClr val="B08A4F"/>
                </a:solidFill>
                <a:latin typeface="Calibri" pitchFamily="34" charset="0"/>
                <a:ea typeface="Calibri" pitchFamily="34" charset="-122"/>
                <a:cs typeface="Calibri" pitchFamily="34" charset="-120"/>
              </a:rPr>
              <a:t>THỜI GIAN</a:t>
            </a:r>
            <a:endParaRPr lang="en-US" sz="900" dirty="0"/>
          </a:p>
        </p:txBody>
      </p:sp>
      <p:sp>
        <p:nvSpPr>
          <p:cNvPr id="15" name="Text 9"/>
          <p:cNvSpPr txBox="1"/>
          <p:nvPr/>
        </p:nvSpPr>
        <p:spPr>
          <a:xfrm>
            <a:off x="4754880" y="5751576"/>
            <a:ext cx="1920240" cy="457200"/>
          </a:xfrm>
          <a:prstGeom prst="rect">
            <a:avLst/>
          </a:prstGeom>
          <a:noFill/>
          <a:ln/>
        </p:spPr>
        <p:txBody>
          <a:bodyPr wrap="square" lIns="0" tIns="0" rIns="0" bIns="0" rtlCol="0" anchor="t"/>
          <a:lstStyle/>
          <a:p>
            <a:pPr indent="0" marL="0">
              <a:buNone/>
            </a:pPr>
            <a:r>
              <a:rPr lang="en-US" sz="1250" dirty="0">
                <a:solidFill>
                  <a:srgbClr val="F6F0E8"/>
                </a:solidFill>
                <a:latin typeface="Calibri" pitchFamily="34" charset="0"/>
                <a:ea typeface="Calibri" pitchFamily="34" charset="-122"/>
                <a:cs typeface="Calibri" pitchFamily="34" charset="-120"/>
              </a:rPr>
              <a:t>Tháng 9/2026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MỤC LỤC</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Lộ trình trình bày</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02 / 20</a:t>
            </a:r>
            <a:endParaRPr lang="en-US" sz="900" dirty="0"/>
          </a:p>
        </p:txBody>
      </p:sp>
      <p:sp>
        <p:nvSpPr>
          <p:cNvPr id="7" name="Shape 4"/>
          <p:cNvSpPr/>
          <p:nvPr/>
        </p:nvSpPr>
        <p:spPr>
          <a:xfrm>
            <a:off x="548640" y="1600200"/>
            <a:ext cx="3383280" cy="4480560"/>
          </a:xfrm>
          <a:prstGeom prst="roundRect">
            <a:avLst>
              <a:gd name="adj" fmla="val 2162"/>
            </a:avLst>
          </a:prstGeom>
          <a:solidFill>
            <a:srgbClr val="EFE6DA"/>
          </a:solidFill>
          <a:ln w="9525">
            <a:solidFill>
              <a:srgbClr val="EFE6DA"/>
            </a:solidFill>
            <a:prstDash val="solid"/>
          </a:ln>
        </p:spPr>
      </p:sp>
      <p:pic>
        <p:nvPicPr>
          <p:cNvPr id="8" name="Image 1" descr="Họa tiết vòm trang trí">    </p:cNvPr>
          <p:cNvPicPr>
            <a:picLocks noChangeAspect="1"/>
          </p:cNvPicPr>
          <p:nvPr/>
        </p:nvPicPr>
        <p:blipFill>
          <a:blip r:embed="rId2"/>
          <a:stretch>
            <a:fillRect/>
          </a:stretch>
        </p:blipFill>
        <p:spPr>
          <a:xfrm>
            <a:off x="1234440" y="3566160"/>
            <a:ext cx="2011680" cy="2514600"/>
          </a:xfrm>
          <a:prstGeom prst="rect">
            <a:avLst/>
          </a:prstGeom>
        </p:spPr>
      </p:pic>
      <p:sp>
        <p:nvSpPr>
          <p:cNvPr id="9" name="Text 5"/>
          <p:cNvSpPr txBox="1"/>
          <p:nvPr/>
        </p:nvSpPr>
        <p:spPr>
          <a:xfrm>
            <a:off x="822960" y="1874520"/>
            <a:ext cx="2834640" cy="365760"/>
          </a:xfrm>
          <a:prstGeom prst="rect">
            <a:avLst/>
          </a:prstGeom>
          <a:noFill/>
          <a:ln/>
        </p:spPr>
        <p:txBody>
          <a:bodyPr wrap="square" lIns="0" tIns="0" rIns="0" bIns="0" rtlCol="0" anchor="t"/>
          <a:lstStyle/>
          <a:p>
            <a:pPr indent="0" marL="0">
              <a:buNone/>
            </a:pPr>
            <a:r>
              <a:rPr lang="en-US" sz="1800" b="1" dirty="0">
                <a:solidFill>
                  <a:srgbClr val="5E2420"/>
                </a:solidFill>
                <a:latin typeface="Cambria" pitchFamily="34" charset="0"/>
                <a:ea typeface="Cambria" pitchFamily="34" charset="-122"/>
                <a:cs typeface="Cambria" pitchFamily="34" charset="-120"/>
              </a:rPr>
              <a:t>Câu chuyện của bài báo cáo</a:t>
            </a:r>
            <a:endParaRPr lang="en-US" sz="1800" dirty="0"/>
          </a:p>
        </p:txBody>
      </p:sp>
      <p:sp>
        <p:nvSpPr>
          <p:cNvPr id="10" name="Text 6"/>
          <p:cNvSpPr txBox="1"/>
          <p:nvPr/>
        </p:nvSpPr>
        <p:spPr>
          <a:xfrm>
            <a:off x="822960" y="2331720"/>
            <a:ext cx="2834640" cy="1371600"/>
          </a:xfrm>
          <a:prstGeom prst="rect">
            <a:avLst/>
          </a:prstGeom>
          <a:noFill/>
          <a:ln/>
        </p:spPr>
        <p:txBody>
          <a:bodyPr wrap="square" lIns="0" tIns="0" rIns="0" bIns="0" rtlCol="0" anchor="t"/>
          <a:lstStyle/>
          <a:p>
            <a:pPr indent="0" marL="0">
              <a:lnSpc>
                <a:spcPct val="110000"/>
              </a:lnSpc>
              <a:buNone/>
            </a:pPr>
            <a:r>
              <a:rPr lang="en-US" sz="1350" dirty="0">
                <a:solidFill>
                  <a:srgbClr val="231D1A"/>
                </a:solidFill>
                <a:latin typeface="Calibri" pitchFamily="34" charset="0"/>
                <a:ea typeface="Calibri" pitchFamily="34" charset="-122"/>
                <a:cs typeface="Calibri" pitchFamily="34" charset="-120"/>
              </a:rPr>
              <a:t>Đi từ một tình huống quen thuộc trong bảo tàng, tới ý tưởng thiết kế, cách hệ thống vận hành — và kết thúc bằng demo trên dữ liệu mẫu.</a:t>
            </a:r>
            <a:endParaRPr lang="en-US" sz="1350" dirty="0"/>
          </a:p>
        </p:txBody>
      </p:sp>
      <p:pic>
        <p:nvPicPr>
          <p:cNvPr id="11" name="Image 2" descr="Họa tiết vòm trang trí">    </p:cNvPr>
          <p:cNvPicPr>
            <a:picLocks noChangeAspect="1"/>
          </p:cNvPicPr>
          <p:nvPr/>
        </p:nvPicPr>
        <p:blipFill>
          <a:blip r:embed="rId3"/>
          <a:stretch>
            <a:fillRect/>
          </a:stretch>
        </p:blipFill>
        <p:spPr>
          <a:xfrm>
            <a:off x="4343400" y="1691640"/>
            <a:ext cx="548640" cy="731520"/>
          </a:xfrm>
          <a:prstGeom prst="rect">
            <a:avLst/>
          </a:prstGeom>
        </p:spPr>
      </p:pic>
      <p:sp>
        <p:nvSpPr>
          <p:cNvPr id="12" name="Text 7"/>
          <p:cNvSpPr txBox="1"/>
          <p:nvPr/>
        </p:nvSpPr>
        <p:spPr>
          <a:xfrm>
            <a:off x="4343400" y="1954987"/>
            <a:ext cx="5486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13" name="Text 8"/>
          <p:cNvSpPr txBox="1"/>
          <p:nvPr/>
        </p:nvSpPr>
        <p:spPr>
          <a:xfrm>
            <a:off x="5120640" y="1709928"/>
            <a:ext cx="2697480" cy="365760"/>
          </a:xfrm>
          <a:prstGeom prst="rect">
            <a:avLst/>
          </a:prstGeom>
          <a:noFill/>
          <a:ln/>
        </p:spPr>
        <p:txBody>
          <a:bodyPr wrap="square" lIns="0" tIns="0" rIns="0" bIns="0" rtlCol="0" anchor="t"/>
          <a:lstStyle/>
          <a:p>
            <a:pPr indent="0" marL="0">
              <a:buNone/>
            </a:pPr>
            <a:r>
              <a:rPr lang="en-US" sz="1700" b="1" dirty="0">
                <a:solidFill>
                  <a:srgbClr val="231D1A"/>
                </a:solidFill>
                <a:latin typeface="Calibri" pitchFamily="34" charset="0"/>
                <a:ea typeface="Calibri" pitchFamily="34" charset="-122"/>
                <a:cs typeface="Calibri" pitchFamily="34" charset="-120"/>
              </a:rPr>
              <a:t>Bối cảnh &amp; bài toán</a:t>
            </a:r>
            <a:endParaRPr lang="en-US" sz="1700" dirty="0"/>
          </a:p>
        </p:txBody>
      </p:sp>
      <p:sp>
        <p:nvSpPr>
          <p:cNvPr id="14" name="Text 9"/>
          <p:cNvSpPr txBox="1"/>
          <p:nvPr/>
        </p:nvSpPr>
        <p:spPr>
          <a:xfrm>
            <a:off x="5120640" y="2103120"/>
            <a:ext cx="2697480" cy="77724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Trở ngại của khách tham quan và của đơn vị vận hành bảo tàng.</a:t>
            </a:r>
            <a:endParaRPr lang="en-US" sz="1250" dirty="0"/>
          </a:p>
        </p:txBody>
      </p:sp>
      <p:pic>
        <p:nvPicPr>
          <p:cNvPr id="15" name="Image 3" descr="Họa tiết vòm trang trí">    </p:cNvPr>
          <p:cNvPicPr>
            <a:picLocks noChangeAspect="1"/>
          </p:cNvPicPr>
          <p:nvPr/>
        </p:nvPicPr>
        <p:blipFill>
          <a:blip r:embed="rId4"/>
          <a:stretch>
            <a:fillRect/>
          </a:stretch>
        </p:blipFill>
        <p:spPr>
          <a:xfrm>
            <a:off x="8046720" y="1691640"/>
            <a:ext cx="548640" cy="731520"/>
          </a:xfrm>
          <a:prstGeom prst="rect">
            <a:avLst/>
          </a:prstGeom>
        </p:spPr>
      </p:pic>
      <p:sp>
        <p:nvSpPr>
          <p:cNvPr id="16" name="Text 10"/>
          <p:cNvSpPr txBox="1"/>
          <p:nvPr/>
        </p:nvSpPr>
        <p:spPr>
          <a:xfrm>
            <a:off x="8046720" y="1954987"/>
            <a:ext cx="5486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7" name="Text 11"/>
          <p:cNvSpPr txBox="1"/>
          <p:nvPr/>
        </p:nvSpPr>
        <p:spPr>
          <a:xfrm>
            <a:off x="8823960" y="1709928"/>
            <a:ext cx="2697480" cy="365760"/>
          </a:xfrm>
          <a:prstGeom prst="rect">
            <a:avLst/>
          </a:prstGeom>
          <a:noFill/>
          <a:ln/>
        </p:spPr>
        <p:txBody>
          <a:bodyPr wrap="square" lIns="0" tIns="0" rIns="0" bIns="0" rtlCol="0" anchor="t"/>
          <a:lstStyle/>
          <a:p>
            <a:pPr indent="0" marL="0">
              <a:buNone/>
            </a:pPr>
            <a:r>
              <a:rPr lang="en-US" sz="1700" b="1" dirty="0">
                <a:solidFill>
                  <a:srgbClr val="231D1A"/>
                </a:solidFill>
                <a:latin typeface="Calibri" pitchFamily="34" charset="0"/>
                <a:ea typeface="Calibri" pitchFamily="34" charset="-122"/>
                <a:cs typeface="Calibri" pitchFamily="34" charset="-120"/>
              </a:rPr>
              <a:t>Ý tưởng cốt lõi</a:t>
            </a:r>
            <a:endParaRPr lang="en-US" sz="1700" dirty="0"/>
          </a:p>
        </p:txBody>
      </p:sp>
      <p:sp>
        <p:nvSpPr>
          <p:cNvPr id="18" name="Text 12"/>
          <p:cNvSpPr txBox="1"/>
          <p:nvPr/>
        </p:nvSpPr>
        <p:spPr>
          <a:xfrm>
            <a:off x="8823960" y="2103120"/>
            <a:ext cx="2697480" cy="77724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Tách hạ tầng vật lý (beacon, QR) khỏi nội dung trưng bày.</a:t>
            </a:r>
            <a:endParaRPr lang="en-US" sz="1250" dirty="0"/>
          </a:p>
        </p:txBody>
      </p:sp>
      <p:pic>
        <p:nvPicPr>
          <p:cNvPr id="19" name="Image 4" descr="Họa tiết vòm trang trí">    </p:cNvPr>
          <p:cNvPicPr>
            <a:picLocks noChangeAspect="1"/>
          </p:cNvPicPr>
          <p:nvPr/>
        </p:nvPicPr>
        <p:blipFill>
          <a:blip r:embed="rId5"/>
          <a:stretch>
            <a:fillRect/>
          </a:stretch>
        </p:blipFill>
        <p:spPr>
          <a:xfrm>
            <a:off x="4343400" y="3172968"/>
            <a:ext cx="548640" cy="731520"/>
          </a:xfrm>
          <a:prstGeom prst="rect">
            <a:avLst/>
          </a:prstGeom>
        </p:spPr>
      </p:pic>
      <p:sp>
        <p:nvSpPr>
          <p:cNvPr id="20" name="Text 13"/>
          <p:cNvSpPr txBox="1"/>
          <p:nvPr/>
        </p:nvSpPr>
        <p:spPr>
          <a:xfrm>
            <a:off x="4343400" y="3436315"/>
            <a:ext cx="5486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21" name="Text 14"/>
          <p:cNvSpPr txBox="1"/>
          <p:nvPr/>
        </p:nvSpPr>
        <p:spPr>
          <a:xfrm>
            <a:off x="5120640" y="3191256"/>
            <a:ext cx="2697480" cy="365760"/>
          </a:xfrm>
          <a:prstGeom prst="rect">
            <a:avLst/>
          </a:prstGeom>
          <a:noFill/>
          <a:ln/>
        </p:spPr>
        <p:txBody>
          <a:bodyPr wrap="square" lIns="0" tIns="0" rIns="0" bIns="0" rtlCol="0" anchor="t"/>
          <a:lstStyle/>
          <a:p>
            <a:pPr indent="0" marL="0">
              <a:buNone/>
            </a:pPr>
            <a:r>
              <a:rPr lang="en-US" sz="1700" b="1" dirty="0">
                <a:solidFill>
                  <a:srgbClr val="231D1A"/>
                </a:solidFill>
                <a:latin typeface="Calibri" pitchFamily="34" charset="0"/>
                <a:ea typeface="Calibri" pitchFamily="34" charset="-122"/>
                <a:cs typeface="Calibri" pitchFamily="34" charset="-120"/>
              </a:rPr>
              <a:t>Kiến trúc &amp; dữ liệu</a:t>
            </a:r>
            <a:endParaRPr lang="en-US" sz="1700" dirty="0"/>
          </a:p>
        </p:txBody>
      </p:sp>
      <p:sp>
        <p:nvSpPr>
          <p:cNvPr id="22" name="Text 15"/>
          <p:cNvSpPr txBox="1"/>
          <p:nvPr/>
        </p:nvSpPr>
        <p:spPr>
          <a:xfrm>
            <a:off x="5120640" y="3584448"/>
            <a:ext cx="2697480" cy="77724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Ba ứng dụng, một API, một quy tắc xác định nội dung.</a:t>
            </a:r>
            <a:endParaRPr lang="en-US" sz="1250" dirty="0"/>
          </a:p>
        </p:txBody>
      </p:sp>
      <p:pic>
        <p:nvPicPr>
          <p:cNvPr id="23" name="Image 5" descr="Họa tiết vòm trang trí">    </p:cNvPr>
          <p:cNvPicPr>
            <a:picLocks noChangeAspect="1"/>
          </p:cNvPicPr>
          <p:nvPr/>
        </p:nvPicPr>
        <p:blipFill>
          <a:blip r:embed="rId6"/>
          <a:stretch>
            <a:fillRect/>
          </a:stretch>
        </p:blipFill>
        <p:spPr>
          <a:xfrm>
            <a:off x="8046720" y="3172968"/>
            <a:ext cx="548640" cy="731520"/>
          </a:xfrm>
          <a:prstGeom prst="rect">
            <a:avLst/>
          </a:prstGeom>
        </p:spPr>
      </p:pic>
      <p:sp>
        <p:nvSpPr>
          <p:cNvPr id="24" name="Text 16"/>
          <p:cNvSpPr txBox="1"/>
          <p:nvPr/>
        </p:nvSpPr>
        <p:spPr>
          <a:xfrm>
            <a:off x="8046720" y="3436315"/>
            <a:ext cx="5486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25" name="Text 17"/>
          <p:cNvSpPr txBox="1"/>
          <p:nvPr/>
        </p:nvSpPr>
        <p:spPr>
          <a:xfrm>
            <a:off x="8823960" y="3191256"/>
            <a:ext cx="2697480" cy="365760"/>
          </a:xfrm>
          <a:prstGeom prst="rect">
            <a:avLst/>
          </a:prstGeom>
          <a:noFill/>
          <a:ln/>
        </p:spPr>
        <p:txBody>
          <a:bodyPr wrap="square" lIns="0" tIns="0" rIns="0" bIns="0" rtlCol="0" anchor="t"/>
          <a:lstStyle/>
          <a:p>
            <a:pPr indent="0" marL="0">
              <a:buNone/>
            </a:pPr>
            <a:r>
              <a:rPr lang="en-US" sz="1700" b="1" dirty="0">
                <a:solidFill>
                  <a:srgbClr val="231D1A"/>
                </a:solidFill>
                <a:latin typeface="Calibri" pitchFamily="34" charset="0"/>
                <a:ea typeface="Calibri" pitchFamily="34" charset="-122"/>
                <a:cs typeface="Calibri" pitchFamily="34" charset="-120"/>
              </a:rPr>
              <a:t>Workflow vận hành</a:t>
            </a:r>
            <a:endParaRPr lang="en-US" sz="1700" dirty="0"/>
          </a:p>
        </p:txBody>
      </p:sp>
      <p:sp>
        <p:nvSpPr>
          <p:cNvPr id="26" name="Text 18"/>
          <p:cNvSpPr txBox="1"/>
          <p:nvPr/>
        </p:nvSpPr>
        <p:spPr>
          <a:xfrm>
            <a:off x="8823960" y="3584448"/>
            <a:ext cx="2697480" cy="77724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Luồng của nhân viên bảo tàng và luồng của khách tham quan.</a:t>
            </a:r>
            <a:endParaRPr lang="en-US" sz="1250" dirty="0"/>
          </a:p>
        </p:txBody>
      </p:sp>
      <p:pic>
        <p:nvPicPr>
          <p:cNvPr id="27" name="Image 6" descr="Họa tiết vòm trang trí">    </p:cNvPr>
          <p:cNvPicPr>
            <a:picLocks noChangeAspect="1"/>
          </p:cNvPicPr>
          <p:nvPr/>
        </p:nvPicPr>
        <p:blipFill>
          <a:blip r:embed="rId7"/>
          <a:stretch>
            <a:fillRect/>
          </a:stretch>
        </p:blipFill>
        <p:spPr>
          <a:xfrm>
            <a:off x="4343400" y="4654296"/>
            <a:ext cx="548640" cy="731520"/>
          </a:xfrm>
          <a:prstGeom prst="rect">
            <a:avLst/>
          </a:prstGeom>
        </p:spPr>
      </p:pic>
      <p:sp>
        <p:nvSpPr>
          <p:cNvPr id="28" name="Text 19"/>
          <p:cNvSpPr txBox="1"/>
          <p:nvPr/>
        </p:nvSpPr>
        <p:spPr>
          <a:xfrm>
            <a:off x="4343400" y="4917643"/>
            <a:ext cx="5486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29" name="Text 20"/>
          <p:cNvSpPr txBox="1"/>
          <p:nvPr/>
        </p:nvSpPr>
        <p:spPr>
          <a:xfrm>
            <a:off x="5120640" y="4672584"/>
            <a:ext cx="2697480" cy="365760"/>
          </a:xfrm>
          <a:prstGeom prst="rect">
            <a:avLst/>
          </a:prstGeom>
          <a:noFill/>
          <a:ln/>
        </p:spPr>
        <p:txBody>
          <a:bodyPr wrap="square" lIns="0" tIns="0" rIns="0" bIns="0" rtlCol="0" anchor="t"/>
          <a:lstStyle/>
          <a:p>
            <a:pPr indent="0" marL="0">
              <a:buNone/>
            </a:pPr>
            <a:r>
              <a:rPr lang="en-US" sz="1700" b="1" dirty="0">
                <a:solidFill>
                  <a:srgbClr val="231D1A"/>
                </a:solidFill>
                <a:latin typeface="Calibri" pitchFamily="34" charset="0"/>
                <a:ea typeface="Calibri" pitchFamily="34" charset="-122"/>
                <a:cs typeface="Calibri" pitchFamily="34" charset="-120"/>
              </a:rPr>
              <a:t>Nhận diện vị trí bằng BLE</a:t>
            </a:r>
            <a:endParaRPr lang="en-US" sz="1700" dirty="0"/>
          </a:p>
        </p:txBody>
      </p:sp>
      <p:sp>
        <p:nvSpPr>
          <p:cNvPr id="30" name="Text 21"/>
          <p:cNvSpPr txBox="1"/>
          <p:nvPr/>
        </p:nvSpPr>
        <p:spPr>
          <a:xfrm>
            <a:off x="5120640" y="5065776"/>
            <a:ext cx="2697480" cy="77724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Xử lý tín hiệu và máy trạng thái khu vực trên điện thoại.</a:t>
            </a:r>
            <a:endParaRPr lang="en-US" sz="1250" dirty="0"/>
          </a:p>
        </p:txBody>
      </p:sp>
      <p:pic>
        <p:nvPicPr>
          <p:cNvPr id="31" name="Image 7" descr="Họa tiết vòm trang trí">    </p:cNvPr>
          <p:cNvPicPr>
            <a:picLocks noChangeAspect="1"/>
          </p:cNvPicPr>
          <p:nvPr/>
        </p:nvPicPr>
        <p:blipFill>
          <a:blip r:embed="rId8"/>
          <a:stretch>
            <a:fillRect/>
          </a:stretch>
        </p:blipFill>
        <p:spPr>
          <a:xfrm>
            <a:off x="8046720" y="4654296"/>
            <a:ext cx="548640" cy="731520"/>
          </a:xfrm>
          <a:prstGeom prst="rect">
            <a:avLst/>
          </a:prstGeom>
        </p:spPr>
      </p:pic>
      <p:sp>
        <p:nvSpPr>
          <p:cNvPr id="32" name="Text 22"/>
          <p:cNvSpPr txBox="1"/>
          <p:nvPr/>
        </p:nvSpPr>
        <p:spPr>
          <a:xfrm>
            <a:off x="8046720" y="4917643"/>
            <a:ext cx="5486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33" name="Text 23"/>
          <p:cNvSpPr txBox="1"/>
          <p:nvPr/>
        </p:nvSpPr>
        <p:spPr>
          <a:xfrm>
            <a:off x="8823960" y="4672584"/>
            <a:ext cx="2697480" cy="365760"/>
          </a:xfrm>
          <a:prstGeom prst="rect">
            <a:avLst/>
          </a:prstGeom>
          <a:noFill/>
          <a:ln/>
        </p:spPr>
        <p:txBody>
          <a:bodyPr wrap="square" lIns="0" tIns="0" rIns="0" bIns="0" rtlCol="0" anchor="t"/>
          <a:lstStyle/>
          <a:p>
            <a:pPr indent="0" marL="0">
              <a:buNone/>
            </a:pPr>
            <a:r>
              <a:rPr lang="en-US" sz="1700" b="1" dirty="0">
                <a:solidFill>
                  <a:srgbClr val="231D1A"/>
                </a:solidFill>
                <a:latin typeface="Calibri" pitchFamily="34" charset="0"/>
                <a:ea typeface="Calibri" pitchFamily="34" charset="-122"/>
                <a:cs typeface="Calibri" pitchFamily="34" charset="-120"/>
              </a:rPr>
              <a:t>Demo &amp; kế hoạch</a:t>
            </a:r>
            <a:endParaRPr lang="en-US" sz="1700" dirty="0"/>
          </a:p>
        </p:txBody>
      </p:sp>
      <p:sp>
        <p:nvSpPr>
          <p:cNvPr id="34" name="Text 24"/>
          <p:cNvSpPr txBox="1"/>
          <p:nvPr/>
        </p:nvSpPr>
        <p:spPr>
          <a:xfrm>
            <a:off x="8823960" y="5065776"/>
            <a:ext cx="2697480" cy="77724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Bốn màn demo, kết quả kiểm thử, tiến độ và hướng đánh giá.</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01 · BỐI CẢNH</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Một khách tham quan, ba trở ngại</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03 / 20</a:t>
            </a:r>
            <a:endParaRPr lang="en-US" sz="900" dirty="0"/>
          </a:p>
        </p:txBody>
      </p:sp>
      <p:sp>
        <p:nvSpPr>
          <p:cNvPr id="7" name="Shape 4"/>
          <p:cNvSpPr/>
          <p:nvPr/>
        </p:nvSpPr>
        <p:spPr>
          <a:xfrm>
            <a:off x="548640" y="1600200"/>
            <a:ext cx="4892040" cy="4480560"/>
          </a:xfrm>
          <a:prstGeom prst="roundRect">
            <a:avLst>
              <a:gd name="adj" fmla="val 1633"/>
            </a:avLst>
          </a:prstGeom>
          <a:solidFill>
            <a:srgbClr val="EFE6DA"/>
          </a:solidFill>
          <a:ln w="9525">
            <a:solidFill>
              <a:srgbClr val="EFE6DA"/>
            </a:solidFill>
            <a:prstDash val="solid"/>
          </a:ln>
        </p:spPr>
      </p:sp>
      <p:sp>
        <p:nvSpPr>
          <p:cNvPr id="8" name="Text 5"/>
          <p:cNvSpPr txBox="1"/>
          <p:nvPr/>
        </p:nvSpPr>
        <p:spPr>
          <a:xfrm>
            <a:off x="868680" y="1874520"/>
            <a:ext cx="420624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TÌNH HUỐNG GIẢ ĐỊNH</a:t>
            </a:r>
            <a:endParaRPr lang="en-US" sz="1000" dirty="0"/>
          </a:p>
        </p:txBody>
      </p:sp>
      <p:sp>
        <p:nvSpPr>
          <p:cNvPr id="9" name="Text 6"/>
          <p:cNvSpPr txBox="1"/>
          <p:nvPr/>
        </p:nvSpPr>
        <p:spPr>
          <a:xfrm>
            <a:off x="868680" y="2240280"/>
            <a:ext cx="4251960" cy="1188720"/>
          </a:xfrm>
          <a:prstGeom prst="rect">
            <a:avLst/>
          </a:prstGeom>
          <a:noFill/>
          <a:ln/>
        </p:spPr>
        <p:txBody>
          <a:bodyPr wrap="square" lIns="0" tIns="0" rIns="0" bIns="0" rtlCol="0" anchor="t"/>
          <a:lstStyle/>
          <a:p>
            <a:pPr indent="0" marL="0">
              <a:lnSpc>
                <a:spcPct val="105000"/>
              </a:lnSpc>
              <a:buNone/>
            </a:pPr>
            <a:r>
              <a:rPr lang="en-US" sz="2000" i="1" dirty="0">
                <a:solidFill>
                  <a:srgbClr val="231D1A"/>
                </a:solidFill>
                <a:latin typeface="Cambria" pitchFamily="34" charset="0"/>
                <a:ea typeface="Cambria" pitchFamily="34" charset="-122"/>
                <a:cs typeface="Cambria" pitchFamily="34" charset="-120"/>
              </a:rPr>
              <a:t>Chị Yuki, du khách Nhật Bản, dừng lại trước bức tượng thần Shiva ở khu điêu khắc Chăm.</a:t>
            </a:r>
            <a:endParaRPr lang="en-US" sz="2000" dirty="0"/>
          </a:p>
        </p:txBody>
      </p:sp>
      <p:sp>
        <p:nvSpPr>
          <p:cNvPr id="10" name="Text 7"/>
          <p:cNvSpPr txBox="1"/>
          <p:nvPr/>
        </p:nvSpPr>
        <p:spPr>
          <a:xfrm>
            <a:off x="868680" y="3520440"/>
            <a:ext cx="4251960" cy="1417320"/>
          </a:xfrm>
          <a:prstGeom prst="rect">
            <a:avLst/>
          </a:prstGeom>
          <a:noFill/>
          <a:ln/>
        </p:spPr>
        <p:txBody>
          <a:bodyPr wrap="square" lIns="0" tIns="0" rIns="0" bIns="0" rtlCol="0" anchor="t"/>
          <a:lstStyle/>
          <a:p>
            <a:pPr indent="0" marL="0">
              <a:lnSpc>
                <a:spcPct val="112000"/>
              </a:lnSpc>
              <a:buNone/>
            </a:pPr>
            <a:r>
              <a:rPr lang="en-US" sz="1400" dirty="0">
                <a:solidFill>
                  <a:srgbClr val="6B5F58"/>
                </a:solidFill>
                <a:latin typeface="Calibri" pitchFamily="34" charset="0"/>
                <a:ea typeface="Calibri" pitchFamily="34" charset="-122"/>
                <a:cs typeface="Calibri" pitchFamily="34" charset="-120"/>
              </a:rPr>
              <a:t>Bảng chú thích chỉ có tiếng Việt và tiếng Anh. Máy thuyết minh phải thuê ở quầy vé. Mã QR cạnh bục trưng bày vẫn mở trang của hiện vật đã được chuyển đi từ tháng trước.</a:t>
            </a:r>
            <a:endParaRPr lang="en-US" sz="1400" dirty="0"/>
          </a:p>
        </p:txBody>
      </p:sp>
      <p:sp>
        <p:nvSpPr>
          <p:cNvPr id="11" name="Text 8"/>
          <p:cNvSpPr txBox="1"/>
          <p:nvPr/>
        </p:nvSpPr>
        <p:spPr>
          <a:xfrm>
            <a:off x="868680" y="4983480"/>
            <a:ext cx="4251960" cy="685800"/>
          </a:xfrm>
          <a:prstGeom prst="rect">
            <a:avLst/>
          </a:prstGeom>
          <a:noFill/>
          <a:ln/>
        </p:spPr>
        <p:txBody>
          <a:bodyPr wrap="square" lIns="0" tIns="0" rIns="0" bIns="0" rtlCol="0" anchor="t"/>
          <a:lstStyle/>
          <a:p>
            <a:pPr indent="0" marL="0">
              <a:buNone/>
            </a:pPr>
            <a:r>
              <a:rPr lang="en-US" sz="1450" b="1" dirty="0">
                <a:solidFill>
                  <a:srgbClr val="5E2420"/>
                </a:solidFill>
                <a:latin typeface="Calibri" pitchFamily="34" charset="0"/>
                <a:ea typeface="Calibri" pitchFamily="34" charset="-122"/>
                <a:cs typeface="Calibri" pitchFamily="34" charset="-120"/>
              </a:rPr>
              <a:t>Nội dung có sẵn — nhưng không đến được đúng người, đúng chỗ, đúng lúc.</a:t>
            </a:r>
            <a:endParaRPr lang="en-US" sz="1450" dirty="0"/>
          </a:p>
        </p:txBody>
      </p:sp>
      <p:sp>
        <p:nvSpPr>
          <p:cNvPr id="12" name="Shape 9"/>
          <p:cNvSpPr/>
          <p:nvPr/>
        </p:nvSpPr>
        <p:spPr>
          <a:xfrm>
            <a:off x="5760720" y="1600200"/>
            <a:ext cx="5879592" cy="1371600"/>
          </a:xfrm>
          <a:prstGeom prst="roundRect">
            <a:avLst>
              <a:gd name="adj" fmla="val 533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13" name="Image 1" descr="Họa tiết vòm trang trí">    </p:cNvPr>
          <p:cNvPicPr>
            <a:picLocks noChangeAspect="1"/>
          </p:cNvPicPr>
          <p:nvPr/>
        </p:nvPicPr>
        <p:blipFill>
          <a:blip r:embed="rId2"/>
          <a:stretch>
            <a:fillRect/>
          </a:stretch>
        </p:blipFill>
        <p:spPr>
          <a:xfrm>
            <a:off x="6035040" y="1819656"/>
            <a:ext cx="658368" cy="877824"/>
          </a:xfrm>
          <a:prstGeom prst="rect">
            <a:avLst/>
          </a:prstGeom>
        </p:spPr>
      </p:pic>
      <p:pic>
        <p:nvPicPr>
          <p:cNvPr id="14" name="Image 2" descr="Biểu tượng">    </p:cNvPr>
          <p:cNvPicPr>
            <a:picLocks noChangeAspect="1"/>
          </p:cNvPicPr>
          <p:nvPr/>
        </p:nvPicPr>
        <p:blipFill>
          <a:blip r:embed="rId3"/>
          <a:stretch>
            <a:fillRect/>
          </a:stretch>
        </p:blipFill>
        <p:spPr>
          <a:xfrm>
            <a:off x="6199632" y="2188342"/>
            <a:ext cx="329184" cy="329184"/>
          </a:xfrm>
          <a:prstGeom prst="rect">
            <a:avLst/>
          </a:prstGeom>
        </p:spPr>
      </p:pic>
      <p:sp>
        <p:nvSpPr>
          <p:cNvPr id="15" name="Text 10"/>
          <p:cNvSpPr txBox="1"/>
          <p:nvPr/>
        </p:nvSpPr>
        <p:spPr>
          <a:xfrm>
            <a:off x="6949440" y="1837944"/>
            <a:ext cx="4480560" cy="347472"/>
          </a:xfrm>
          <a:prstGeom prst="rect">
            <a:avLst/>
          </a:prstGeom>
          <a:noFill/>
          <a:ln/>
        </p:spPr>
        <p:txBody>
          <a:bodyPr wrap="square" lIns="0" tIns="0" rIns="0" bIns="0" rtlCol="0" anchor="t"/>
          <a:lstStyle/>
          <a:p>
            <a:pPr indent="0" marL="0">
              <a:buNone/>
            </a:pPr>
            <a:r>
              <a:rPr lang="en-US" sz="1650" b="1" dirty="0">
                <a:solidFill>
                  <a:srgbClr val="231D1A"/>
                </a:solidFill>
                <a:latin typeface="Calibri" pitchFamily="34" charset="0"/>
                <a:ea typeface="Calibri" pitchFamily="34" charset="-122"/>
                <a:cs typeface="Calibri" pitchFamily="34" charset="-120"/>
              </a:rPr>
              <a:t>Rào cản ngôn ngữ</a:t>
            </a:r>
            <a:endParaRPr lang="en-US" sz="1650" dirty="0"/>
          </a:p>
        </p:txBody>
      </p:sp>
      <p:sp>
        <p:nvSpPr>
          <p:cNvPr id="16" name="Text 11"/>
          <p:cNvSpPr txBox="1"/>
          <p:nvPr/>
        </p:nvSpPr>
        <p:spPr>
          <a:xfrm>
            <a:off x="6949440" y="2203704"/>
            <a:ext cx="4480560" cy="68580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Nội dung thường chỉ có một hai ngôn ngữ; dịch và thu âm cho từng hiện vật tốn nhiều công sức.</a:t>
            </a:r>
            <a:endParaRPr lang="en-US" sz="1250" dirty="0"/>
          </a:p>
        </p:txBody>
      </p:sp>
      <p:sp>
        <p:nvSpPr>
          <p:cNvPr id="17" name="Shape 12"/>
          <p:cNvSpPr/>
          <p:nvPr/>
        </p:nvSpPr>
        <p:spPr>
          <a:xfrm>
            <a:off x="5760720" y="3154680"/>
            <a:ext cx="5879592" cy="1371600"/>
          </a:xfrm>
          <a:prstGeom prst="roundRect">
            <a:avLst>
              <a:gd name="adj" fmla="val 533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18" name="Image 3" descr="Họa tiết vòm trang trí">    </p:cNvPr>
          <p:cNvPicPr>
            <a:picLocks noChangeAspect="1"/>
          </p:cNvPicPr>
          <p:nvPr/>
        </p:nvPicPr>
        <p:blipFill>
          <a:blip r:embed="rId4"/>
          <a:stretch>
            <a:fillRect/>
          </a:stretch>
        </p:blipFill>
        <p:spPr>
          <a:xfrm>
            <a:off x="6035040" y="3374136"/>
            <a:ext cx="658368" cy="877824"/>
          </a:xfrm>
          <a:prstGeom prst="rect">
            <a:avLst/>
          </a:prstGeom>
        </p:spPr>
      </p:pic>
      <p:pic>
        <p:nvPicPr>
          <p:cNvPr id="19" name="Image 4" descr="Biểu tượng">    </p:cNvPr>
          <p:cNvPicPr>
            <a:picLocks noChangeAspect="1"/>
          </p:cNvPicPr>
          <p:nvPr/>
        </p:nvPicPr>
        <p:blipFill>
          <a:blip r:embed="rId5"/>
          <a:stretch>
            <a:fillRect/>
          </a:stretch>
        </p:blipFill>
        <p:spPr>
          <a:xfrm>
            <a:off x="6199632" y="3742822"/>
            <a:ext cx="329184" cy="329184"/>
          </a:xfrm>
          <a:prstGeom prst="rect">
            <a:avLst/>
          </a:prstGeom>
        </p:spPr>
      </p:pic>
      <p:sp>
        <p:nvSpPr>
          <p:cNvPr id="20" name="Text 13"/>
          <p:cNvSpPr txBox="1"/>
          <p:nvPr/>
        </p:nvSpPr>
        <p:spPr>
          <a:xfrm>
            <a:off x="6949440" y="3392424"/>
            <a:ext cx="4480560" cy="347472"/>
          </a:xfrm>
          <a:prstGeom prst="rect">
            <a:avLst/>
          </a:prstGeom>
          <a:noFill/>
          <a:ln/>
        </p:spPr>
        <p:txBody>
          <a:bodyPr wrap="square" lIns="0" tIns="0" rIns="0" bIns="0" rtlCol="0" anchor="t"/>
          <a:lstStyle/>
          <a:p>
            <a:pPr indent="0" marL="0">
              <a:buNone/>
            </a:pPr>
            <a:r>
              <a:rPr lang="en-US" sz="1650" b="1" dirty="0">
                <a:solidFill>
                  <a:srgbClr val="231D1A"/>
                </a:solidFill>
                <a:latin typeface="Calibri" pitchFamily="34" charset="0"/>
                <a:ea typeface="Calibri" pitchFamily="34" charset="-122"/>
                <a:cs typeface="Calibri" pitchFamily="34" charset="-120"/>
              </a:rPr>
              <a:t>Thiết bị thuyết minh riêng</a:t>
            </a:r>
            <a:endParaRPr lang="en-US" sz="1650" dirty="0"/>
          </a:p>
        </p:txBody>
      </p:sp>
      <p:sp>
        <p:nvSpPr>
          <p:cNvPr id="21" name="Text 14"/>
          <p:cNvSpPr txBox="1"/>
          <p:nvPr/>
        </p:nvSpPr>
        <p:spPr>
          <a:xfrm>
            <a:off x="6949440" y="3758184"/>
            <a:ext cx="4480560" cy="68580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Máy audio guide phải mua, cho thuê, sạc và bảo quản; khách còn phải tự tra số hiện vật.</a:t>
            </a:r>
            <a:endParaRPr lang="en-US" sz="1250" dirty="0"/>
          </a:p>
        </p:txBody>
      </p:sp>
      <p:sp>
        <p:nvSpPr>
          <p:cNvPr id="22" name="Shape 15"/>
          <p:cNvSpPr/>
          <p:nvPr/>
        </p:nvSpPr>
        <p:spPr>
          <a:xfrm>
            <a:off x="5760720" y="4709160"/>
            <a:ext cx="5879592" cy="1371600"/>
          </a:xfrm>
          <a:prstGeom prst="roundRect">
            <a:avLst>
              <a:gd name="adj" fmla="val 533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23" name="Image 5" descr="Họa tiết vòm trang trí">    </p:cNvPr>
          <p:cNvPicPr>
            <a:picLocks noChangeAspect="1"/>
          </p:cNvPicPr>
          <p:nvPr/>
        </p:nvPicPr>
        <p:blipFill>
          <a:blip r:embed="rId6"/>
          <a:stretch>
            <a:fillRect/>
          </a:stretch>
        </p:blipFill>
        <p:spPr>
          <a:xfrm>
            <a:off x="6035040" y="4928616"/>
            <a:ext cx="658368" cy="877824"/>
          </a:xfrm>
          <a:prstGeom prst="rect">
            <a:avLst/>
          </a:prstGeom>
        </p:spPr>
      </p:pic>
      <p:pic>
        <p:nvPicPr>
          <p:cNvPr id="24" name="Image 6" descr="Biểu tượng">    </p:cNvPr>
          <p:cNvPicPr>
            <a:picLocks noChangeAspect="1"/>
          </p:cNvPicPr>
          <p:nvPr/>
        </p:nvPicPr>
        <p:blipFill>
          <a:blip r:embed="rId7"/>
          <a:stretch>
            <a:fillRect/>
          </a:stretch>
        </p:blipFill>
        <p:spPr>
          <a:xfrm>
            <a:off x="6199632" y="5297302"/>
            <a:ext cx="329184" cy="329184"/>
          </a:xfrm>
          <a:prstGeom prst="rect">
            <a:avLst/>
          </a:prstGeom>
        </p:spPr>
      </p:pic>
      <p:sp>
        <p:nvSpPr>
          <p:cNvPr id="25" name="Text 16"/>
          <p:cNvSpPr txBox="1"/>
          <p:nvPr/>
        </p:nvSpPr>
        <p:spPr>
          <a:xfrm>
            <a:off x="6949440" y="4946904"/>
            <a:ext cx="4480560" cy="347472"/>
          </a:xfrm>
          <a:prstGeom prst="rect">
            <a:avLst/>
          </a:prstGeom>
          <a:noFill/>
          <a:ln/>
        </p:spPr>
        <p:txBody>
          <a:bodyPr wrap="square" lIns="0" tIns="0" rIns="0" bIns="0" rtlCol="0" anchor="t"/>
          <a:lstStyle/>
          <a:p>
            <a:pPr indent="0" marL="0">
              <a:buNone/>
            </a:pPr>
            <a:r>
              <a:rPr lang="en-US" sz="1650" b="1" dirty="0">
                <a:solidFill>
                  <a:srgbClr val="231D1A"/>
                </a:solidFill>
                <a:latin typeface="Calibri" pitchFamily="34" charset="0"/>
                <a:ea typeface="Calibri" pitchFamily="34" charset="-122"/>
                <a:cs typeface="Calibri" pitchFamily="34" charset="-120"/>
              </a:rPr>
              <a:t>Trưng bày thay đổi, mã thì không</a:t>
            </a:r>
            <a:endParaRPr lang="en-US" sz="1650" dirty="0"/>
          </a:p>
        </p:txBody>
      </p:sp>
      <p:sp>
        <p:nvSpPr>
          <p:cNvPr id="26" name="Text 17"/>
          <p:cNvSpPr txBox="1"/>
          <p:nvPr/>
        </p:nvSpPr>
        <p:spPr>
          <a:xfrm>
            <a:off x="6949440" y="5312664"/>
            <a:ext cx="4480560" cy="685800"/>
          </a:xfrm>
          <a:prstGeom prst="rect">
            <a:avLst/>
          </a:prstGeom>
          <a:noFill/>
          <a:ln/>
        </p:spPr>
        <p:txBody>
          <a:bodyPr wrap="square" lIns="0" tIns="0" rIns="0" bIns="0" rtlCol="0" anchor="t"/>
          <a:lstStyle/>
          <a:p>
            <a:pPr indent="0" marL="0">
              <a:lnSpc>
                <a:spcPct val="105000"/>
              </a:lnSpc>
              <a:buNone/>
            </a:pPr>
            <a:r>
              <a:rPr lang="en-US" sz="1250" dirty="0">
                <a:solidFill>
                  <a:srgbClr val="6B5F58"/>
                </a:solidFill>
                <a:latin typeface="Calibri" pitchFamily="34" charset="0"/>
                <a:ea typeface="Calibri" pitchFamily="34" charset="-122"/>
                <a:cs typeface="Calibri" pitchFamily="34" charset="-120"/>
              </a:rPr>
              <a:t>QR hay beacon gắn cứng với một hiện vật: mỗi lần luân chuyển là in lại mã, cấu hình lại thiết bị.</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01 · BÀI TOÁN</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Câu hỏi thiết kế và mục tiêu</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04 / 20</a:t>
            </a:r>
            <a:endParaRPr lang="en-US" sz="900" dirty="0"/>
          </a:p>
        </p:txBody>
      </p:sp>
      <p:sp>
        <p:nvSpPr>
          <p:cNvPr id="7" name="Shape 4"/>
          <p:cNvSpPr/>
          <p:nvPr/>
        </p:nvSpPr>
        <p:spPr>
          <a:xfrm>
            <a:off x="548640" y="1572768"/>
            <a:ext cx="11091672" cy="1783080"/>
          </a:xfrm>
          <a:prstGeom prst="roundRect">
            <a:avLst>
              <a:gd name="adj" fmla="val 4103"/>
            </a:avLst>
          </a:prstGeom>
          <a:solidFill>
            <a:srgbClr val="5E2420"/>
          </a:solidFill>
          <a:ln w="9525">
            <a:solidFill>
              <a:srgbClr val="5E2420"/>
            </a:solidFill>
            <a:prstDash val="solid"/>
          </a:ln>
        </p:spPr>
      </p:sp>
      <p:sp>
        <p:nvSpPr>
          <p:cNvPr id="8" name="Text 5"/>
          <p:cNvSpPr txBox="1"/>
          <p:nvPr/>
        </p:nvSpPr>
        <p:spPr>
          <a:xfrm>
            <a:off x="914400" y="1783080"/>
            <a:ext cx="5486400" cy="228600"/>
          </a:xfrm>
          <a:prstGeom prst="rect">
            <a:avLst/>
          </a:prstGeom>
          <a:noFill/>
          <a:ln/>
        </p:spPr>
        <p:txBody>
          <a:bodyPr wrap="square" lIns="0" tIns="0" rIns="0" bIns="0" rtlCol="0" anchor="t"/>
          <a:lstStyle/>
          <a:p>
            <a:pPr indent="0" marL="0">
              <a:buNone/>
            </a:pPr>
            <a:r>
              <a:rPr lang="en-US" sz="1000" b="1" spc="200" kern="0" dirty="0">
                <a:solidFill>
                  <a:srgbClr val="B08A4F"/>
                </a:solidFill>
                <a:latin typeface="Calibri" pitchFamily="34" charset="0"/>
                <a:ea typeface="Calibri" pitchFamily="34" charset="-122"/>
                <a:cs typeface="Calibri" pitchFamily="34" charset="-120"/>
              </a:rPr>
              <a:t>CÂU HỎI TRUNG TÂM</a:t>
            </a:r>
            <a:endParaRPr lang="en-US" sz="1000" dirty="0"/>
          </a:p>
        </p:txBody>
      </p:sp>
      <p:sp>
        <p:nvSpPr>
          <p:cNvPr id="9" name="Text 6"/>
          <p:cNvSpPr txBox="1"/>
          <p:nvPr/>
        </p:nvSpPr>
        <p:spPr>
          <a:xfrm>
            <a:off x="914400" y="2057400"/>
            <a:ext cx="9052560" cy="1143000"/>
          </a:xfrm>
          <a:prstGeom prst="rect">
            <a:avLst/>
          </a:prstGeom>
          <a:noFill/>
          <a:ln/>
        </p:spPr>
        <p:txBody>
          <a:bodyPr wrap="square" lIns="0" tIns="0" rIns="0" bIns="0" rtlCol="0" anchor="ctr"/>
          <a:lstStyle/>
          <a:p>
            <a:pPr indent="0" marL="0">
              <a:lnSpc>
                <a:spcPct val="105000"/>
              </a:lnSpc>
              <a:buNone/>
            </a:pPr>
            <a:r>
              <a:rPr lang="en-US" sz="2100" i="1" dirty="0">
                <a:solidFill>
                  <a:srgbClr val="FFFFFF"/>
                </a:solidFill>
                <a:latin typeface="Cambria" pitchFamily="34" charset="0"/>
                <a:ea typeface="Cambria" pitchFamily="34" charset="-122"/>
                <a:cs typeface="Cambria" pitchFamily="34" charset="-120"/>
              </a:rPr>
              <a:t>Làm thế nào để nội dung tự tìm đến đúng khách — đúng vị trí, đúng ngôn ngữ — mà không phải động tới phần cứng mỗi khi bảo tàng thay đổi trưng bày?</a:t>
            </a:r>
            <a:endParaRPr lang="en-US" sz="2100" dirty="0"/>
          </a:p>
        </p:txBody>
      </p:sp>
      <p:sp>
        <p:nvSpPr>
          <p:cNvPr id="10" name="Shape 7"/>
          <p:cNvSpPr/>
          <p:nvPr/>
        </p:nvSpPr>
        <p:spPr>
          <a:xfrm>
            <a:off x="548640" y="3611880"/>
            <a:ext cx="2035454" cy="2468880"/>
          </a:xfrm>
          <a:prstGeom prst="roundRect">
            <a:avLst>
              <a:gd name="adj" fmla="val 359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11" name="Image 1" descr="Họa tiết vòm trang trí">    </p:cNvPr>
          <p:cNvPicPr>
            <a:picLocks noChangeAspect="1"/>
          </p:cNvPicPr>
          <p:nvPr/>
        </p:nvPicPr>
        <p:blipFill>
          <a:blip r:embed="rId2"/>
          <a:stretch>
            <a:fillRect/>
          </a:stretch>
        </p:blipFill>
        <p:spPr>
          <a:xfrm>
            <a:off x="777240" y="3867912"/>
            <a:ext cx="548640" cy="731520"/>
          </a:xfrm>
          <a:prstGeom prst="rect">
            <a:avLst/>
          </a:prstGeom>
        </p:spPr>
      </p:pic>
      <p:pic>
        <p:nvPicPr>
          <p:cNvPr id="12" name="Image 2" descr="Biểu tượng">    </p:cNvPr>
          <p:cNvPicPr>
            <a:picLocks noChangeAspect="1"/>
          </p:cNvPicPr>
          <p:nvPr/>
        </p:nvPicPr>
        <p:blipFill>
          <a:blip r:embed="rId3"/>
          <a:stretch>
            <a:fillRect/>
          </a:stretch>
        </p:blipFill>
        <p:spPr>
          <a:xfrm>
            <a:off x="914400" y="4175150"/>
            <a:ext cx="274320" cy="274320"/>
          </a:xfrm>
          <a:prstGeom prst="rect">
            <a:avLst/>
          </a:prstGeom>
        </p:spPr>
      </p:pic>
      <p:sp>
        <p:nvSpPr>
          <p:cNvPr id="13" name="Text 8"/>
          <p:cNvSpPr txBox="1"/>
          <p:nvPr/>
        </p:nvSpPr>
        <p:spPr>
          <a:xfrm>
            <a:off x="777240" y="4663440"/>
            <a:ext cx="1669694" cy="56692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Tự nhận diện vị trí</a:t>
            </a:r>
            <a:endParaRPr lang="en-US" sz="1450" dirty="0"/>
          </a:p>
        </p:txBody>
      </p:sp>
      <p:sp>
        <p:nvSpPr>
          <p:cNvPr id="14" name="Text 9"/>
          <p:cNvSpPr txBox="1"/>
          <p:nvPr/>
        </p:nvSpPr>
        <p:spPr>
          <a:xfrm>
            <a:off x="777240" y="5257800"/>
            <a:ext cx="1623974" cy="868680"/>
          </a:xfrm>
          <a:prstGeom prst="rect">
            <a:avLst/>
          </a:prstGeom>
          <a:noFill/>
          <a:ln/>
        </p:spPr>
        <p:txBody>
          <a:bodyPr wrap="square" lIns="0" tIns="0" rIns="0" bIns="0" rtlCol="0" anchor="t"/>
          <a:lstStyle/>
          <a:p>
            <a:pPr indent="0" marL="0">
              <a:lnSpc>
                <a:spcPct val="105000"/>
              </a:lnSpc>
              <a:buNone/>
            </a:pPr>
            <a:r>
              <a:rPr lang="en-US" sz="1200" dirty="0">
                <a:solidFill>
                  <a:srgbClr val="6B5F58"/>
                </a:solidFill>
                <a:latin typeface="Calibri" pitchFamily="34" charset="0"/>
                <a:ea typeface="Calibri" pitchFamily="34" charset="-122"/>
                <a:cs typeface="Calibri" pitchFamily="34" charset="-120"/>
              </a:rPr>
              <a:t>Điện thoại nghe beacon BLE và tự xác định khu vực khách đang đứng.</a:t>
            </a:r>
            <a:endParaRPr lang="en-US" sz="1200" dirty="0"/>
          </a:p>
        </p:txBody>
      </p:sp>
      <p:sp>
        <p:nvSpPr>
          <p:cNvPr id="15" name="Shape 10"/>
          <p:cNvSpPr/>
          <p:nvPr/>
        </p:nvSpPr>
        <p:spPr>
          <a:xfrm>
            <a:off x="2812694" y="3611880"/>
            <a:ext cx="2035454" cy="2468880"/>
          </a:xfrm>
          <a:prstGeom prst="roundRect">
            <a:avLst>
              <a:gd name="adj" fmla="val 359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16" name="Image 3" descr="Họa tiết vòm trang trí">    </p:cNvPr>
          <p:cNvPicPr>
            <a:picLocks noChangeAspect="1"/>
          </p:cNvPicPr>
          <p:nvPr/>
        </p:nvPicPr>
        <p:blipFill>
          <a:blip r:embed="rId4"/>
          <a:stretch>
            <a:fillRect/>
          </a:stretch>
        </p:blipFill>
        <p:spPr>
          <a:xfrm>
            <a:off x="3041294" y="3867912"/>
            <a:ext cx="548640" cy="731520"/>
          </a:xfrm>
          <a:prstGeom prst="rect">
            <a:avLst/>
          </a:prstGeom>
        </p:spPr>
      </p:pic>
      <p:pic>
        <p:nvPicPr>
          <p:cNvPr id="17" name="Image 4" descr="Biểu tượng">    </p:cNvPr>
          <p:cNvPicPr>
            <a:picLocks noChangeAspect="1"/>
          </p:cNvPicPr>
          <p:nvPr/>
        </p:nvPicPr>
        <p:blipFill>
          <a:blip r:embed="rId5"/>
          <a:stretch>
            <a:fillRect/>
          </a:stretch>
        </p:blipFill>
        <p:spPr>
          <a:xfrm>
            <a:off x="3178454" y="4175150"/>
            <a:ext cx="274320" cy="274320"/>
          </a:xfrm>
          <a:prstGeom prst="rect">
            <a:avLst/>
          </a:prstGeom>
        </p:spPr>
      </p:pic>
      <p:sp>
        <p:nvSpPr>
          <p:cNvPr id="18" name="Text 11"/>
          <p:cNvSpPr txBox="1"/>
          <p:nvPr/>
        </p:nvSpPr>
        <p:spPr>
          <a:xfrm>
            <a:off x="3041294" y="4663440"/>
            <a:ext cx="1669694" cy="56692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Không cần cài ứng dụng</a:t>
            </a:r>
            <a:endParaRPr lang="en-US" sz="1450" dirty="0"/>
          </a:p>
        </p:txBody>
      </p:sp>
      <p:sp>
        <p:nvSpPr>
          <p:cNvPr id="19" name="Text 12"/>
          <p:cNvSpPr txBox="1"/>
          <p:nvPr/>
        </p:nvSpPr>
        <p:spPr>
          <a:xfrm>
            <a:off x="3041294" y="5257800"/>
            <a:ext cx="1623974" cy="868680"/>
          </a:xfrm>
          <a:prstGeom prst="rect">
            <a:avLst/>
          </a:prstGeom>
          <a:noFill/>
          <a:ln/>
        </p:spPr>
        <p:txBody>
          <a:bodyPr wrap="square" lIns="0" tIns="0" rIns="0" bIns="0" rtlCol="0" anchor="t"/>
          <a:lstStyle/>
          <a:p>
            <a:pPr indent="0" marL="0">
              <a:lnSpc>
                <a:spcPct val="105000"/>
              </a:lnSpc>
              <a:buNone/>
            </a:pPr>
            <a:r>
              <a:rPr lang="en-US" sz="1200" dirty="0">
                <a:solidFill>
                  <a:srgbClr val="6B5F58"/>
                </a:solidFill>
                <a:latin typeface="Calibri" pitchFamily="34" charset="0"/>
                <a:ea typeface="Calibri" pitchFamily="34" charset="-122"/>
                <a:cs typeface="Calibri" pitchFamily="34" charset="-120"/>
              </a:rPr>
              <a:t>Quét QR là mở ngay trang web của khu vực, dùng chung dữ liệu với app.</a:t>
            </a:r>
            <a:endParaRPr lang="en-US" sz="1200" dirty="0"/>
          </a:p>
        </p:txBody>
      </p:sp>
      <p:sp>
        <p:nvSpPr>
          <p:cNvPr id="20" name="Shape 13"/>
          <p:cNvSpPr/>
          <p:nvPr/>
        </p:nvSpPr>
        <p:spPr>
          <a:xfrm>
            <a:off x="5076749" y="3611880"/>
            <a:ext cx="2035454" cy="2468880"/>
          </a:xfrm>
          <a:prstGeom prst="roundRect">
            <a:avLst>
              <a:gd name="adj" fmla="val 359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21" name="Image 5" descr="Họa tiết vòm trang trí">    </p:cNvPr>
          <p:cNvPicPr>
            <a:picLocks noChangeAspect="1"/>
          </p:cNvPicPr>
          <p:nvPr/>
        </p:nvPicPr>
        <p:blipFill>
          <a:blip r:embed="rId6"/>
          <a:stretch>
            <a:fillRect/>
          </a:stretch>
        </p:blipFill>
        <p:spPr>
          <a:xfrm>
            <a:off x="5305349" y="3867912"/>
            <a:ext cx="548640" cy="731520"/>
          </a:xfrm>
          <a:prstGeom prst="rect">
            <a:avLst/>
          </a:prstGeom>
        </p:spPr>
      </p:pic>
      <p:pic>
        <p:nvPicPr>
          <p:cNvPr id="22" name="Image 6" descr="Biểu tượng">    </p:cNvPr>
          <p:cNvPicPr>
            <a:picLocks noChangeAspect="1"/>
          </p:cNvPicPr>
          <p:nvPr/>
        </p:nvPicPr>
        <p:blipFill>
          <a:blip r:embed="rId7"/>
          <a:stretch>
            <a:fillRect/>
          </a:stretch>
        </p:blipFill>
        <p:spPr>
          <a:xfrm>
            <a:off x="5442509" y="4175150"/>
            <a:ext cx="274320" cy="274320"/>
          </a:xfrm>
          <a:prstGeom prst="rect">
            <a:avLst/>
          </a:prstGeom>
        </p:spPr>
      </p:pic>
      <p:sp>
        <p:nvSpPr>
          <p:cNvPr id="23" name="Text 14"/>
          <p:cNvSpPr txBox="1"/>
          <p:nvPr/>
        </p:nvSpPr>
        <p:spPr>
          <a:xfrm>
            <a:off x="5305349" y="4663440"/>
            <a:ext cx="1669694" cy="56692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Đa ngôn ngữ &amp; audio</a:t>
            </a:r>
            <a:endParaRPr lang="en-US" sz="1450" dirty="0"/>
          </a:p>
        </p:txBody>
      </p:sp>
      <p:sp>
        <p:nvSpPr>
          <p:cNvPr id="24" name="Text 15"/>
          <p:cNvSpPr txBox="1"/>
          <p:nvPr/>
        </p:nvSpPr>
        <p:spPr>
          <a:xfrm>
            <a:off x="5305349" y="5257800"/>
            <a:ext cx="1623974" cy="868680"/>
          </a:xfrm>
          <a:prstGeom prst="rect">
            <a:avLst/>
          </a:prstGeom>
          <a:noFill/>
          <a:ln/>
        </p:spPr>
        <p:txBody>
          <a:bodyPr wrap="square" lIns="0" tIns="0" rIns="0" bIns="0" rtlCol="0" anchor="t"/>
          <a:lstStyle/>
          <a:p>
            <a:pPr indent="0" marL="0">
              <a:lnSpc>
                <a:spcPct val="105000"/>
              </a:lnSpc>
              <a:buNone/>
            </a:pPr>
            <a:r>
              <a:rPr lang="en-US" sz="1200" dirty="0">
                <a:solidFill>
                  <a:srgbClr val="6B5F58"/>
                </a:solidFill>
                <a:latin typeface="Calibri" pitchFamily="34" charset="0"/>
                <a:ea typeface="Calibri" pitchFamily="34" charset="-122"/>
                <a:cs typeface="Calibri" pitchFamily="34" charset="-120"/>
              </a:rPr>
              <a:t>Hỗ trợ sẵn 26 ngôn ngữ; AI hỗ trợ dịch và tạo giọng thuyết minh.</a:t>
            </a:r>
            <a:endParaRPr lang="en-US" sz="1200" dirty="0"/>
          </a:p>
        </p:txBody>
      </p:sp>
      <p:sp>
        <p:nvSpPr>
          <p:cNvPr id="25" name="Shape 16"/>
          <p:cNvSpPr/>
          <p:nvPr/>
        </p:nvSpPr>
        <p:spPr>
          <a:xfrm>
            <a:off x="7340803" y="3611880"/>
            <a:ext cx="2035454" cy="2468880"/>
          </a:xfrm>
          <a:prstGeom prst="roundRect">
            <a:avLst>
              <a:gd name="adj" fmla="val 359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26" name="Image 7" descr="Họa tiết vòm trang trí">    </p:cNvPr>
          <p:cNvPicPr>
            <a:picLocks noChangeAspect="1"/>
          </p:cNvPicPr>
          <p:nvPr/>
        </p:nvPicPr>
        <p:blipFill>
          <a:blip r:embed="rId8"/>
          <a:stretch>
            <a:fillRect/>
          </a:stretch>
        </p:blipFill>
        <p:spPr>
          <a:xfrm>
            <a:off x="7569403" y="3867912"/>
            <a:ext cx="548640" cy="731520"/>
          </a:xfrm>
          <a:prstGeom prst="rect">
            <a:avLst/>
          </a:prstGeom>
        </p:spPr>
      </p:pic>
      <p:pic>
        <p:nvPicPr>
          <p:cNvPr id="27" name="Image 8" descr="Biểu tượng">    </p:cNvPr>
          <p:cNvPicPr>
            <a:picLocks noChangeAspect="1"/>
          </p:cNvPicPr>
          <p:nvPr/>
        </p:nvPicPr>
        <p:blipFill>
          <a:blip r:embed="rId9"/>
          <a:stretch>
            <a:fillRect/>
          </a:stretch>
        </p:blipFill>
        <p:spPr>
          <a:xfrm>
            <a:off x="7706563" y="4175150"/>
            <a:ext cx="274320" cy="274320"/>
          </a:xfrm>
          <a:prstGeom prst="rect">
            <a:avLst/>
          </a:prstGeom>
        </p:spPr>
      </p:pic>
      <p:sp>
        <p:nvSpPr>
          <p:cNvPr id="28" name="Text 17"/>
          <p:cNvSpPr txBox="1"/>
          <p:nvPr/>
        </p:nvSpPr>
        <p:spPr>
          <a:xfrm>
            <a:off x="7569403" y="4663440"/>
            <a:ext cx="1669694" cy="56692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Vận hành đơn giản</a:t>
            </a:r>
            <a:endParaRPr lang="en-US" sz="1450" dirty="0"/>
          </a:p>
        </p:txBody>
      </p:sp>
      <p:sp>
        <p:nvSpPr>
          <p:cNvPr id="29" name="Text 18"/>
          <p:cNvSpPr txBox="1"/>
          <p:nvPr/>
        </p:nvSpPr>
        <p:spPr>
          <a:xfrm>
            <a:off x="7569403" y="5257800"/>
            <a:ext cx="1623974" cy="868680"/>
          </a:xfrm>
          <a:prstGeom prst="rect">
            <a:avLst/>
          </a:prstGeom>
          <a:noFill/>
          <a:ln/>
        </p:spPr>
        <p:txBody>
          <a:bodyPr wrap="square" lIns="0" tIns="0" rIns="0" bIns="0" rtlCol="0" anchor="t"/>
          <a:lstStyle/>
          <a:p>
            <a:pPr indent="0" marL="0">
              <a:lnSpc>
                <a:spcPct val="105000"/>
              </a:lnSpc>
              <a:buNone/>
            </a:pPr>
            <a:r>
              <a:rPr lang="en-US" sz="1200" dirty="0">
                <a:solidFill>
                  <a:srgbClr val="6B5F58"/>
                </a:solidFill>
                <a:latin typeface="Calibri" pitchFamily="34" charset="0"/>
                <a:ea typeface="Calibri" pitchFamily="34" charset="-122"/>
                <a:cs typeface="Calibri" pitchFamily="34" charset="-120"/>
              </a:rPr>
              <a:t>Nhân viên đổi hiện vật của một khu vực chỉ bằng một thao tác.</a:t>
            </a:r>
            <a:endParaRPr lang="en-US" sz="1200" dirty="0"/>
          </a:p>
        </p:txBody>
      </p:sp>
      <p:sp>
        <p:nvSpPr>
          <p:cNvPr id="30" name="Shape 19"/>
          <p:cNvSpPr/>
          <p:nvPr/>
        </p:nvSpPr>
        <p:spPr>
          <a:xfrm>
            <a:off x="9604858" y="3611880"/>
            <a:ext cx="2035454" cy="2468880"/>
          </a:xfrm>
          <a:prstGeom prst="roundRect">
            <a:avLst>
              <a:gd name="adj" fmla="val 359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31" name="Image 9" descr="Họa tiết vòm trang trí">    </p:cNvPr>
          <p:cNvPicPr>
            <a:picLocks noChangeAspect="1"/>
          </p:cNvPicPr>
          <p:nvPr/>
        </p:nvPicPr>
        <p:blipFill>
          <a:blip r:embed="rId10"/>
          <a:stretch>
            <a:fillRect/>
          </a:stretch>
        </p:blipFill>
        <p:spPr>
          <a:xfrm>
            <a:off x="9833458" y="3867912"/>
            <a:ext cx="548640" cy="731520"/>
          </a:xfrm>
          <a:prstGeom prst="rect">
            <a:avLst/>
          </a:prstGeom>
        </p:spPr>
      </p:pic>
      <p:pic>
        <p:nvPicPr>
          <p:cNvPr id="32" name="Image 10" descr="Biểu tượng">    </p:cNvPr>
          <p:cNvPicPr>
            <a:picLocks noChangeAspect="1"/>
          </p:cNvPicPr>
          <p:nvPr/>
        </p:nvPicPr>
        <p:blipFill>
          <a:blip r:embed="rId11"/>
          <a:stretch>
            <a:fillRect/>
          </a:stretch>
        </p:blipFill>
        <p:spPr>
          <a:xfrm>
            <a:off x="9970618" y="4175150"/>
            <a:ext cx="274320" cy="274320"/>
          </a:xfrm>
          <a:prstGeom prst="rect">
            <a:avLst/>
          </a:prstGeom>
        </p:spPr>
      </p:pic>
      <p:sp>
        <p:nvSpPr>
          <p:cNvPr id="33" name="Text 20"/>
          <p:cNvSpPr txBox="1"/>
          <p:nvPr/>
        </p:nvSpPr>
        <p:spPr>
          <a:xfrm>
            <a:off x="9833458" y="4663440"/>
            <a:ext cx="1669694" cy="56692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Bảo vệ riêng tư</a:t>
            </a:r>
            <a:endParaRPr lang="en-US" sz="1450" dirty="0"/>
          </a:p>
        </p:txBody>
      </p:sp>
      <p:sp>
        <p:nvSpPr>
          <p:cNvPr id="34" name="Text 21"/>
          <p:cNvSpPr txBox="1"/>
          <p:nvPr/>
        </p:nvSpPr>
        <p:spPr>
          <a:xfrm>
            <a:off x="9833458" y="5257800"/>
            <a:ext cx="1623974" cy="868680"/>
          </a:xfrm>
          <a:prstGeom prst="rect">
            <a:avLst/>
          </a:prstGeom>
          <a:noFill/>
          <a:ln/>
        </p:spPr>
        <p:txBody>
          <a:bodyPr wrap="square" lIns="0" tIns="0" rIns="0" bIns="0" rtlCol="0" anchor="t"/>
          <a:lstStyle/>
          <a:p>
            <a:pPr indent="0" marL="0">
              <a:lnSpc>
                <a:spcPct val="105000"/>
              </a:lnSpc>
              <a:buNone/>
            </a:pPr>
            <a:r>
              <a:rPr lang="en-US" sz="1200" dirty="0">
                <a:solidFill>
                  <a:srgbClr val="6B5F58"/>
                </a:solidFill>
                <a:latin typeface="Calibri" pitchFamily="34" charset="0"/>
                <a:ea typeface="Calibri" pitchFamily="34" charset="-122"/>
                <a:cs typeface="Calibri" pitchFamily="34" charset="-120"/>
              </a:rPr>
              <a:t>Khách không cần tài khoản; tín hiệu BLE được xử lý ngay trên máy.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02 · Ý TƯỞNG CỐT LÕI</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Khách tương tác với khu vực, không phải với hiện vật</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05 / 20</a:t>
            </a:r>
            <a:endParaRPr lang="en-US" sz="900" dirty="0"/>
          </a:p>
        </p:txBody>
      </p:sp>
      <p:sp>
        <p:nvSpPr>
          <p:cNvPr id="7" name="Text 4"/>
          <p:cNvSpPr txBox="1"/>
          <p:nvPr/>
        </p:nvSpPr>
        <p:spPr>
          <a:xfrm>
            <a:off x="548640" y="1481328"/>
            <a:ext cx="3657600" cy="228600"/>
          </a:xfrm>
          <a:prstGeom prst="rect">
            <a:avLst/>
          </a:prstGeom>
          <a:noFill/>
          <a:ln/>
        </p:spPr>
        <p:txBody>
          <a:bodyPr wrap="square" lIns="0" tIns="0" rIns="0" bIns="0" rtlCol="0" anchor="t"/>
          <a:lstStyle/>
          <a:p>
            <a:pPr indent="0" marL="0">
              <a:buNone/>
            </a:pPr>
            <a:r>
              <a:rPr lang="en-US" sz="1000" b="1" spc="200" kern="0" dirty="0">
                <a:solidFill>
                  <a:srgbClr val="6B5F58"/>
                </a:solidFill>
                <a:latin typeface="Calibri" pitchFamily="34" charset="0"/>
                <a:ea typeface="Calibri" pitchFamily="34" charset="-122"/>
                <a:cs typeface="Calibri" pitchFamily="34" charset="-120"/>
              </a:rPr>
              <a:t>CÁCH THƯỜNG GẶP</a:t>
            </a:r>
            <a:endParaRPr lang="en-US" sz="1000" dirty="0"/>
          </a:p>
        </p:txBody>
      </p:sp>
      <p:sp>
        <p:nvSpPr>
          <p:cNvPr id="8" name="Shape 5"/>
          <p:cNvSpPr/>
          <p:nvPr/>
        </p:nvSpPr>
        <p:spPr>
          <a:xfrm>
            <a:off x="548640" y="1755648"/>
            <a:ext cx="1737360" cy="502920"/>
          </a:xfrm>
          <a:prstGeom prst="roundRect">
            <a:avLst>
              <a:gd name="adj" fmla="val 14545"/>
            </a:avLst>
          </a:prstGeom>
          <a:solidFill>
            <a:srgbClr val="FFFFFF"/>
          </a:solidFill>
          <a:ln w="12700">
            <a:solidFill>
              <a:srgbClr val="E3D9CD"/>
            </a:solidFill>
            <a:prstDash val="dash"/>
          </a:ln>
        </p:spPr>
      </p:sp>
      <p:sp>
        <p:nvSpPr>
          <p:cNvPr id="9" name="Text 6"/>
          <p:cNvSpPr txBox="1"/>
          <p:nvPr/>
        </p:nvSpPr>
        <p:spPr>
          <a:xfrm>
            <a:off x="548640" y="1755648"/>
            <a:ext cx="1737360" cy="502920"/>
          </a:xfrm>
          <a:prstGeom prst="rect">
            <a:avLst/>
          </a:prstGeom>
          <a:noFill/>
          <a:ln/>
        </p:spPr>
        <p:txBody>
          <a:bodyPr wrap="square" lIns="0" tIns="0" rIns="0" bIns="0" rtlCol="0" anchor="ctr"/>
          <a:lstStyle/>
          <a:p>
            <a:pPr algn="ctr" indent="0" marL="0">
              <a:buNone/>
            </a:pPr>
            <a:r>
              <a:rPr lang="en-US" sz="1300" b="1" dirty="0">
                <a:solidFill>
                  <a:srgbClr val="6B5F58"/>
                </a:solidFill>
                <a:latin typeface="Calibri" pitchFamily="34" charset="0"/>
                <a:ea typeface="Calibri" pitchFamily="34" charset="-122"/>
                <a:cs typeface="Calibri" pitchFamily="34" charset="-120"/>
              </a:rPr>
              <a:t>QR / beacon</a:t>
            </a:r>
            <a:endParaRPr lang="en-US" sz="1300" dirty="0"/>
          </a:p>
        </p:txBody>
      </p:sp>
      <p:sp>
        <p:nvSpPr>
          <p:cNvPr id="10" name="Shape 7"/>
          <p:cNvSpPr/>
          <p:nvPr/>
        </p:nvSpPr>
        <p:spPr>
          <a:xfrm>
            <a:off x="2331720" y="2007108"/>
            <a:ext cx="320040" cy="914"/>
          </a:xfrm>
          <a:prstGeom prst="line">
            <a:avLst/>
          </a:prstGeom>
          <a:noFill/>
          <a:ln w="22225">
            <a:solidFill>
              <a:srgbClr val="E3D9CD"/>
            </a:solidFill>
            <a:prstDash val="solid"/>
            <a:tailEnd type="triangle"/>
          </a:ln>
        </p:spPr>
      </p:sp>
      <p:sp>
        <p:nvSpPr>
          <p:cNvPr id="11" name="Shape 8"/>
          <p:cNvSpPr/>
          <p:nvPr/>
        </p:nvSpPr>
        <p:spPr>
          <a:xfrm>
            <a:off x="2697480" y="1755648"/>
            <a:ext cx="1920240" cy="502920"/>
          </a:xfrm>
          <a:prstGeom prst="roundRect">
            <a:avLst>
              <a:gd name="adj" fmla="val 14545"/>
            </a:avLst>
          </a:prstGeom>
          <a:solidFill>
            <a:srgbClr val="FFFFFF"/>
          </a:solidFill>
          <a:ln w="12700">
            <a:solidFill>
              <a:srgbClr val="E3D9CD"/>
            </a:solidFill>
            <a:prstDash val="dash"/>
          </a:ln>
        </p:spPr>
      </p:sp>
      <p:sp>
        <p:nvSpPr>
          <p:cNvPr id="12" name="Text 9"/>
          <p:cNvSpPr txBox="1"/>
          <p:nvPr/>
        </p:nvSpPr>
        <p:spPr>
          <a:xfrm>
            <a:off x="2697480" y="1755648"/>
            <a:ext cx="1920240" cy="502920"/>
          </a:xfrm>
          <a:prstGeom prst="rect">
            <a:avLst/>
          </a:prstGeom>
          <a:noFill/>
          <a:ln/>
        </p:spPr>
        <p:txBody>
          <a:bodyPr wrap="square" lIns="0" tIns="0" rIns="0" bIns="0" rtlCol="0" anchor="ctr"/>
          <a:lstStyle/>
          <a:p>
            <a:pPr algn="ctr" indent="0" marL="0">
              <a:buNone/>
            </a:pPr>
            <a:r>
              <a:rPr lang="en-US" sz="1300" b="1" dirty="0">
                <a:solidFill>
                  <a:srgbClr val="6B5F58"/>
                </a:solidFill>
                <a:latin typeface="Calibri" pitchFamily="34" charset="0"/>
                <a:ea typeface="Calibri" pitchFamily="34" charset="-122"/>
                <a:cs typeface="Calibri" pitchFamily="34" charset="-120"/>
              </a:rPr>
              <a:t>Một hiện vật cố định</a:t>
            </a:r>
            <a:endParaRPr lang="en-US" sz="1300" dirty="0"/>
          </a:p>
        </p:txBody>
      </p:sp>
      <p:sp>
        <p:nvSpPr>
          <p:cNvPr id="13" name="Text 10"/>
          <p:cNvSpPr txBox="1"/>
          <p:nvPr/>
        </p:nvSpPr>
        <p:spPr>
          <a:xfrm>
            <a:off x="4937760" y="1755648"/>
            <a:ext cx="5486400" cy="502920"/>
          </a:xfrm>
          <a:prstGeom prst="rect">
            <a:avLst/>
          </a:prstGeom>
          <a:noFill/>
          <a:ln/>
        </p:spPr>
        <p:txBody>
          <a:bodyPr wrap="square" lIns="0" tIns="0" rIns="0" bIns="0" rtlCol="0" anchor="ctr"/>
          <a:lstStyle/>
          <a:p>
            <a:pPr indent="0" marL="0">
              <a:buNone/>
            </a:pPr>
            <a:r>
              <a:rPr lang="en-US" sz="1300" i="1" dirty="0">
                <a:solidFill>
                  <a:srgbClr val="9A4A3F"/>
                </a:solidFill>
                <a:latin typeface="Calibri" pitchFamily="34" charset="0"/>
                <a:ea typeface="Calibri" pitchFamily="34" charset="-122"/>
                <a:cs typeface="Calibri" pitchFamily="34" charset="-120"/>
              </a:rPr>
              <a:t>Đổi hiện vật  ⇒  in lại QR, cấu hình lại beacon</a:t>
            </a:r>
            <a:endParaRPr lang="en-US" sz="1300" dirty="0"/>
          </a:p>
        </p:txBody>
      </p:sp>
      <p:sp>
        <p:nvSpPr>
          <p:cNvPr id="14" name="Text 11"/>
          <p:cNvSpPr txBox="1"/>
          <p:nvPr/>
        </p:nvSpPr>
        <p:spPr>
          <a:xfrm>
            <a:off x="548640" y="2542032"/>
            <a:ext cx="457200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CÁCH TIẾP CẬN CỦA NHÓM</a:t>
            </a:r>
            <a:endParaRPr lang="en-US" sz="1000" dirty="0"/>
          </a:p>
        </p:txBody>
      </p:sp>
      <p:sp>
        <p:nvSpPr>
          <p:cNvPr id="15" name="Shape 12"/>
          <p:cNvSpPr/>
          <p:nvPr/>
        </p:nvSpPr>
        <p:spPr>
          <a:xfrm>
            <a:off x="548640" y="2834640"/>
            <a:ext cx="1737360" cy="603504"/>
          </a:xfrm>
          <a:prstGeom prst="roundRect">
            <a:avLst>
              <a:gd name="adj" fmla="val 12121"/>
            </a:avLst>
          </a:prstGeom>
          <a:solidFill>
            <a:srgbClr val="FFFFFF"/>
          </a:solidFill>
          <a:ln w="12700">
            <a:solidFill>
              <a:srgbClr val="E3D9CD"/>
            </a:solidFill>
            <a:prstDash val="solid"/>
          </a:ln>
          <a:effectLst>
            <a:outerShdw sx="100000" sy="100000" kx="0" ky="0" algn="bl" rotWithShape="0" blurRad="127000" dist="25400" dir="5400000">
              <a:srgbClr val="000000">
                <a:alpha val="8000"/>
              </a:srgbClr>
            </a:outerShdw>
          </a:effectLst>
        </p:spPr>
      </p:sp>
      <p:sp>
        <p:nvSpPr>
          <p:cNvPr id="16" name="Text 13"/>
          <p:cNvSpPr txBox="1"/>
          <p:nvPr/>
        </p:nvSpPr>
        <p:spPr>
          <a:xfrm>
            <a:off x="658368" y="2834640"/>
            <a:ext cx="1517904" cy="603504"/>
          </a:xfrm>
          <a:prstGeom prst="rect">
            <a:avLst/>
          </a:prstGeom>
          <a:noFill/>
          <a:ln/>
        </p:spPr>
        <p:txBody>
          <a:bodyPr wrap="square" lIns="0" tIns="0" rIns="0" bIns="0" rtlCol="0" anchor="ctr"/>
          <a:lstStyle/>
          <a:p>
            <a:pPr algn="ctr" indent="0" marL="0">
              <a:lnSpc>
                <a:spcPct val="105000"/>
              </a:lnSpc>
              <a:buNone/>
            </a:pPr>
            <a:r>
              <a:rPr lang="en-US" sz="1500" b="1" dirty="0">
                <a:solidFill>
                  <a:srgbClr val="231D1A"/>
                </a:solidFill>
                <a:latin typeface="Calibri" pitchFamily="34" charset="0"/>
                <a:ea typeface="Calibri" pitchFamily="34" charset="-122"/>
                <a:cs typeface="Calibri" pitchFamily="34" charset="-120"/>
              </a:rPr>
              <a:t>BLE beacon</a:t>
            </a:r>
            <a:endParaRPr lang="en-US" sz="1500" dirty="0"/>
          </a:p>
          <a:p>
            <a:pPr algn="ctr" indent="0" marL="0">
              <a:lnSpc>
                <a:spcPct val="105000"/>
              </a:lnSpc>
              <a:buNone/>
            </a:pPr>
            <a:r>
              <a:rPr lang="en-US" sz="1100" dirty="0">
                <a:solidFill>
                  <a:srgbClr val="6B5F58"/>
                </a:solidFill>
                <a:latin typeface="Calibri" pitchFamily="34" charset="0"/>
                <a:ea typeface="Calibri" pitchFamily="34" charset="-122"/>
                <a:cs typeface="Calibri" pitchFamily="34" charset="-120"/>
              </a:rPr>
              <a:t>Eddystone-UID / iBeacon</a:t>
            </a:r>
            <a:endParaRPr lang="en-US" sz="1500" dirty="0"/>
          </a:p>
        </p:txBody>
      </p:sp>
      <p:sp>
        <p:nvSpPr>
          <p:cNvPr id="17" name="Shape 14"/>
          <p:cNvSpPr/>
          <p:nvPr/>
        </p:nvSpPr>
        <p:spPr>
          <a:xfrm>
            <a:off x="548640" y="3557016"/>
            <a:ext cx="1737360" cy="603504"/>
          </a:xfrm>
          <a:prstGeom prst="roundRect">
            <a:avLst>
              <a:gd name="adj" fmla="val 12121"/>
            </a:avLst>
          </a:prstGeom>
          <a:solidFill>
            <a:srgbClr val="FFFFFF"/>
          </a:solidFill>
          <a:ln w="12700">
            <a:solidFill>
              <a:srgbClr val="E3D9CD"/>
            </a:solidFill>
            <a:prstDash val="solid"/>
          </a:ln>
          <a:effectLst>
            <a:outerShdw sx="100000" sy="100000" kx="0" ky="0" algn="bl" rotWithShape="0" blurRad="127000" dist="25400" dir="5400000">
              <a:srgbClr val="000000">
                <a:alpha val="8000"/>
              </a:srgbClr>
            </a:outerShdw>
          </a:effectLst>
        </p:spPr>
      </p:sp>
      <p:sp>
        <p:nvSpPr>
          <p:cNvPr id="18" name="Text 15"/>
          <p:cNvSpPr txBox="1"/>
          <p:nvPr/>
        </p:nvSpPr>
        <p:spPr>
          <a:xfrm>
            <a:off x="658368" y="3557016"/>
            <a:ext cx="1517904" cy="603504"/>
          </a:xfrm>
          <a:prstGeom prst="rect">
            <a:avLst/>
          </a:prstGeom>
          <a:noFill/>
          <a:ln/>
        </p:spPr>
        <p:txBody>
          <a:bodyPr wrap="square" lIns="0" tIns="0" rIns="0" bIns="0" rtlCol="0" anchor="ctr"/>
          <a:lstStyle/>
          <a:p>
            <a:pPr algn="ctr" indent="0" marL="0">
              <a:lnSpc>
                <a:spcPct val="105000"/>
              </a:lnSpc>
              <a:buNone/>
            </a:pPr>
            <a:r>
              <a:rPr lang="en-US" sz="1500" b="1" dirty="0">
                <a:solidFill>
                  <a:srgbClr val="231D1A"/>
                </a:solidFill>
                <a:latin typeface="Calibri" pitchFamily="34" charset="0"/>
                <a:ea typeface="Calibri" pitchFamily="34" charset="-122"/>
                <a:cs typeface="Calibri" pitchFamily="34" charset="-120"/>
              </a:rPr>
              <a:t>Mã QR</a:t>
            </a:r>
            <a:endParaRPr lang="en-US" sz="1500" dirty="0"/>
          </a:p>
          <a:p>
            <a:pPr algn="ctr" indent="0" marL="0">
              <a:lnSpc>
                <a:spcPct val="105000"/>
              </a:lnSpc>
              <a:buNone/>
            </a:pPr>
            <a:r>
              <a:rPr lang="en-US" sz="1100" dirty="0">
                <a:solidFill>
                  <a:srgbClr val="6B5F58"/>
                </a:solidFill>
                <a:latin typeface="Calibri" pitchFamily="34" charset="0"/>
                <a:ea typeface="Calibri" pitchFamily="34" charset="-122"/>
                <a:cs typeface="Calibri" pitchFamily="34" charset="-120"/>
              </a:rPr>
              <a:t>…/q/ZONE_A01</a:t>
            </a:r>
            <a:endParaRPr lang="en-US" sz="1500" dirty="0"/>
          </a:p>
        </p:txBody>
      </p:sp>
      <p:sp>
        <p:nvSpPr>
          <p:cNvPr id="19" name="Shape 16"/>
          <p:cNvSpPr/>
          <p:nvPr/>
        </p:nvSpPr>
        <p:spPr>
          <a:xfrm>
            <a:off x="2697480" y="2834640"/>
            <a:ext cx="1920240" cy="1325880"/>
          </a:xfrm>
          <a:prstGeom prst="roundRect">
            <a:avLst>
              <a:gd name="adj" fmla="val 5517"/>
            </a:avLst>
          </a:prstGeom>
          <a:solidFill>
            <a:srgbClr val="5E2420"/>
          </a:solidFill>
          <a:ln w="12700">
            <a:solidFill>
              <a:srgbClr val="5E2420"/>
            </a:solidFill>
            <a:prstDash val="solid"/>
          </a:ln>
          <a:effectLst>
            <a:outerShdw sx="100000" sy="100000" kx="0" ky="0" algn="bl" rotWithShape="0" blurRad="127000" dist="25400" dir="5400000">
              <a:srgbClr val="000000">
                <a:alpha val="8000"/>
              </a:srgbClr>
            </a:outerShdw>
          </a:effectLst>
        </p:spPr>
      </p:sp>
      <p:sp>
        <p:nvSpPr>
          <p:cNvPr id="20" name="Text 17"/>
          <p:cNvSpPr txBox="1"/>
          <p:nvPr/>
        </p:nvSpPr>
        <p:spPr>
          <a:xfrm>
            <a:off x="2807208" y="2834640"/>
            <a:ext cx="1700784" cy="1325880"/>
          </a:xfrm>
          <a:prstGeom prst="rect">
            <a:avLst/>
          </a:prstGeom>
          <a:noFill/>
          <a:ln/>
        </p:spPr>
        <p:txBody>
          <a:bodyPr wrap="square" lIns="0" tIns="0" rIns="0" bIns="0" rtlCol="0" anchor="ctr"/>
          <a:lstStyle/>
          <a:p>
            <a:pPr algn="ctr" indent="0" marL="0">
              <a:lnSpc>
                <a:spcPct val="105000"/>
              </a:lnSpc>
              <a:buNone/>
            </a:pPr>
            <a:r>
              <a:rPr lang="en-US" sz="1500" b="1" dirty="0">
                <a:solidFill>
                  <a:srgbClr val="FFFFFF"/>
                </a:solidFill>
                <a:latin typeface="Calibri" pitchFamily="34" charset="0"/>
                <a:ea typeface="Calibri" pitchFamily="34" charset="-122"/>
                <a:cs typeface="Calibri" pitchFamily="34" charset="-120"/>
              </a:rPr>
              <a:t>Zone</a:t>
            </a:r>
            <a:endParaRPr lang="en-US" sz="1500" dirty="0"/>
          </a:p>
          <a:p>
            <a:pPr algn="ctr" indent="0" marL="0">
              <a:lnSpc>
                <a:spcPct val="105000"/>
              </a:lnSpc>
              <a:buNone/>
            </a:pPr>
            <a:r>
              <a:rPr lang="en-US" sz="1100" dirty="0">
                <a:solidFill>
                  <a:srgbClr val="EFE6DA"/>
                </a:solidFill>
                <a:latin typeface="Calibri" pitchFamily="34" charset="0"/>
                <a:ea typeface="Calibri" pitchFamily="34" charset="-122"/>
                <a:cs typeface="Calibri" pitchFamily="34" charset="-120"/>
              </a:rPr>
              <a:t>Khu vực vật lý · cố định</a:t>
            </a:r>
            <a:endParaRPr lang="en-US" sz="1500" dirty="0"/>
          </a:p>
        </p:txBody>
      </p:sp>
      <p:sp>
        <p:nvSpPr>
          <p:cNvPr id="21" name="Shape 18"/>
          <p:cNvSpPr/>
          <p:nvPr/>
        </p:nvSpPr>
        <p:spPr>
          <a:xfrm>
            <a:off x="5029200" y="2834640"/>
            <a:ext cx="2194560" cy="1325880"/>
          </a:xfrm>
          <a:prstGeom prst="roundRect">
            <a:avLst>
              <a:gd name="adj" fmla="val 5517"/>
            </a:avLst>
          </a:prstGeom>
          <a:solidFill>
            <a:srgbClr val="8A6732"/>
          </a:solidFill>
          <a:ln w="12700">
            <a:solidFill>
              <a:srgbClr val="8A6732"/>
            </a:solidFill>
            <a:prstDash val="solid"/>
          </a:ln>
          <a:effectLst>
            <a:outerShdw sx="100000" sy="100000" kx="0" ky="0" algn="bl" rotWithShape="0" blurRad="127000" dist="25400" dir="5400000">
              <a:srgbClr val="000000">
                <a:alpha val="8000"/>
              </a:srgbClr>
            </a:outerShdw>
          </a:effectLst>
        </p:spPr>
      </p:sp>
      <p:sp>
        <p:nvSpPr>
          <p:cNvPr id="22" name="Text 19"/>
          <p:cNvSpPr txBox="1"/>
          <p:nvPr/>
        </p:nvSpPr>
        <p:spPr>
          <a:xfrm>
            <a:off x="5138928" y="2834640"/>
            <a:ext cx="1975104" cy="1325880"/>
          </a:xfrm>
          <a:prstGeom prst="rect">
            <a:avLst/>
          </a:prstGeom>
          <a:noFill/>
          <a:ln/>
        </p:spPr>
        <p:txBody>
          <a:bodyPr wrap="square" lIns="0" tIns="0" rIns="0" bIns="0" rtlCol="0" anchor="ctr"/>
          <a:lstStyle/>
          <a:p>
            <a:pPr algn="ctr" indent="0" marL="0">
              <a:lnSpc>
                <a:spcPct val="105000"/>
              </a:lnSpc>
              <a:buNone/>
            </a:pPr>
            <a:r>
              <a:rPr lang="en-US" sz="1500" b="1" dirty="0">
                <a:solidFill>
                  <a:srgbClr val="FFFFFF"/>
                </a:solidFill>
                <a:latin typeface="Calibri" pitchFamily="34" charset="0"/>
                <a:ea typeface="Calibri" pitchFamily="34" charset="-122"/>
                <a:cs typeface="Calibri" pitchFamily="34" charset="-120"/>
              </a:rPr>
              <a:t>Exhibit Assignment</a:t>
            </a:r>
            <a:endParaRPr lang="en-US" sz="1500" dirty="0"/>
          </a:p>
          <a:p>
            <a:pPr algn="ctr" indent="0" marL="0">
              <a:lnSpc>
                <a:spcPct val="105000"/>
              </a:lnSpc>
              <a:buNone/>
            </a:pPr>
            <a:r>
              <a:rPr lang="en-US" sz="1100" dirty="0">
                <a:solidFill>
                  <a:srgbClr val="EFE6DA"/>
                </a:solidFill>
                <a:latin typeface="Calibri" pitchFamily="34" charset="0"/>
                <a:ea typeface="Calibri" pitchFamily="34" charset="-122"/>
                <a:cs typeface="Calibri" pitchFamily="34" charset="-120"/>
              </a:rPr>
              <a:t>Gán theo thời gian [activeFrom, activeTo)</a:t>
            </a:r>
            <a:endParaRPr lang="en-US" sz="1500" dirty="0"/>
          </a:p>
        </p:txBody>
      </p:sp>
      <p:sp>
        <p:nvSpPr>
          <p:cNvPr id="23" name="Shape 20"/>
          <p:cNvSpPr/>
          <p:nvPr/>
        </p:nvSpPr>
        <p:spPr>
          <a:xfrm>
            <a:off x="7635240" y="2834640"/>
            <a:ext cx="1691640" cy="1325880"/>
          </a:xfrm>
          <a:prstGeom prst="roundRect">
            <a:avLst>
              <a:gd name="adj" fmla="val 5517"/>
            </a:avLst>
          </a:prstGeom>
          <a:solidFill>
            <a:srgbClr val="FFFFFF"/>
          </a:solidFill>
          <a:ln w="12700">
            <a:solidFill>
              <a:srgbClr val="E3D9CD"/>
            </a:solidFill>
            <a:prstDash val="solid"/>
          </a:ln>
          <a:effectLst>
            <a:outerShdw sx="100000" sy="100000" kx="0" ky="0" algn="bl" rotWithShape="0" blurRad="127000" dist="25400" dir="5400000">
              <a:srgbClr val="000000">
                <a:alpha val="8000"/>
              </a:srgbClr>
            </a:outerShdw>
          </a:effectLst>
        </p:spPr>
      </p:sp>
      <p:sp>
        <p:nvSpPr>
          <p:cNvPr id="24" name="Text 21"/>
          <p:cNvSpPr txBox="1"/>
          <p:nvPr/>
        </p:nvSpPr>
        <p:spPr>
          <a:xfrm>
            <a:off x="7744968" y="2834640"/>
            <a:ext cx="1472184" cy="1325880"/>
          </a:xfrm>
          <a:prstGeom prst="rect">
            <a:avLst/>
          </a:prstGeom>
          <a:noFill/>
          <a:ln/>
        </p:spPr>
        <p:txBody>
          <a:bodyPr wrap="square" lIns="0" tIns="0" rIns="0" bIns="0" rtlCol="0" anchor="ctr"/>
          <a:lstStyle/>
          <a:p>
            <a:pPr algn="ctr" indent="0" marL="0">
              <a:lnSpc>
                <a:spcPct val="105000"/>
              </a:lnSpc>
              <a:buNone/>
            </a:pPr>
            <a:r>
              <a:rPr lang="en-US" sz="1500" b="1" dirty="0">
                <a:solidFill>
                  <a:srgbClr val="231D1A"/>
                </a:solidFill>
                <a:latin typeface="Calibri" pitchFamily="34" charset="0"/>
                <a:ea typeface="Calibri" pitchFamily="34" charset="-122"/>
                <a:cs typeface="Calibri" pitchFamily="34" charset="-120"/>
              </a:rPr>
              <a:t>Hiện vật</a:t>
            </a:r>
            <a:endParaRPr lang="en-US" sz="1500" dirty="0"/>
          </a:p>
          <a:p>
            <a:pPr algn="ctr" indent="0" marL="0">
              <a:lnSpc>
                <a:spcPct val="105000"/>
              </a:lnSpc>
              <a:buNone/>
            </a:pPr>
            <a:r>
              <a:rPr lang="en-US" sz="1100" dirty="0">
                <a:solidFill>
                  <a:srgbClr val="6B5F58"/>
                </a:solidFill>
                <a:latin typeface="Calibri" pitchFamily="34" charset="0"/>
                <a:ea typeface="Calibri" pitchFamily="34" charset="-122"/>
                <a:cs typeface="Calibri" pitchFamily="34" charset="-120"/>
              </a:rPr>
              <a:t>Chỉ trả về khi PUBLISHED</a:t>
            </a:r>
            <a:endParaRPr lang="en-US" sz="1500" dirty="0"/>
          </a:p>
        </p:txBody>
      </p:sp>
      <p:sp>
        <p:nvSpPr>
          <p:cNvPr id="25" name="Shape 22"/>
          <p:cNvSpPr/>
          <p:nvPr/>
        </p:nvSpPr>
        <p:spPr>
          <a:xfrm>
            <a:off x="9738360" y="2834640"/>
            <a:ext cx="1901952" cy="1325880"/>
          </a:xfrm>
          <a:prstGeom prst="roundRect">
            <a:avLst>
              <a:gd name="adj" fmla="val 5517"/>
            </a:avLst>
          </a:prstGeom>
          <a:solidFill>
            <a:srgbClr val="FFFFFF"/>
          </a:solidFill>
          <a:ln w="12700">
            <a:solidFill>
              <a:srgbClr val="E3D9CD"/>
            </a:solidFill>
            <a:prstDash val="solid"/>
          </a:ln>
          <a:effectLst>
            <a:outerShdw sx="100000" sy="100000" kx="0" ky="0" algn="bl" rotWithShape="0" blurRad="127000" dist="25400" dir="5400000">
              <a:srgbClr val="000000">
                <a:alpha val="8000"/>
              </a:srgbClr>
            </a:outerShdw>
          </a:effectLst>
        </p:spPr>
      </p:sp>
      <p:sp>
        <p:nvSpPr>
          <p:cNvPr id="26" name="Text 23"/>
          <p:cNvSpPr txBox="1"/>
          <p:nvPr/>
        </p:nvSpPr>
        <p:spPr>
          <a:xfrm>
            <a:off x="9848088" y="2834640"/>
            <a:ext cx="1682496" cy="1325880"/>
          </a:xfrm>
          <a:prstGeom prst="rect">
            <a:avLst/>
          </a:prstGeom>
          <a:noFill/>
          <a:ln/>
        </p:spPr>
        <p:txBody>
          <a:bodyPr wrap="square" lIns="0" tIns="0" rIns="0" bIns="0" rtlCol="0" anchor="ctr"/>
          <a:lstStyle/>
          <a:p>
            <a:pPr algn="ctr" indent="0" marL="0">
              <a:lnSpc>
                <a:spcPct val="105000"/>
              </a:lnSpc>
              <a:buNone/>
            </a:pPr>
            <a:r>
              <a:rPr lang="en-US" sz="1500" b="1" dirty="0">
                <a:solidFill>
                  <a:srgbClr val="231D1A"/>
                </a:solidFill>
                <a:latin typeface="Calibri" pitchFamily="34" charset="0"/>
                <a:ea typeface="Calibri" pitchFamily="34" charset="-122"/>
                <a:cs typeface="Calibri" pitchFamily="34" charset="-120"/>
              </a:rPr>
              <a:t>Bản dịch + audio</a:t>
            </a:r>
            <a:endParaRPr lang="en-US" sz="1500" dirty="0"/>
          </a:p>
          <a:p>
            <a:pPr algn="ctr" indent="0" marL="0">
              <a:lnSpc>
                <a:spcPct val="105000"/>
              </a:lnSpc>
              <a:buNone/>
            </a:pPr>
            <a:r>
              <a:rPr lang="en-US" sz="1100" dirty="0">
                <a:solidFill>
                  <a:srgbClr val="6B5F58"/>
                </a:solidFill>
                <a:latin typeface="Calibri" pitchFamily="34" charset="0"/>
                <a:ea typeface="Calibri" pitchFamily="34" charset="-122"/>
                <a:cs typeface="Calibri" pitchFamily="34" charset="-120"/>
              </a:rPr>
              <a:t>Theo ngôn ngữ khách chọn</a:t>
            </a:r>
            <a:endParaRPr lang="en-US" sz="1500" dirty="0"/>
          </a:p>
        </p:txBody>
      </p:sp>
      <p:sp>
        <p:nvSpPr>
          <p:cNvPr id="27" name="Shape 24"/>
          <p:cNvSpPr/>
          <p:nvPr/>
        </p:nvSpPr>
        <p:spPr>
          <a:xfrm>
            <a:off x="2286000" y="3136392"/>
            <a:ext cx="411480" cy="914"/>
          </a:xfrm>
          <a:prstGeom prst="line">
            <a:avLst/>
          </a:prstGeom>
          <a:noFill/>
          <a:ln w="22225">
            <a:solidFill>
              <a:srgbClr val="B08A4F"/>
            </a:solidFill>
            <a:prstDash val="solid"/>
            <a:tailEnd type="triangle"/>
          </a:ln>
        </p:spPr>
      </p:sp>
      <p:sp>
        <p:nvSpPr>
          <p:cNvPr id="28" name="Shape 25"/>
          <p:cNvSpPr/>
          <p:nvPr/>
        </p:nvSpPr>
        <p:spPr>
          <a:xfrm>
            <a:off x="2286000" y="3858768"/>
            <a:ext cx="411480" cy="914"/>
          </a:xfrm>
          <a:prstGeom prst="line">
            <a:avLst/>
          </a:prstGeom>
          <a:noFill/>
          <a:ln w="22225">
            <a:solidFill>
              <a:srgbClr val="B08A4F"/>
            </a:solidFill>
            <a:prstDash val="solid"/>
            <a:tailEnd type="triangle"/>
          </a:ln>
        </p:spPr>
      </p:sp>
      <p:sp>
        <p:nvSpPr>
          <p:cNvPr id="29" name="Shape 26"/>
          <p:cNvSpPr/>
          <p:nvPr/>
        </p:nvSpPr>
        <p:spPr>
          <a:xfrm>
            <a:off x="4617720" y="3497580"/>
            <a:ext cx="411480" cy="914"/>
          </a:xfrm>
          <a:prstGeom prst="line">
            <a:avLst/>
          </a:prstGeom>
          <a:noFill/>
          <a:ln w="22225">
            <a:solidFill>
              <a:srgbClr val="B08A4F"/>
            </a:solidFill>
            <a:prstDash val="solid"/>
            <a:tailEnd type="triangle"/>
          </a:ln>
        </p:spPr>
      </p:sp>
      <p:sp>
        <p:nvSpPr>
          <p:cNvPr id="30" name="Shape 27"/>
          <p:cNvSpPr/>
          <p:nvPr/>
        </p:nvSpPr>
        <p:spPr>
          <a:xfrm>
            <a:off x="7223760" y="3497580"/>
            <a:ext cx="411480" cy="914"/>
          </a:xfrm>
          <a:prstGeom prst="line">
            <a:avLst/>
          </a:prstGeom>
          <a:noFill/>
          <a:ln w="22225">
            <a:solidFill>
              <a:srgbClr val="B08A4F"/>
            </a:solidFill>
            <a:prstDash val="solid"/>
            <a:tailEnd type="triangle"/>
          </a:ln>
        </p:spPr>
      </p:sp>
      <p:sp>
        <p:nvSpPr>
          <p:cNvPr id="31" name="Shape 28"/>
          <p:cNvSpPr/>
          <p:nvPr/>
        </p:nvSpPr>
        <p:spPr>
          <a:xfrm>
            <a:off x="9326880" y="3497580"/>
            <a:ext cx="411480" cy="914"/>
          </a:xfrm>
          <a:prstGeom prst="line">
            <a:avLst/>
          </a:prstGeom>
          <a:noFill/>
          <a:ln w="22225">
            <a:solidFill>
              <a:srgbClr val="B08A4F"/>
            </a:solidFill>
            <a:prstDash val="solid"/>
            <a:tailEnd type="triangle"/>
          </a:ln>
        </p:spPr>
      </p:sp>
      <p:sp>
        <p:nvSpPr>
          <p:cNvPr id="32" name="Shape 29"/>
          <p:cNvSpPr/>
          <p:nvPr/>
        </p:nvSpPr>
        <p:spPr>
          <a:xfrm>
            <a:off x="548640" y="4315968"/>
            <a:ext cx="4069080" cy="384048"/>
          </a:xfrm>
          <a:prstGeom prst="roundRect">
            <a:avLst>
              <a:gd name="adj" fmla="val 50000"/>
            </a:avLst>
          </a:prstGeom>
          <a:solidFill>
            <a:srgbClr val="EFE6DA"/>
          </a:solidFill>
          <a:ln w="12700">
            <a:solidFill>
              <a:srgbClr val="EFE6DA"/>
            </a:solidFill>
            <a:prstDash val="solid"/>
          </a:ln>
        </p:spPr>
      </p:sp>
      <p:sp>
        <p:nvSpPr>
          <p:cNvPr id="33" name="Text 30"/>
          <p:cNvSpPr txBox="1"/>
          <p:nvPr/>
        </p:nvSpPr>
        <p:spPr>
          <a:xfrm>
            <a:off x="548640" y="4315968"/>
            <a:ext cx="4069080" cy="384048"/>
          </a:xfrm>
          <a:prstGeom prst="rect">
            <a:avLst/>
          </a:prstGeom>
          <a:noFill/>
          <a:ln/>
        </p:spPr>
        <p:txBody>
          <a:bodyPr wrap="square" lIns="0" tIns="0" rIns="0" bIns="0" rtlCol="0" anchor="ctr"/>
          <a:lstStyle/>
          <a:p>
            <a:pPr algn="ctr" indent="0" marL="0">
              <a:buNone/>
            </a:pPr>
            <a:r>
              <a:rPr lang="en-US" sz="1150" b="1" spc="100" kern="0" dirty="0">
                <a:solidFill>
                  <a:srgbClr val="5E2420"/>
                </a:solidFill>
                <a:latin typeface="Calibri" pitchFamily="34" charset="0"/>
                <a:ea typeface="Calibri" pitchFamily="34" charset="-122"/>
                <a:cs typeface="Calibri" pitchFamily="34" charset="-120"/>
              </a:rPr>
              <a:t>HẠ TẦNG ĐỨNG YÊN</a:t>
            </a:r>
            <a:pPr algn="ctr" indent="0" marL="0">
              <a:buNone/>
            </a:pPr>
            <a:r>
              <a:rPr lang="en-US" sz="1150" dirty="0">
                <a:solidFill>
                  <a:srgbClr val="231D1A"/>
                </a:solidFill>
                <a:latin typeface="Calibri" pitchFamily="34" charset="0"/>
                <a:ea typeface="Calibri" pitchFamily="34" charset="-122"/>
                <a:cs typeface="Calibri" pitchFamily="34" charset="-120"/>
              </a:rPr>
              <a:t>  ·  beacon &amp; QR không đổi</a:t>
            </a:r>
            <a:endParaRPr lang="en-US" sz="1150" dirty="0"/>
          </a:p>
        </p:txBody>
      </p:sp>
      <p:sp>
        <p:nvSpPr>
          <p:cNvPr id="34" name="Shape 31"/>
          <p:cNvSpPr/>
          <p:nvPr/>
        </p:nvSpPr>
        <p:spPr>
          <a:xfrm>
            <a:off x="5029200" y="4315968"/>
            <a:ext cx="6611112" cy="384048"/>
          </a:xfrm>
          <a:prstGeom prst="roundRect">
            <a:avLst>
              <a:gd name="adj" fmla="val 50000"/>
            </a:avLst>
          </a:prstGeom>
          <a:solidFill>
            <a:srgbClr val="F3E4DF"/>
          </a:solidFill>
          <a:ln w="12700">
            <a:solidFill>
              <a:srgbClr val="F3E4DF"/>
            </a:solidFill>
            <a:prstDash val="solid"/>
          </a:ln>
        </p:spPr>
      </p:sp>
      <p:sp>
        <p:nvSpPr>
          <p:cNvPr id="35" name="Text 32"/>
          <p:cNvSpPr txBox="1"/>
          <p:nvPr/>
        </p:nvSpPr>
        <p:spPr>
          <a:xfrm>
            <a:off x="5029200" y="4315968"/>
            <a:ext cx="6611112" cy="384048"/>
          </a:xfrm>
          <a:prstGeom prst="rect">
            <a:avLst/>
          </a:prstGeom>
          <a:noFill/>
          <a:ln/>
        </p:spPr>
        <p:txBody>
          <a:bodyPr wrap="square" lIns="0" tIns="0" rIns="0" bIns="0" rtlCol="0" anchor="ctr"/>
          <a:lstStyle/>
          <a:p>
            <a:pPr algn="ctr" indent="0" marL="0">
              <a:buNone/>
            </a:pPr>
            <a:r>
              <a:rPr lang="en-US" sz="1150" b="1" spc="100" kern="0" dirty="0">
                <a:solidFill>
                  <a:srgbClr val="5E2420"/>
                </a:solidFill>
                <a:latin typeface="Calibri" pitchFamily="34" charset="0"/>
                <a:ea typeface="Calibri" pitchFamily="34" charset="-122"/>
                <a:cs typeface="Calibri" pitchFamily="34" charset="-120"/>
              </a:rPr>
              <a:t>NỘI DUNG CHUYỂN ĐỘNG</a:t>
            </a:r>
            <a:pPr algn="ctr" indent="0" marL="0">
              <a:buNone/>
            </a:pPr>
            <a:r>
              <a:rPr lang="en-US" sz="1150" dirty="0">
                <a:solidFill>
                  <a:srgbClr val="231D1A"/>
                </a:solidFill>
                <a:latin typeface="Calibri" pitchFamily="34" charset="0"/>
                <a:ea typeface="Calibri" pitchFamily="34" charset="-122"/>
                <a:cs typeface="Calibri" pitchFamily="34" charset="-120"/>
              </a:rPr>
              <a:t>  ·  đổi trưng bày chỉ là đóng một bản gán và tạo bản gán mới</a:t>
            </a:r>
            <a:endParaRPr lang="en-US" sz="1150" dirty="0"/>
          </a:p>
        </p:txBody>
      </p:sp>
      <p:sp>
        <p:nvSpPr>
          <p:cNvPr id="36" name="Shape 33"/>
          <p:cNvSpPr/>
          <p:nvPr/>
        </p:nvSpPr>
        <p:spPr>
          <a:xfrm>
            <a:off x="548640" y="4983480"/>
            <a:ext cx="3544824" cy="1143000"/>
          </a:xfrm>
          <a:prstGeom prst="roundRect">
            <a:avLst>
              <a:gd name="adj" fmla="val 6400"/>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37" name="Image 1" descr="Biểu tượng">    </p:cNvPr>
          <p:cNvPicPr>
            <a:picLocks noChangeAspect="1"/>
          </p:cNvPicPr>
          <p:nvPr/>
        </p:nvPicPr>
        <p:blipFill>
          <a:blip r:embed="rId2"/>
          <a:stretch>
            <a:fillRect/>
          </a:stretch>
        </p:blipFill>
        <p:spPr>
          <a:xfrm>
            <a:off x="777240" y="5230368"/>
            <a:ext cx="329184" cy="329184"/>
          </a:xfrm>
          <a:prstGeom prst="rect">
            <a:avLst/>
          </a:prstGeom>
        </p:spPr>
      </p:pic>
      <p:sp>
        <p:nvSpPr>
          <p:cNvPr id="38" name="Text 34"/>
          <p:cNvSpPr txBox="1"/>
          <p:nvPr/>
        </p:nvSpPr>
        <p:spPr>
          <a:xfrm>
            <a:off x="1261872" y="5166360"/>
            <a:ext cx="2630424" cy="320040"/>
          </a:xfrm>
          <a:prstGeom prst="rect">
            <a:avLst/>
          </a:prstGeom>
          <a:noFill/>
          <a:ln/>
        </p:spPr>
        <p:txBody>
          <a:bodyPr wrap="square" lIns="0" tIns="0" rIns="0" bIns="0" rtlCol="0" anchor="t"/>
          <a:lstStyle/>
          <a:p>
            <a:pPr indent="0" marL="0">
              <a:buNone/>
            </a:pPr>
            <a:r>
              <a:rPr lang="en-US" sz="1350" b="1" dirty="0">
                <a:solidFill>
                  <a:srgbClr val="231D1A"/>
                </a:solidFill>
                <a:latin typeface="Calibri" pitchFamily="34" charset="0"/>
                <a:ea typeface="Calibri" pitchFamily="34" charset="-122"/>
                <a:cs typeface="Calibri" pitchFamily="34" charset="-120"/>
              </a:rPr>
              <a:t>Một quy tắc xác định nội dung</a:t>
            </a:r>
            <a:endParaRPr lang="en-US" sz="1350" dirty="0"/>
          </a:p>
        </p:txBody>
      </p:sp>
      <p:sp>
        <p:nvSpPr>
          <p:cNvPr id="39" name="Text 35"/>
          <p:cNvSpPr txBox="1"/>
          <p:nvPr/>
        </p:nvSpPr>
        <p:spPr>
          <a:xfrm>
            <a:off x="1261872" y="5486400"/>
            <a:ext cx="2630424" cy="59436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BLE, QR và Dashboard cùng gọi ExhibitResolverService — không lặp logic ở từng nơi.</a:t>
            </a:r>
            <a:endParaRPr lang="en-US" sz="1150" dirty="0"/>
          </a:p>
        </p:txBody>
      </p:sp>
      <p:sp>
        <p:nvSpPr>
          <p:cNvPr id="40" name="Shape 36"/>
          <p:cNvSpPr/>
          <p:nvPr/>
        </p:nvSpPr>
        <p:spPr>
          <a:xfrm>
            <a:off x="4322064" y="4983480"/>
            <a:ext cx="3544824" cy="1143000"/>
          </a:xfrm>
          <a:prstGeom prst="roundRect">
            <a:avLst>
              <a:gd name="adj" fmla="val 6400"/>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41" name="Image 2" descr="Biểu tượng">    </p:cNvPr>
          <p:cNvPicPr>
            <a:picLocks noChangeAspect="1"/>
          </p:cNvPicPr>
          <p:nvPr/>
        </p:nvPicPr>
        <p:blipFill>
          <a:blip r:embed="rId3"/>
          <a:stretch>
            <a:fillRect/>
          </a:stretch>
        </p:blipFill>
        <p:spPr>
          <a:xfrm>
            <a:off x="4550664" y="5230368"/>
            <a:ext cx="329184" cy="329184"/>
          </a:xfrm>
          <a:prstGeom prst="rect">
            <a:avLst/>
          </a:prstGeom>
        </p:spPr>
      </p:pic>
      <p:sp>
        <p:nvSpPr>
          <p:cNvPr id="42" name="Text 37"/>
          <p:cNvSpPr txBox="1"/>
          <p:nvPr/>
        </p:nvSpPr>
        <p:spPr>
          <a:xfrm>
            <a:off x="5035296" y="5166360"/>
            <a:ext cx="2630424" cy="320040"/>
          </a:xfrm>
          <a:prstGeom prst="rect">
            <a:avLst/>
          </a:prstGeom>
          <a:noFill/>
          <a:ln/>
        </p:spPr>
        <p:txBody>
          <a:bodyPr wrap="square" lIns="0" tIns="0" rIns="0" bIns="0" rtlCol="0" anchor="t"/>
          <a:lstStyle/>
          <a:p>
            <a:pPr indent="0" marL="0">
              <a:buNone/>
            </a:pPr>
            <a:r>
              <a:rPr lang="en-US" sz="1350" b="1" dirty="0">
                <a:solidFill>
                  <a:srgbClr val="231D1A"/>
                </a:solidFill>
                <a:latin typeface="Calibri" pitchFamily="34" charset="0"/>
                <a:ea typeface="Calibri" pitchFamily="34" charset="-122"/>
                <a:cs typeface="Calibri" pitchFamily="34" charset="-120"/>
              </a:rPr>
              <a:t>Giữ lịch sử trưng bày</a:t>
            </a:r>
            <a:endParaRPr lang="en-US" sz="1350" dirty="0"/>
          </a:p>
        </p:txBody>
      </p:sp>
      <p:sp>
        <p:nvSpPr>
          <p:cNvPr id="43" name="Text 38"/>
          <p:cNvSpPr txBox="1"/>
          <p:nvPr/>
        </p:nvSpPr>
        <p:spPr>
          <a:xfrm>
            <a:off x="5035296" y="5486400"/>
            <a:ext cx="2630424" cy="59436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Đổi hiện vật thì đóng bản gán cũ, không xóa — biết hiện vật nào đã đứng ở đâu, khi nào.</a:t>
            </a:r>
            <a:endParaRPr lang="en-US" sz="1150" dirty="0"/>
          </a:p>
        </p:txBody>
      </p:sp>
      <p:sp>
        <p:nvSpPr>
          <p:cNvPr id="44" name="Shape 39"/>
          <p:cNvSpPr/>
          <p:nvPr/>
        </p:nvSpPr>
        <p:spPr>
          <a:xfrm>
            <a:off x="8095488" y="4983480"/>
            <a:ext cx="3544824" cy="1143000"/>
          </a:xfrm>
          <a:prstGeom prst="roundRect">
            <a:avLst>
              <a:gd name="adj" fmla="val 6400"/>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45" name="Image 3" descr="Biểu tượng">    </p:cNvPr>
          <p:cNvPicPr>
            <a:picLocks noChangeAspect="1"/>
          </p:cNvPicPr>
          <p:nvPr/>
        </p:nvPicPr>
        <p:blipFill>
          <a:blip r:embed="rId4"/>
          <a:stretch>
            <a:fillRect/>
          </a:stretch>
        </p:blipFill>
        <p:spPr>
          <a:xfrm>
            <a:off x="8324088" y="5230368"/>
            <a:ext cx="329184" cy="329184"/>
          </a:xfrm>
          <a:prstGeom prst="rect">
            <a:avLst/>
          </a:prstGeom>
        </p:spPr>
      </p:pic>
      <p:sp>
        <p:nvSpPr>
          <p:cNvPr id="46" name="Text 40"/>
          <p:cNvSpPr txBox="1"/>
          <p:nvPr/>
        </p:nvSpPr>
        <p:spPr>
          <a:xfrm>
            <a:off x="8808720" y="5166360"/>
            <a:ext cx="2630424" cy="320040"/>
          </a:xfrm>
          <a:prstGeom prst="rect">
            <a:avLst/>
          </a:prstGeom>
          <a:noFill/>
          <a:ln/>
        </p:spPr>
        <p:txBody>
          <a:bodyPr wrap="square" lIns="0" tIns="0" rIns="0" bIns="0" rtlCol="0" anchor="t"/>
          <a:lstStyle/>
          <a:p>
            <a:pPr indent="0" marL="0">
              <a:buNone/>
            </a:pPr>
            <a:r>
              <a:rPr lang="en-US" sz="1350" b="1" dirty="0">
                <a:solidFill>
                  <a:srgbClr val="231D1A"/>
                </a:solidFill>
                <a:latin typeface="Calibri" pitchFamily="34" charset="0"/>
                <a:ea typeface="Calibri" pitchFamily="34" charset="-122"/>
                <a:cs typeface="Calibri" pitchFamily="34" charset="-120"/>
              </a:rPr>
              <a:t>Thêm ngôn ngữ = thêm dữ liệu</a:t>
            </a:r>
            <a:endParaRPr lang="en-US" sz="1350" dirty="0"/>
          </a:p>
        </p:txBody>
      </p:sp>
      <p:sp>
        <p:nvSpPr>
          <p:cNvPr id="47" name="Text 41"/>
          <p:cNvSpPr txBox="1"/>
          <p:nvPr/>
        </p:nvSpPr>
        <p:spPr>
          <a:xfrm>
            <a:off x="8808720" y="5486400"/>
            <a:ext cx="2630424" cy="59436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Bản dịch nằm ở bảng riêng; mở rộng ngôn ngữ không cần thay đổi schema.</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03 · KIẾN TRÚC</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Kiến trúc tổng thể của hệ thống</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06 / 20</a:t>
            </a:r>
            <a:endParaRPr lang="en-US" sz="900" dirty="0"/>
          </a:p>
        </p:txBody>
      </p:sp>
      <p:sp>
        <p:nvSpPr>
          <p:cNvPr id="7" name="Text 4"/>
          <p:cNvSpPr txBox="1"/>
          <p:nvPr/>
        </p:nvSpPr>
        <p:spPr>
          <a:xfrm>
            <a:off x="548640" y="1481328"/>
            <a:ext cx="301752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PHÍA NGƯỜI DÙNG</a:t>
            </a:r>
            <a:endParaRPr lang="en-US" sz="1000" dirty="0"/>
          </a:p>
        </p:txBody>
      </p:sp>
      <p:sp>
        <p:nvSpPr>
          <p:cNvPr id="8" name="Text 5"/>
          <p:cNvSpPr txBox="1"/>
          <p:nvPr/>
        </p:nvSpPr>
        <p:spPr>
          <a:xfrm>
            <a:off x="4343400" y="1481328"/>
            <a:ext cx="329184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BACKEND</a:t>
            </a:r>
            <a:endParaRPr lang="en-US" sz="1000" dirty="0"/>
          </a:p>
        </p:txBody>
      </p:sp>
      <p:sp>
        <p:nvSpPr>
          <p:cNvPr id="9" name="Text 6"/>
          <p:cNvSpPr txBox="1"/>
          <p:nvPr/>
        </p:nvSpPr>
        <p:spPr>
          <a:xfrm>
            <a:off x="8412480" y="1481328"/>
            <a:ext cx="320040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DỮ LIỆU &amp; DỊCH VỤ</a:t>
            </a:r>
            <a:endParaRPr lang="en-US" sz="1000" dirty="0"/>
          </a:p>
        </p:txBody>
      </p:sp>
      <p:sp>
        <p:nvSpPr>
          <p:cNvPr id="10" name="Shape 7"/>
          <p:cNvSpPr/>
          <p:nvPr/>
        </p:nvSpPr>
        <p:spPr>
          <a:xfrm>
            <a:off x="548640" y="1783080"/>
            <a:ext cx="3017520" cy="1097280"/>
          </a:xfrm>
          <a:prstGeom prst="roundRect">
            <a:avLst>
              <a:gd name="adj" fmla="val 6667"/>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11" name="Image 1" descr="Biểu tượng">    </p:cNvPr>
          <p:cNvPicPr>
            <a:picLocks noChangeAspect="1"/>
          </p:cNvPicPr>
          <p:nvPr/>
        </p:nvPicPr>
        <p:blipFill>
          <a:blip r:embed="rId2"/>
          <a:stretch>
            <a:fillRect/>
          </a:stretch>
        </p:blipFill>
        <p:spPr>
          <a:xfrm>
            <a:off x="749808" y="1984248"/>
            <a:ext cx="365760" cy="365760"/>
          </a:xfrm>
          <a:prstGeom prst="rect">
            <a:avLst/>
          </a:prstGeom>
        </p:spPr>
      </p:pic>
      <p:sp>
        <p:nvSpPr>
          <p:cNvPr id="12" name="Text 8"/>
          <p:cNvSpPr txBox="1"/>
          <p:nvPr/>
        </p:nvSpPr>
        <p:spPr>
          <a:xfrm>
            <a:off x="1280160" y="1911096"/>
            <a:ext cx="2194560" cy="29260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Visitor Mobile</a:t>
            </a:r>
            <a:endParaRPr lang="en-US" sz="1450" dirty="0"/>
          </a:p>
        </p:txBody>
      </p:sp>
      <p:sp>
        <p:nvSpPr>
          <p:cNvPr id="13" name="Text 9"/>
          <p:cNvSpPr txBox="1"/>
          <p:nvPr/>
        </p:nvSpPr>
        <p:spPr>
          <a:xfrm>
            <a:off x="1280160" y="2194560"/>
            <a:ext cx="2194560" cy="228600"/>
          </a:xfrm>
          <a:prstGeom prst="rect">
            <a:avLst/>
          </a:prstGeom>
          <a:noFill/>
          <a:ln/>
        </p:spPr>
        <p:txBody>
          <a:bodyPr wrap="square" lIns="0" tIns="0" rIns="0" bIns="0" rtlCol="0" anchor="t"/>
          <a:lstStyle/>
          <a:p>
            <a:pPr indent="0" marL="0">
              <a:buNone/>
            </a:pPr>
            <a:r>
              <a:rPr lang="en-US" sz="1050" b="1" dirty="0">
                <a:solidFill>
                  <a:srgbClr val="8A6732"/>
                </a:solidFill>
                <a:latin typeface="Calibri" pitchFamily="34" charset="0"/>
                <a:ea typeface="Calibri" pitchFamily="34" charset="-122"/>
                <a:cs typeface="Calibri" pitchFamily="34" charset="-120"/>
              </a:rPr>
              <a:t>React Native · Expo</a:t>
            </a:r>
            <a:endParaRPr lang="en-US" sz="1050" dirty="0"/>
          </a:p>
        </p:txBody>
      </p:sp>
      <p:sp>
        <p:nvSpPr>
          <p:cNvPr id="14" name="Text 10"/>
          <p:cNvSpPr txBox="1"/>
          <p:nvPr/>
        </p:nvSpPr>
        <p:spPr>
          <a:xfrm>
            <a:off x="1280160" y="2441448"/>
            <a:ext cx="2194560" cy="384048"/>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Quét BLE, xác nhận zone trên máy; QR dự phòng</a:t>
            </a:r>
            <a:endParaRPr lang="en-US" sz="1050" dirty="0"/>
          </a:p>
        </p:txBody>
      </p:sp>
      <p:sp>
        <p:nvSpPr>
          <p:cNvPr id="15" name="Shape 11"/>
          <p:cNvSpPr/>
          <p:nvPr/>
        </p:nvSpPr>
        <p:spPr>
          <a:xfrm>
            <a:off x="3566160" y="2331720"/>
            <a:ext cx="777240" cy="914"/>
          </a:xfrm>
          <a:prstGeom prst="line">
            <a:avLst/>
          </a:prstGeom>
          <a:noFill/>
          <a:ln w="22225">
            <a:solidFill>
              <a:srgbClr val="B08A4F"/>
            </a:solidFill>
            <a:prstDash val="solid"/>
            <a:tailEnd type="triangle"/>
          </a:ln>
        </p:spPr>
      </p:sp>
      <p:sp>
        <p:nvSpPr>
          <p:cNvPr id="16" name="Text 12"/>
          <p:cNvSpPr txBox="1"/>
          <p:nvPr/>
        </p:nvSpPr>
        <p:spPr>
          <a:xfrm>
            <a:off x="3566160" y="2057400"/>
            <a:ext cx="777240" cy="228600"/>
          </a:xfrm>
          <a:prstGeom prst="rect">
            <a:avLst/>
          </a:prstGeom>
          <a:noFill/>
          <a:ln/>
        </p:spPr>
        <p:txBody>
          <a:bodyPr wrap="square" lIns="0" tIns="0" rIns="0" bIns="0" rtlCol="0" anchor="t"/>
          <a:lstStyle/>
          <a:p>
            <a:pPr algn="ctr" indent="0" marL="0">
              <a:buNone/>
            </a:pPr>
            <a:r>
              <a:rPr lang="en-US" sz="850" dirty="0">
                <a:solidFill>
                  <a:srgbClr val="6B5F58"/>
                </a:solidFill>
                <a:latin typeface="Calibri" pitchFamily="34" charset="0"/>
                <a:ea typeface="Calibri" pitchFamily="34" charset="-122"/>
                <a:cs typeface="Calibri" pitchFamily="34" charset="-120"/>
              </a:rPr>
              <a:t>public</a:t>
            </a:r>
            <a:endParaRPr lang="en-US" sz="850" dirty="0"/>
          </a:p>
        </p:txBody>
      </p:sp>
      <p:sp>
        <p:nvSpPr>
          <p:cNvPr id="17" name="Shape 13"/>
          <p:cNvSpPr/>
          <p:nvPr/>
        </p:nvSpPr>
        <p:spPr>
          <a:xfrm>
            <a:off x="548640" y="3063240"/>
            <a:ext cx="3017520" cy="1097280"/>
          </a:xfrm>
          <a:prstGeom prst="roundRect">
            <a:avLst>
              <a:gd name="adj" fmla="val 6667"/>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18" name="Image 2" descr="Biểu tượng">    </p:cNvPr>
          <p:cNvPicPr>
            <a:picLocks noChangeAspect="1"/>
          </p:cNvPicPr>
          <p:nvPr/>
        </p:nvPicPr>
        <p:blipFill>
          <a:blip r:embed="rId3"/>
          <a:stretch>
            <a:fillRect/>
          </a:stretch>
        </p:blipFill>
        <p:spPr>
          <a:xfrm>
            <a:off x="749808" y="3264408"/>
            <a:ext cx="365760" cy="365760"/>
          </a:xfrm>
          <a:prstGeom prst="rect">
            <a:avLst/>
          </a:prstGeom>
        </p:spPr>
      </p:pic>
      <p:sp>
        <p:nvSpPr>
          <p:cNvPr id="19" name="Text 14"/>
          <p:cNvSpPr txBox="1"/>
          <p:nvPr/>
        </p:nvSpPr>
        <p:spPr>
          <a:xfrm>
            <a:off x="1280160" y="3191256"/>
            <a:ext cx="2194560" cy="29260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Visitor Web</a:t>
            </a:r>
            <a:endParaRPr lang="en-US" sz="1450" dirty="0"/>
          </a:p>
        </p:txBody>
      </p:sp>
      <p:sp>
        <p:nvSpPr>
          <p:cNvPr id="20" name="Text 15"/>
          <p:cNvSpPr txBox="1"/>
          <p:nvPr/>
        </p:nvSpPr>
        <p:spPr>
          <a:xfrm>
            <a:off x="1280160" y="3474720"/>
            <a:ext cx="2194560" cy="228600"/>
          </a:xfrm>
          <a:prstGeom prst="rect">
            <a:avLst/>
          </a:prstGeom>
          <a:noFill/>
          <a:ln/>
        </p:spPr>
        <p:txBody>
          <a:bodyPr wrap="square" lIns="0" tIns="0" rIns="0" bIns="0" rtlCol="0" anchor="t"/>
          <a:lstStyle/>
          <a:p>
            <a:pPr indent="0" marL="0">
              <a:buNone/>
            </a:pPr>
            <a:r>
              <a:rPr lang="en-US" sz="1050" b="1" dirty="0">
                <a:solidFill>
                  <a:srgbClr val="8A6732"/>
                </a:solidFill>
                <a:latin typeface="Calibri" pitchFamily="34" charset="0"/>
                <a:ea typeface="Calibri" pitchFamily="34" charset="-122"/>
                <a:cs typeface="Calibri" pitchFamily="34" charset="-120"/>
              </a:rPr>
              <a:t>React · Vite</a:t>
            </a:r>
            <a:endParaRPr lang="en-US" sz="1050" dirty="0"/>
          </a:p>
        </p:txBody>
      </p:sp>
      <p:sp>
        <p:nvSpPr>
          <p:cNvPr id="21" name="Text 16"/>
          <p:cNvSpPr txBox="1"/>
          <p:nvPr/>
        </p:nvSpPr>
        <p:spPr>
          <a:xfrm>
            <a:off x="1280160" y="3721608"/>
            <a:ext cx="2194560" cy="384048"/>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Mở bằng QR, không cần cài đặt</a:t>
            </a:r>
            <a:endParaRPr lang="en-US" sz="1050" dirty="0"/>
          </a:p>
        </p:txBody>
      </p:sp>
      <p:sp>
        <p:nvSpPr>
          <p:cNvPr id="22" name="Shape 17"/>
          <p:cNvSpPr/>
          <p:nvPr/>
        </p:nvSpPr>
        <p:spPr>
          <a:xfrm>
            <a:off x="3566160" y="3611880"/>
            <a:ext cx="777240" cy="914"/>
          </a:xfrm>
          <a:prstGeom prst="line">
            <a:avLst/>
          </a:prstGeom>
          <a:noFill/>
          <a:ln w="22225">
            <a:solidFill>
              <a:srgbClr val="B08A4F"/>
            </a:solidFill>
            <a:prstDash val="solid"/>
            <a:tailEnd type="triangle"/>
          </a:ln>
        </p:spPr>
      </p:sp>
      <p:sp>
        <p:nvSpPr>
          <p:cNvPr id="23" name="Text 18"/>
          <p:cNvSpPr txBox="1"/>
          <p:nvPr/>
        </p:nvSpPr>
        <p:spPr>
          <a:xfrm>
            <a:off x="3566160" y="3337560"/>
            <a:ext cx="777240" cy="228600"/>
          </a:xfrm>
          <a:prstGeom prst="rect">
            <a:avLst/>
          </a:prstGeom>
          <a:noFill/>
          <a:ln/>
        </p:spPr>
        <p:txBody>
          <a:bodyPr wrap="square" lIns="0" tIns="0" rIns="0" bIns="0" rtlCol="0" anchor="t"/>
          <a:lstStyle/>
          <a:p>
            <a:pPr algn="ctr" indent="0" marL="0">
              <a:buNone/>
            </a:pPr>
            <a:r>
              <a:rPr lang="en-US" sz="850" dirty="0">
                <a:solidFill>
                  <a:srgbClr val="6B5F58"/>
                </a:solidFill>
                <a:latin typeface="Calibri" pitchFamily="34" charset="0"/>
                <a:ea typeface="Calibri" pitchFamily="34" charset="-122"/>
                <a:cs typeface="Calibri" pitchFamily="34" charset="-120"/>
              </a:rPr>
              <a:t>public</a:t>
            </a:r>
            <a:endParaRPr lang="en-US" sz="850" dirty="0"/>
          </a:p>
        </p:txBody>
      </p:sp>
      <p:sp>
        <p:nvSpPr>
          <p:cNvPr id="24" name="Shape 19"/>
          <p:cNvSpPr/>
          <p:nvPr/>
        </p:nvSpPr>
        <p:spPr>
          <a:xfrm>
            <a:off x="548640" y="4343400"/>
            <a:ext cx="3017520" cy="1097280"/>
          </a:xfrm>
          <a:prstGeom prst="roundRect">
            <a:avLst>
              <a:gd name="adj" fmla="val 6667"/>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25" name="Image 3" descr="Biểu tượng">    </p:cNvPr>
          <p:cNvPicPr>
            <a:picLocks noChangeAspect="1"/>
          </p:cNvPicPr>
          <p:nvPr/>
        </p:nvPicPr>
        <p:blipFill>
          <a:blip r:embed="rId4"/>
          <a:stretch>
            <a:fillRect/>
          </a:stretch>
        </p:blipFill>
        <p:spPr>
          <a:xfrm>
            <a:off x="749808" y="4544568"/>
            <a:ext cx="365760" cy="365760"/>
          </a:xfrm>
          <a:prstGeom prst="rect">
            <a:avLst/>
          </a:prstGeom>
        </p:spPr>
      </p:pic>
      <p:sp>
        <p:nvSpPr>
          <p:cNvPr id="26" name="Text 20"/>
          <p:cNvSpPr txBox="1"/>
          <p:nvPr/>
        </p:nvSpPr>
        <p:spPr>
          <a:xfrm>
            <a:off x="1280160" y="4471416"/>
            <a:ext cx="2194560" cy="29260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Admin Panel</a:t>
            </a:r>
            <a:endParaRPr lang="en-US" sz="1450" dirty="0"/>
          </a:p>
        </p:txBody>
      </p:sp>
      <p:sp>
        <p:nvSpPr>
          <p:cNvPr id="27" name="Text 21"/>
          <p:cNvSpPr txBox="1"/>
          <p:nvPr/>
        </p:nvSpPr>
        <p:spPr>
          <a:xfrm>
            <a:off x="1280160" y="4754880"/>
            <a:ext cx="2194560" cy="228600"/>
          </a:xfrm>
          <a:prstGeom prst="rect">
            <a:avLst/>
          </a:prstGeom>
          <a:noFill/>
          <a:ln/>
        </p:spPr>
        <p:txBody>
          <a:bodyPr wrap="square" lIns="0" tIns="0" rIns="0" bIns="0" rtlCol="0" anchor="t"/>
          <a:lstStyle/>
          <a:p>
            <a:pPr indent="0" marL="0">
              <a:buNone/>
            </a:pPr>
            <a:r>
              <a:rPr lang="en-US" sz="1050" b="1" dirty="0">
                <a:solidFill>
                  <a:srgbClr val="8A6732"/>
                </a:solidFill>
                <a:latin typeface="Calibri" pitchFamily="34" charset="0"/>
                <a:ea typeface="Calibri" pitchFamily="34" charset="-122"/>
                <a:cs typeface="Calibri" pitchFamily="34" charset="-120"/>
              </a:rPr>
              <a:t>Next.js · Tailwind</a:t>
            </a:r>
            <a:endParaRPr lang="en-US" sz="1050" dirty="0"/>
          </a:p>
        </p:txBody>
      </p:sp>
      <p:sp>
        <p:nvSpPr>
          <p:cNvPr id="28" name="Text 22"/>
          <p:cNvSpPr txBox="1"/>
          <p:nvPr/>
        </p:nvSpPr>
        <p:spPr>
          <a:xfrm>
            <a:off x="1280160" y="5001768"/>
            <a:ext cx="2194560" cy="384048"/>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Nhân viên quản lý hiện vật, zone, beacon</a:t>
            </a:r>
            <a:endParaRPr lang="en-US" sz="1050" dirty="0"/>
          </a:p>
        </p:txBody>
      </p:sp>
      <p:sp>
        <p:nvSpPr>
          <p:cNvPr id="29" name="Shape 23"/>
          <p:cNvSpPr/>
          <p:nvPr/>
        </p:nvSpPr>
        <p:spPr>
          <a:xfrm>
            <a:off x="3566160" y="4892040"/>
            <a:ext cx="777240" cy="914"/>
          </a:xfrm>
          <a:prstGeom prst="line">
            <a:avLst/>
          </a:prstGeom>
          <a:noFill/>
          <a:ln w="22225">
            <a:solidFill>
              <a:srgbClr val="B08A4F"/>
            </a:solidFill>
            <a:prstDash val="solid"/>
            <a:tailEnd type="triangle"/>
          </a:ln>
        </p:spPr>
      </p:sp>
      <p:sp>
        <p:nvSpPr>
          <p:cNvPr id="30" name="Text 24"/>
          <p:cNvSpPr txBox="1"/>
          <p:nvPr/>
        </p:nvSpPr>
        <p:spPr>
          <a:xfrm>
            <a:off x="3566160" y="4617720"/>
            <a:ext cx="777240" cy="228600"/>
          </a:xfrm>
          <a:prstGeom prst="rect">
            <a:avLst/>
          </a:prstGeom>
          <a:noFill/>
          <a:ln/>
        </p:spPr>
        <p:txBody>
          <a:bodyPr wrap="square" lIns="0" tIns="0" rIns="0" bIns="0" rtlCol="0" anchor="t"/>
          <a:lstStyle/>
          <a:p>
            <a:pPr algn="ctr" indent="0" marL="0">
              <a:buNone/>
            </a:pPr>
            <a:r>
              <a:rPr lang="en-US" sz="850" dirty="0">
                <a:solidFill>
                  <a:srgbClr val="6B5F58"/>
                </a:solidFill>
                <a:latin typeface="Calibri" pitchFamily="34" charset="0"/>
                <a:ea typeface="Calibri" pitchFamily="34" charset="-122"/>
                <a:cs typeface="Calibri" pitchFamily="34" charset="-120"/>
              </a:rPr>
              <a:t>admin · JWT</a:t>
            </a:r>
            <a:endParaRPr lang="en-US" sz="850" dirty="0"/>
          </a:p>
        </p:txBody>
      </p:sp>
      <p:sp>
        <p:nvSpPr>
          <p:cNvPr id="31" name="Shape 25"/>
          <p:cNvSpPr/>
          <p:nvPr/>
        </p:nvSpPr>
        <p:spPr>
          <a:xfrm>
            <a:off x="4343400" y="1783080"/>
            <a:ext cx="3291840" cy="3657600"/>
          </a:xfrm>
          <a:prstGeom prst="roundRect">
            <a:avLst>
              <a:gd name="adj" fmla="val 2222"/>
            </a:avLst>
          </a:prstGeom>
          <a:solidFill>
            <a:srgbClr val="5E2420"/>
          </a:solidFill>
          <a:ln w="9525">
            <a:solidFill>
              <a:srgbClr val="5E2420"/>
            </a:solidFill>
            <a:prstDash val="solid"/>
          </a:ln>
          <a:effectLst>
            <a:outerShdw sx="100000" sy="100000" kx="0" ky="0" algn="bl" rotWithShape="0" blurRad="127000" dist="25400" dir="5400000">
              <a:srgbClr val="000000">
                <a:alpha val="8000"/>
              </a:srgbClr>
            </a:outerShdw>
          </a:effectLst>
        </p:spPr>
      </p:sp>
      <p:pic>
        <p:nvPicPr>
          <p:cNvPr id="32" name="Image 4" descr="Biểu tượng">    </p:cNvPr>
          <p:cNvPicPr>
            <a:picLocks noChangeAspect="1"/>
          </p:cNvPicPr>
          <p:nvPr/>
        </p:nvPicPr>
        <p:blipFill>
          <a:blip r:embed="rId5"/>
          <a:stretch>
            <a:fillRect/>
          </a:stretch>
        </p:blipFill>
        <p:spPr>
          <a:xfrm>
            <a:off x="4572000" y="1993392"/>
            <a:ext cx="365760" cy="365760"/>
          </a:xfrm>
          <a:prstGeom prst="rect">
            <a:avLst/>
          </a:prstGeom>
        </p:spPr>
      </p:pic>
      <p:sp>
        <p:nvSpPr>
          <p:cNvPr id="33" name="Text 26"/>
          <p:cNvSpPr txBox="1"/>
          <p:nvPr/>
        </p:nvSpPr>
        <p:spPr>
          <a:xfrm>
            <a:off x="5074920" y="1938528"/>
            <a:ext cx="23774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Backend API</a:t>
            </a:r>
            <a:endParaRPr lang="en-US" sz="1700" dirty="0"/>
          </a:p>
        </p:txBody>
      </p:sp>
      <p:sp>
        <p:nvSpPr>
          <p:cNvPr id="34" name="Text 27"/>
          <p:cNvSpPr txBox="1"/>
          <p:nvPr/>
        </p:nvSpPr>
        <p:spPr>
          <a:xfrm>
            <a:off x="5074920" y="2240280"/>
            <a:ext cx="2468880" cy="228600"/>
          </a:xfrm>
          <a:prstGeom prst="rect">
            <a:avLst/>
          </a:prstGeom>
          <a:noFill/>
          <a:ln/>
        </p:spPr>
        <p:txBody>
          <a:bodyPr wrap="square" lIns="0" tIns="0" rIns="0" bIns="0" rtlCol="0" anchor="t"/>
          <a:lstStyle/>
          <a:p>
            <a:pPr indent="0" marL="0">
              <a:buNone/>
            </a:pPr>
            <a:r>
              <a:rPr lang="en-US" sz="1050" dirty="0">
                <a:solidFill>
                  <a:srgbClr val="EFE6DA"/>
                </a:solidFill>
                <a:latin typeface="Calibri" pitchFamily="34" charset="0"/>
                <a:ea typeface="Calibri" pitchFamily="34" charset="-122"/>
                <a:cs typeface="Calibri" pitchFamily="34" charset="-120"/>
              </a:rPr>
              <a:t>NestJS · TypeScript · Prisma</a:t>
            </a:r>
            <a:endParaRPr lang="en-US" sz="1050" dirty="0"/>
          </a:p>
        </p:txBody>
      </p:sp>
      <p:sp>
        <p:nvSpPr>
          <p:cNvPr id="35" name="Shape 28"/>
          <p:cNvSpPr/>
          <p:nvPr/>
        </p:nvSpPr>
        <p:spPr>
          <a:xfrm>
            <a:off x="4572000" y="2697480"/>
            <a:ext cx="1353312" cy="329184"/>
          </a:xfrm>
          <a:prstGeom prst="roundRect">
            <a:avLst>
              <a:gd name="adj" fmla="val 16667"/>
            </a:avLst>
          </a:prstGeom>
          <a:solidFill>
            <a:srgbClr val="7A3A33"/>
          </a:solidFill>
          <a:ln w="12700">
            <a:solidFill>
              <a:srgbClr val="7A3A33"/>
            </a:solidFill>
            <a:prstDash val="solid"/>
          </a:ln>
        </p:spPr>
      </p:sp>
      <p:sp>
        <p:nvSpPr>
          <p:cNvPr id="36" name="Text 29"/>
          <p:cNvSpPr txBox="1"/>
          <p:nvPr/>
        </p:nvSpPr>
        <p:spPr>
          <a:xfrm>
            <a:off x="4572000" y="2697480"/>
            <a:ext cx="135331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public-guide</a:t>
            </a:r>
            <a:endParaRPr lang="en-US" sz="1000" dirty="0"/>
          </a:p>
        </p:txBody>
      </p:sp>
      <p:sp>
        <p:nvSpPr>
          <p:cNvPr id="37" name="Shape 30"/>
          <p:cNvSpPr/>
          <p:nvPr/>
        </p:nvSpPr>
        <p:spPr>
          <a:xfrm>
            <a:off x="6035040" y="2697480"/>
            <a:ext cx="1353312" cy="329184"/>
          </a:xfrm>
          <a:prstGeom prst="roundRect">
            <a:avLst>
              <a:gd name="adj" fmla="val 16667"/>
            </a:avLst>
          </a:prstGeom>
          <a:solidFill>
            <a:srgbClr val="7A3A33"/>
          </a:solidFill>
          <a:ln w="12700">
            <a:solidFill>
              <a:srgbClr val="7A3A33"/>
            </a:solidFill>
            <a:prstDash val="solid"/>
          </a:ln>
        </p:spPr>
      </p:sp>
      <p:sp>
        <p:nvSpPr>
          <p:cNvPr id="38" name="Text 31"/>
          <p:cNvSpPr txBox="1"/>
          <p:nvPr/>
        </p:nvSpPr>
        <p:spPr>
          <a:xfrm>
            <a:off x="6035040" y="2697480"/>
            <a:ext cx="135331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auth</a:t>
            </a:r>
            <a:endParaRPr lang="en-US" sz="1000" dirty="0"/>
          </a:p>
        </p:txBody>
      </p:sp>
      <p:sp>
        <p:nvSpPr>
          <p:cNvPr id="39" name="Shape 32"/>
          <p:cNvSpPr/>
          <p:nvPr/>
        </p:nvSpPr>
        <p:spPr>
          <a:xfrm>
            <a:off x="4572000" y="3136392"/>
            <a:ext cx="1353312" cy="329184"/>
          </a:xfrm>
          <a:prstGeom prst="roundRect">
            <a:avLst>
              <a:gd name="adj" fmla="val 16667"/>
            </a:avLst>
          </a:prstGeom>
          <a:solidFill>
            <a:srgbClr val="7A3A33"/>
          </a:solidFill>
          <a:ln w="12700">
            <a:solidFill>
              <a:srgbClr val="7A3A33"/>
            </a:solidFill>
            <a:prstDash val="solid"/>
          </a:ln>
        </p:spPr>
      </p:sp>
      <p:sp>
        <p:nvSpPr>
          <p:cNvPr id="40" name="Text 33"/>
          <p:cNvSpPr txBox="1"/>
          <p:nvPr/>
        </p:nvSpPr>
        <p:spPr>
          <a:xfrm>
            <a:off x="4572000" y="3136392"/>
            <a:ext cx="135331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zones</a:t>
            </a:r>
            <a:endParaRPr lang="en-US" sz="1000" dirty="0"/>
          </a:p>
        </p:txBody>
      </p:sp>
      <p:sp>
        <p:nvSpPr>
          <p:cNvPr id="41" name="Shape 34"/>
          <p:cNvSpPr/>
          <p:nvPr/>
        </p:nvSpPr>
        <p:spPr>
          <a:xfrm>
            <a:off x="6035040" y="3136392"/>
            <a:ext cx="1353312" cy="329184"/>
          </a:xfrm>
          <a:prstGeom prst="roundRect">
            <a:avLst>
              <a:gd name="adj" fmla="val 16667"/>
            </a:avLst>
          </a:prstGeom>
          <a:solidFill>
            <a:srgbClr val="7A3A33"/>
          </a:solidFill>
          <a:ln w="12700">
            <a:solidFill>
              <a:srgbClr val="7A3A33"/>
            </a:solidFill>
            <a:prstDash val="solid"/>
          </a:ln>
        </p:spPr>
      </p:sp>
      <p:sp>
        <p:nvSpPr>
          <p:cNvPr id="42" name="Text 35"/>
          <p:cNvSpPr txBox="1"/>
          <p:nvPr/>
        </p:nvSpPr>
        <p:spPr>
          <a:xfrm>
            <a:off x="6035040" y="3136392"/>
            <a:ext cx="135331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beacons</a:t>
            </a:r>
            <a:endParaRPr lang="en-US" sz="1000" dirty="0"/>
          </a:p>
        </p:txBody>
      </p:sp>
      <p:sp>
        <p:nvSpPr>
          <p:cNvPr id="43" name="Shape 36"/>
          <p:cNvSpPr/>
          <p:nvPr/>
        </p:nvSpPr>
        <p:spPr>
          <a:xfrm>
            <a:off x="4572000" y="3575304"/>
            <a:ext cx="1353312" cy="329184"/>
          </a:xfrm>
          <a:prstGeom prst="roundRect">
            <a:avLst>
              <a:gd name="adj" fmla="val 16667"/>
            </a:avLst>
          </a:prstGeom>
          <a:solidFill>
            <a:srgbClr val="7A3A33"/>
          </a:solidFill>
          <a:ln w="12700">
            <a:solidFill>
              <a:srgbClr val="7A3A33"/>
            </a:solidFill>
            <a:prstDash val="solid"/>
          </a:ln>
        </p:spPr>
      </p:sp>
      <p:sp>
        <p:nvSpPr>
          <p:cNvPr id="44" name="Text 37"/>
          <p:cNvSpPr txBox="1"/>
          <p:nvPr/>
        </p:nvSpPr>
        <p:spPr>
          <a:xfrm>
            <a:off x="4572000" y="3575304"/>
            <a:ext cx="135331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exhibits</a:t>
            </a:r>
            <a:endParaRPr lang="en-US" sz="1000" dirty="0"/>
          </a:p>
        </p:txBody>
      </p:sp>
      <p:sp>
        <p:nvSpPr>
          <p:cNvPr id="45" name="Shape 38"/>
          <p:cNvSpPr/>
          <p:nvPr/>
        </p:nvSpPr>
        <p:spPr>
          <a:xfrm>
            <a:off x="6035040" y="3575304"/>
            <a:ext cx="1353312" cy="329184"/>
          </a:xfrm>
          <a:prstGeom prst="roundRect">
            <a:avLst>
              <a:gd name="adj" fmla="val 16667"/>
            </a:avLst>
          </a:prstGeom>
          <a:solidFill>
            <a:srgbClr val="7A3A33"/>
          </a:solidFill>
          <a:ln w="12700">
            <a:solidFill>
              <a:srgbClr val="7A3A33"/>
            </a:solidFill>
            <a:prstDash val="solid"/>
          </a:ln>
        </p:spPr>
      </p:sp>
      <p:sp>
        <p:nvSpPr>
          <p:cNvPr id="46" name="Text 39"/>
          <p:cNvSpPr txBox="1"/>
          <p:nvPr/>
        </p:nvSpPr>
        <p:spPr>
          <a:xfrm>
            <a:off x="6035040" y="3575304"/>
            <a:ext cx="135331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assignments</a:t>
            </a:r>
            <a:endParaRPr lang="en-US" sz="1000" dirty="0"/>
          </a:p>
        </p:txBody>
      </p:sp>
      <p:sp>
        <p:nvSpPr>
          <p:cNvPr id="47" name="Shape 40"/>
          <p:cNvSpPr/>
          <p:nvPr/>
        </p:nvSpPr>
        <p:spPr>
          <a:xfrm>
            <a:off x="4572000" y="4014216"/>
            <a:ext cx="1353312" cy="329184"/>
          </a:xfrm>
          <a:prstGeom prst="roundRect">
            <a:avLst>
              <a:gd name="adj" fmla="val 16667"/>
            </a:avLst>
          </a:prstGeom>
          <a:solidFill>
            <a:srgbClr val="7A3A33"/>
          </a:solidFill>
          <a:ln w="12700">
            <a:solidFill>
              <a:srgbClr val="7A3A33"/>
            </a:solidFill>
            <a:prstDash val="solid"/>
          </a:ln>
        </p:spPr>
      </p:sp>
      <p:sp>
        <p:nvSpPr>
          <p:cNvPr id="48" name="Text 41"/>
          <p:cNvSpPr txBox="1"/>
          <p:nvPr/>
        </p:nvSpPr>
        <p:spPr>
          <a:xfrm>
            <a:off x="4572000" y="4014216"/>
            <a:ext cx="135331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media</a:t>
            </a:r>
            <a:endParaRPr lang="en-US" sz="1000" dirty="0"/>
          </a:p>
        </p:txBody>
      </p:sp>
      <p:sp>
        <p:nvSpPr>
          <p:cNvPr id="49" name="Shape 42"/>
          <p:cNvSpPr/>
          <p:nvPr/>
        </p:nvSpPr>
        <p:spPr>
          <a:xfrm>
            <a:off x="6035040" y="4014216"/>
            <a:ext cx="1353312" cy="329184"/>
          </a:xfrm>
          <a:prstGeom prst="roundRect">
            <a:avLst>
              <a:gd name="adj" fmla="val 16667"/>
            </a:avLst>
          </a:prstGeom>
          <a:solidFill>
            <a:srgbClr val="7A3A33"/>
          </a:solidFill>
          <a:ln w="12700">
            <a:solidFill>
              <a:srgbClr val="7A3A33"/>
            </a:solidFill>
            <a:prstDash val="solid"/>
          </a:ln>
        </p:spPr>
      </p:sp>
      <p:sp>
        <p:nvSpPr>
          <p:cNvPr id="50" name="Text 43"/>
          <p:cNvSpPr txBox="1"/>
          <p:nvPr/>
        </p:nvSpPr>
        <p:spPr>
          <a:xfrm>
            <a:off x="6035040" y="4014216"/>
            <a:ext cx="1353312" cy="329184"/>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dashboard</a:t>
            </a:r>
            <a:endParaRPr lang="en-US" sz="1000" dirty="0"/>
          </a:p>
        </p:txBody>
      </p:sp>
      <p:sp>
        <p:nvSpPr>
          <p:cNvPr id="51" name="Text 44"/>
          <p:cNvSpPr txBox="1"/>
          <p:nvPr/>
        </p:nvSpPr>
        <p:spPr>
          <a:xfrm>
            <a:off x="4572000" y="4480560"/>
            <a:ext cx="2926080" cy="868680"/>
          </a:xfrm>
          <a:prstGeom prst="rect">
            <a:avLst/>
          </a:prstGeom>
          <a:noFill/>
          <a:ln/>
        </p:spPr>
        <p:txBody>
          <a:bodyPr wrap="square" lIns="0" tIns="0" rIns="0" bIns="0" rtlCol="0" anchor="t"/>
          <a:lstStyle/>
          <a:p>
            <a:pPr indent="0" marL="0">
              <a:buNone/>
            </a:pPr>
            <a:r>
              <a:rPr lang="en-US" sz="1050" b="1" dirty="0">
                <a:solidFill>
                  <a:srgbClr val="FFFFFF"/>
                </a:solidFill>
                <a:latin typeface="Courier New" pitchFamily="34" charset="0"/>
                <a:ea typeface="Courier New" pitchFamily="34" charset="-122"/>
                <a:cs typeface="Courier New" pitchFamily="34" charset="-120"/>
              </a:rPr>
              <a:t>/api/public/*</a:t>
            </a:r>
            <a:endParaRPr lang="en-US" sz="1050" dirty="0"/>
          </a:p>
          <a:p>
            <a:pPr indent="0" marL="0">
              <a:buNone/>
            </a:pPr>
            <a:r>
              <a:rPr lang="en-US" sz="1050" dirty="0">
                <a:solidFill>
                  <a:srgbClr val="EFE6DA"/>
                </a:solidFill>
                <a:latin typeface="Calibri" pitchFamily="34" charset="0"/>
                <a:ea typeface="Calibri" pitchFamily="34" charset="-122"/>
                <a:cs typeface="Calibri" pitchFamily="34" charset="-120"/>
              </a:rPr>
              <a:t>khách · không cần đăng nhập</a:t>
            </a:r>
            <a:endParaRPr lang="en-US" sz="1050" dirty="0"/>
          </a:p>
          <a:p>
            <a:pPr indent="0" marL="0">
              <a:buNone/>
            </a:pPr>
            <a:r>
              <a:rPr lang="en-US" sz="1050" b="1" dirty="0">
                <a:solidFill>
                  <a:srgbClr val="FFFFFF"/>
                </a:solidFill>
                <a:latin typeface="Courier New" pitchFamily="34" charset="0"/>
                <a:ea typeface="Courier New" pitchFamily="34" charset="-122"/>
                <a:cs typeface="Courier New" pitchFamily="34" charset="-120"/>
              </a:rPr>
              <a:t>/api/admin/*</a:t>
            </a:r>
            <a:endParaRPr lang="en-US" sz="1050" dirty="0"/>
          </a:p>
          <a:p>
            <a:pPr indent="0" marL="0">
              <a:buNone/>
            </a:pPr>
            <a:r>
              <a:rPr lang="en-US" sz="1050" dirty="0">
                <a:solidFill>
                  <a:srgbClr val="EFE6DA"/>
                </a:solidFill>
                <a:latin typeface="Calibri" pitchFamily="34" charset="0"/>
                <a:ea typeface="Calibri" pitchFamily="34" charset="-122"/>
                <a:cs typeface="Calibri" pitchFamily="34" charset="-120"/>
              </a:rPr>
              <a:t>nhân viên · xác thực JWT</a:t>
            </a:r>
            <a:endParaRPr lang="en-US" sz="1050" dirty="0"/>
          </a:p>
        </p:txBody>
      </p:sp>
      <p:sp>
        <p:nvSpPr>
          <p:cNvPr id="52" name="Shape 45"/>
          <p:cNvSpPr/>
          <p:nvPr/>
        </p:nvSpPr>
        <p:spPr>
          <a:xfrm>
            <a:off x="8412480" y="1783080"/>
            <a:ext cx="3227832" cy="804672"/>
          </a:xfrm>
          <a:prstGeom prst="roundRect">
            <a:avLst>
              <a:gd name="adj" fmla="val 9091"/>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53" name="Image 5" descr="Biểu tượng">    </p:cNvPr>
          <p:cNvPicPr>
            <a:picLocks noChangeAspect="1"/>
          </p:cNvPicPr>
          <p:nvPr/>
        </p:nvPicPr>
        <p:blipFill>
          <a:blip r:embed="rId6"/>
          <a:stretch>
            <a:fillRect/>
          </a:stretch>
        </p:blipFill>
        <p:spPr>
          <a:xfrm>
            <a:off x="8595360" y="2002536"/>
            <a:ext cx="347472" cy="347472"/>
          </a:xfrm>
          <a:prstGeom prst="rect">
            <a:avLst/>
          </a:prstGeom>
        </p:spPr>
      </p:pic>
      <p:sp>
        <p:nvSpPr>
          <p:cNvPr id="54" name="Text 46"/>
          <p:cNvSpPr txBox="1"/>
          <p:nvPr/>
        </p:nvSpPr>
        <p:spPr>
          <a:xfrm>
            <a:off x="9098280" y="1892808"/>
            <a:ext cx="2468880" cy="274320"/>
          </a:xfrm>
          <a:prstGeom prst="rect">
            <a:avLst/>
          </a:prstGeom>
          <a:noFill/>
          <a:ln/>
        </p:spPr>
        <p:txBody>
          <a:bodyPr wrap="square" lIns="0" tIns="0" rIns="0" bIns="0" rtlCol="0" anchor="t"/>
          <a:lstStyle/>
          <a:p>
            <a:pPr indent="0" marL="0">
              <a:buNone/>
            </a:pPr>
            <a:r>
              <a:rPr lang="en-US" sz="1300" b="1" dirty="0">
                <a:solidFill>
                  <a:srgbClr val="231D1A"/>
                </a:solidFill>
                <a:latin typeface="Calibri" pitchFamily="34" charset="0"/>
                <a:ea typeface="Calibri" pitchFamily="34" charset="-122"/>
                <a:cs typeface="Calibri" pitchFamily="34" charset="-120"/>
              </a:rPr>
              <a:t>PostgreSQL + Prisma</a:t>
            </a:r>
            <a:endParaRPr lang="en-US" sz="1300" dirty="0"/>
          </a:p>
        </p:txBody>
      </p:sp>
      <p:sp>
        <p:nvSpPr>
          <p:cNvPr id="55" name="Text 47"/>
          <p:cNvSpPr txBox="1"/>
          <p:nvPr/>
        </p:nvSpPr>
        <p:spPr>
          <a:xfrm>
            <a:off x="9098280" y="2167128"/>
            <a:ext cx="2468880" cy="365760"/>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Zone · Beacon · Exhibit · Translation · Assignment</a:t>
            </a:r>
            <a:endParaRPr lang="en-US" sz="1050" dirty="0"/>
          </a:p>
        </p:txBody>
      </p:sp>
      <p:sp>
        <p:nvSpPr>
          <p:cNvPr id="56" name="Shape 48"/>
          <p:cNvSpPr/>
          <p:nvPr/>
        </p:nvSpPr>
        <p:spPr>
          <a:xfrm>
            <a:off x="7635240" y="2185416"/>
            <a:ext cx="777240" cy="914"/>
          </a:xfrm>
          <a:prstGeom prst="line">
            <a:avLst/>
          </a:prstGeom>
          <a:noFill/>
          <a:ln w="22225">
            <a:solidFill>
              <a:srgbClr val="B08A4F"/>
            </a:solidFill>
            <a:prstDash val="solid"/>
            <a:tailEnd type="triangle"/>
          </a:ln>
        </p:spPr>
      </p:sp>
      <p:sp>
        <p:nvSpPr>
          <p:cNvPr id="57" name="Shape 49"/>
          <p:cNvSpPr/>
          <p:nvPr/>
        </p:nvSpPr>
        <p:spPr>
          <a:xfrm>
            <a:off x="8412480" y="2734056"/>
            <a:ext cx="3227832" cy="804672"/>
          </a:xfrm>
          <a:prstGeom prst="roundRect">
            <a:avLst>
              <a:gd name="adj" fmla="val 9091"/>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58" name="Image 6" descr="Biểu tượng">    </p:cNvPr>
          <p:cNvPicPr>
            <a:picLocks noChangeAspect="1"/>
          </p:cNvPicPr>
          <p:nvPr/>
        </p:nvPicPr>
        <p:blipFill>
          <a:blip r:embed="rId7"/>
          <a:stretch>
            <a:fillRect/>
          </a:stretch>
        </p:blipFill>
        <p:spPr>
          <a:xfrm>
            <a:off x="8595360" y="2953512"/>
            <a:ext cx="347472" cy="347472"/>
          </a:xfrm>
          <a:prstGeom prst="rect">
            <a:avLst/>
          </a:prstGeom>
        </p:spPr>
      </p:pic>
      <p:sp>
        <p:nvSpPr>
          <p:cNvPr id="59" name="Text 50"/>
          <p:cNvSpPr txBox="1"/>
          <p:nvPr/>
        </p:nvSpPr>
        <p:spPr>
          <a:xfrm>
            <a:off x="9098280" y="2843784"/>
            <a:ext cx="2468880" cy="274320"/>
          </a:xfrm>
          <a:prstGeom prst="rect">
            <a:avLst/>
          </a:prstGeom>
          <a:noFill/>
          <a:ln/>
        </p:spPr>
        <p:txBody>
          <a:bodyPr wrap="square" lIns="0" tIns="0" rIns="0" bIns="0" rtlCol="0" anchor="t"/>
          <a:lstStyle/>
          <a:p>
            <a:pPr indent="0" marL="0">
              <a:buNone/>
            </a:pPr>
            <a:r>
              <a:rPr lang="en-US" sz="1300" b="1" dirty="0">
                <a:solidFill>
                  <a:srgbClr val="231D1A"/>
                </a:solidFill>
                <a:latin typeface="Calibri" pitchFamily="34" charset="0"/>
                <a:ea typeface="Calibri" pitchFamily="34" charset="-122"/>
                <a:cs typeface="Calibri" pitchFamily="34" charset="-120"/>
              </a:rPr>
              <a:t>Lưu trữ media</a:t>
            </a:r>
            <a:endParaRPr lang="en-US" sz="1300" dirty="0"/>
          </a:p>
        </p:txBody>
      </p:sp>
      <p:sp>
        <p:nvSpPr>
          <p:cNvPr id="60" name="Text 51"/>
          <p:cNvSpPr txBox="1"/>
          <p:nvPr/>
        </p:nvSpPr>
        <p:spPr>
          <a:xfrm>
            <a:off x="9098280" y="3118104"/>
            <a:ext cx="2468880" cy="365760"/>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Ảnh và audio thuyết minh (thư mục uploads)</a:t>
            </a:r>
            <a:endParaRPr lang="en-US" sz="1050" dirty="0"/>
          </a:p>
        </p:txBody>
      </p:sp>
      <p:sp>
        <p:nvSpPr>
          <p:cNvPr id="61" name="Shape 52"/>
          <p:cNvSpPr/>
          <p:nvPr/>
        </p:nvSpPr>
        <p:spPr>
          <a:xfrm>
            <a:off x="7635240" y="3136392"/>
            <a:ext cx="777240" cy="914"/>
          </a:xfrm>
          <a:prstGeom prst="line">
            <a:avLst/>
          </a:prstGeom>
          <a:noFill/>
          <a:ln w="22225">
            <a:solidFill>
              <a:srgbClr val="B08A4F"/>
            </a:solidFill>
            <a:prstDash val="solid"/>
            <a:tailEnd type="triangle"/>
          </a:ln>
        </p:spPr>
      </p:sp>
      <p:sp>
        <p:nvSpPr>
          <p:cNvPr id="62" name="Shape 53"/>
          <p:cNvSpPr/>
          <p:nvPr/>
        </p:nvSpPr>
        <p:spPr>
          <a:xfrm>
            <a:off x="8412480" y="3685032"/>
            <a:ext cx="3227832" cy="804672"/>
          </a:xfrm>
          <a:prstGeom prst="roundRect">
            <a:avLst>
              <a:gd name="adj" fmla="val 9091"/>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63" name="Image 7" descr="Biểu tượng">    </p:cNvPr>
          <p:cNvPicPr>
            <a:picLocks noChangeAspect="1"/>
          </p:cNvPicPr>
          <p:nvPr/>
        </p:nvPicPr>
        <p:blipFill>
          <a:blip r:embed="rId8"/>
          <a:stretch>
            <a:fillRect/>
          </a:stretch>
        </p:blipFill>
        <p:spPr>
          <a:xfrm>
            <a:off x="8595360" y="3904488"/>
            <a:ext cx="347472" cy="347472"/>
          </a:xfrm>
          <a:prstGeom prst="rect">
            <a:avLst/>
          </a:prstGeom>
        </p:spPr>
      </p:pic>
      <p:sp>
        <p:nvSpPr>
          <p:cNvPr id="64" name="Text 54"/>
          <p:cNvSpPr txBox="1"/>
          <p:nvPr/>
        </p:nvSpPr>
        <p:spPr>
          <a:xfrm>
            <a:off x="9098280" y="3794760"/>
            <a:ext cx="2468880" cy="274320"/>
          </a:xfrm>
          <a:prstGeom prst="rect">
            <a:avLst/>
          </a:prstGeom>
          <a:noFill/>
          <a:ln/>
        </p:spPr>
        <p:txBody>
          <a:bodyPr wrap="square" lIns="0" tIns="0" rIns="0" bIns="0" rtlCol="0" anchor="t"/>
          <a:lstStyle/>
          <a:p>
            <a:pPr indent="0" marL="0">
              <a:buNone/>
            </a:pPr>
            <a:r>
              <a:rPr lang="en-US" sz="1300" b="1" dirty="0">
                <a:solidFill>
                  <a:srgbClr val="231D1A"/>
                </a:solidFill>
                <a:latin typeface="Calibri" pitchFamily="34" charset="0"/>
                <a:ea typeface="Calibri" pitchFamily="34" charset="-122"/>
                <a:cs typeface="Calibri" pitchFamily="34" charset="-120"/>
              </a:rPr>
              <a:t>OpenAI API (tùy chọn)</a:t>
            </a:r>
            <a:endParaRPr lang="en-US" sz="1300" dirty="0"/>
          </a:p>
        </p:txBody>
      </p:sp>
      <p:sp>
        <p:nvSpPr>
          <p:cNvPr id="65" name="Text 55"/>
          <p:cNvSpPr txBox="1"/>
          <p:nvPr/>
        </p:nvSpPr>
        <p:spPr>
          <a:xfrm>
            <a:off x="9098280" y="4069080"/>
            <a:ext cx="2468880" cy="365760"/>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gpt-4o-mini dịch · tts-1 tạo audio</a:t>
            </a:r>
            <a:endParaRPr lang="en-US" sz="1050" dirty="0"/>
          </a:p>
        </p:txBody>
      </p:sp>
      <p:sp>
        <p:nvSpPr>
          <p:cNvPr id="66" name="Shape 56"/>
          <p:cNvSpPr/>
          <p:nvPr/>
        </p:nvSpPr>
        <p:spPr>
          <a:xfrm>
            <a:off x="7635240" y="4087368"/>
            <a:ext cx="777240" cy="914"/>
          </a:xfrm>
          <a:prstGeom prst="line">
            <a:avLst/>
          </a:prstGeom>
          <a:noFill/>
          <a:ln w="22225">
            <a:solidFill>
              <a:srgbClr val="B08A4F"/>
            </a:solidFill>
            <a:prstDash val="solid"/>
            <a:tailEnd type="triangle"/>
          </a:ln>
        </p:spPr>
      </p:sp>
      <p:sp>
        <p:nvSpPr>
          <p:cNvPr id="67" name="Shape 57"/>
          <p:cNvSpPr/>
          <p:nvPr/>
        </p:nvSpPr>
        <p:spPr>
          <a:xfrm>
            <a:off x="8412480" y="4636008"/>
            <a:ext cx="3227832" cy="804672"/>
          </a:xfrm>
          <a:prstGeom prst="roundRect">
            <a:avLst>
              <a:gd name="adj" fmla="val 9091"/>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68" name="Image 8" descr="Biểu tượng">    </p:cNvPr>
          <p:cNvPicPr>
            <a:picLocks noChangeAspect="1"/>
          </p:cNvPicPr>
          <p:nvPr/>
        </p:nvPicPr>
        <p:blipFill>
          <a:blip r:embed="rId9"/>
          <a:stretch>
            <a:fillRect/>
          </a:stretch>
        </p:blipFill>
        <p:spPr>
          <a:xfrm>
            <a:off x="8595360" y="4855464"/>
            <a:ext cx="347472" cy="347472"/>
          </a:xfrm>
          <a:prstGeom prst="rect">
            <a:avLst/>
          </a:prstGeom>
        </p:spPr>
      </p:pic>
      <p:sp>
        <p:nvSpPr>
          <p:cNvPr id="69" name="Text 58"/>
          <p:cNvSpPr txBox="1"/>
          <p:nvPr/>
        </p:nvSpPr>
        <p:spPr>
          <a:xfrm>
            <a:off x="9098280" y="4745736"/>
            <a:ext cx="2468880" cy="274320"/>
          </a:xfrm>
          <a:prstGeom prst="rect">
            <a:avLst/>
          </a:prstGeom>
          <a:noFill/>
          <a:ln/>
        </p:spPr>
        <p:txBody>
          <a:bodyPr wrap="square" lIns="0" tIns="0" rIns="0" bIns="0" rtlCol="0" anchor="t"/>
          <a:lstStyle/>
          <a:p>
            <a:pPr indent="0" marL="0">
              <a:buNone/>
            </a:pPr>
            <a:r>
              <a:rPr lang="en-US" sz="1300" b="1" dirty="0">
                <a:solidFill>
                  <a:srgbClr val="231D1A"/>
                </a:solidFill>
                <a:latin typeface="Calibri" pitchFamily="34" charset="0"/>
                <a:ea typeface="Calibri" pitchFamily="34" charset="-122"/>
                <a:cs typeface="Calibri" pitchFamily="34" charset="-120"/>
              </a:rPr>
              <a:t>beacon-scan (Swift)</a:t>
            </a:r>
            <a:endParaRPr lang="en-US" sz="1300" dirty="0"/>
          </a:p>
        </p:txBody>
      </p:sp>
      <p:sp>
        <p:nvSpPr>
          <p:cNvPr id="70" name="Text 59"/>
          <p:cNvSpPr txBox="1"/>
          <p:nvPr/>
        </p:nvSpPr>
        <p:spPr>
          <a:xfrm>
            <a:off x="9098280" y="5020056"/>
            <a:ext cx="2468880" cy="365760"/>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CoreBluetooth trên macOS, đọc định danh beacon</a:t>
            </a:r>
            <a:endParaRPr lang="en-US" sz="1050" dirty="0"/>
          </a:p>
        </p:txBody>
      </p:sp>
      <p:sp>
        <p:nvSpPr>
          <p:cNvPr id="71" name="Shape 60"/>
          <p:cNvSpPr/>
          <p:nvPr/>
        </p:nvSpPr>
        <p:spPr>
          <a:xfrm>
            <a:off x="7635240" y="5038344"/>
            <a:ext cx="777240" cy="914"/>
          </a:xfrm>
          <a:prstGeom prst="line">
            <a:avLst/>
          </a:prstGeom>
          <a:noFill/>
          <a:ln w="22225">
            <a:solidFill>
              <a:srgbClr val="B08A4F"/>
            </a:solidFill>
            <a:prstDash val="solid"/>
            <a:tailEnd type="triangle"/>
          </a:ln>
        </p:spPr>
      </p:sp>
      <p:sp>
        <p:nvSpPr>
          <p:cNvPr id="72" name="Shape 61"/>
          <p:cNvSpPr/>
          <p:nvPr/>
        </p:nvSpPr>
        <p:spPr>
          <a:xfrm>
            <a:off x="548640" y="5669280"/>
            <a:ext cx="11091672" cy="502920"/>
          </a:xfrm>
          <a:prstGeom prst="roundRect">
            <a:avLst>
              <a:gd name="adj" fmla="val 14545"/>
            </a:avLst>
          </a:prstGeom>
          <a:solidFill>
            <a:srgbClr val="EFE6DA"/>
          </a:solidFill>
          <a:ln w="9525">
            <a:solidFill>
              <a:srgbClr val="EFE6DA"/>
            </a:solidFill>
            <a:prstDash val="solid"/>
          </a:ln>
        </p:spPr>
      </p:sp>
      <p:pic>
        <p:nvPicPr>
          <p:cNvPr id="73" name="Image 9" descr="Biểu tượng">    </p:cNvPr>
          <p:cNvPicPr>
            <a:picLocks noChangeAspect="1"/>
          </p:cNvPicPr>
          <p:nvPr/>
        </p:nvPicPr>
        <p:blipFill>
          <a:blip r:embed="rId10"/>
          <a:stretch>
            <a:fillRect/>
          </a:stretch>
        </p:blipFill>
        <p:spPr>
          <a:xfrm>
            <a:off x="749808" y="5788152"/>
            <a:ext cx="274320" cy="274320"/>
          </a:xfrm>
          <a:prstGeom prst="rect">
            <a:avLst/>
          </a:prstGeom>
        </p:spPr>
      </p:pic>
      <p:sp>
        <p:nvSpPr>
          <p:cNvPr id="74" name="Text 62"/>
          <p:cNvSpPr txBox="1"/>
          <p:nvPr/>
        </p:nvSpPr>
        <p:spPr>
          <a:xfrm>
            <a:off x="1143000" y="5669280"/>
            <a:ext cx="10332720" cy="502920"/>
          </a:xfrm>
          <a:prstGeom prst="rect">
            <a:avLst/>
          </a:prstGeom>
          <a:noFill/>
          <a:ln/>
        </p:spPr>
        <p:txBody>
          <a:bodyPr wrap="square" lIns="0" tIns="0" rIns="0" bIns="0" rtlCol="0" anchor="ctr"/>
          <a:lstStyle/>
          <a:p>
            <a:pPr indent="0" marL="0">
              <a:buNone/>
            </a:pPr>
            <a:r>
              <a:rPr lang="en-US" sz="1200" b="1" dirty="0">
                <a:solidFill>
                  <a:srgbClr val="5E2420"/>
                </a:solidFill>
                <a:latin typeface="Calibri" pitchFamily="34" charset="0"/>
                <a:ea typeface="Calibri" pitchFamily="34" charset="-122"/>
                <a:cs typeface="Calibri" pitchFamily="34" charset="-120"/>
              </a:rPr>
              <a:t>Phần cứng: </a:t>
            </a:r>
            <a:pPr indent="0" marL="0">
              <a:buNone/>
            </a:pPr>
            <a:r>
              <a:rPr lang="en-US" sz="1200" dirty="0">
                <a:solidFill>
                  <a:srgbClr val="231D1A"/>
                </a:solidFill>
                <a:latin typeface="Calibri" pitchFamily="34" charset="0"/>
                <a:ea typeface="Calibri" pitchFamily="34" charset="-122"/>
                <a:cs typeface="Calibri" pitchFamily="34" charset="-120"/>
              </a:rPr>
              <a:t>beacon Minew i3 đặt trong từng khu vực, phát đồng thời Eddystone-UID và iBeacon (dữ liệu mẫu: Tx −8 dBm, chu kỳ 500 ms) — chỉ app mobile lắng nghe.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03 · DỮ LIỆU &amp; QUY TẮC</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Mô hình dữ liệu và các quy tắc nghiệp vụ</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07 / 20</a:t>
            </a:r>
            <a:endParaRPr lang="en-US" sz="900" dirty="0"/>
          </a:p>
        </p:txBody>
      </p:sp>
      <p:sp>
        <p:nvSpPr>
          <p:cNvPr id="7" name="Shape 4"/>
          <p:cNvSpPr/>
          <p:nvPr/>
        </p:nvSpPr>
        <p:spPr>
          <a:xfrm>
            <a:off x="548640" y="1600200"/>
            <a:ext cx="1920240" cy="1737360"/>
          </a:xfrm>
          <a:prstGeom prst="roundRect">
            <a:avLst>
              <a:gd name="adj" fmla="val 4211"/>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8" name="Shape 5"/>
          <p:cNvSpPr/>
          <p:nvPr/>
        </p:nvSpPr>
        <p:spPr>
          <a:xfrm>
            <a:off x="658368" y="1709928"/>
            <a:ext cx="1700784" cy="384048"/>
          </a:xfrm>
          <a:prstGeom prst="roundRect">
            <a:avLst>
              <a:gd name="adj" fmla="val 14286"/>
            </a:avLst>
          </a:prstGeom>
          <a:solidFill>
            <a:srgbClr val="5E2420"/>
          </a:solidFill>
          <a:ln w="12700">
            <a:solidFill>
              <a:srgbClr val="5E2420"/>
            </a:solidFill>
            <a:prstDash val="solid"/>
          </a:ln>
        </p:spPr>
      </p:sp>
      <p:sp>
        <p:nvSpPr>
          <p:cNvPr id="9" name="Text 6"/>
          <p:cNvSpPr txBox="1"/>
          <p:nvPr/>
        </p:nvSpPr>
        <p:spPr>
          <a:xfrm>
            <a:off x="658368" y="1709928"/>
            <a:ext cx="17007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Zone</a:t>
            </a:r>
            <a:endParaRPr lang="en-US" sz="1300" dirty="0"/>
          </a:p>
        </p:txBody>
      </p:sp>
      <p:sp>
        <p:nvSpPr>
          <p:cNvPr id="10" name="Text 7"/>
          <p:cNvSpPr txBox="1"/>
          <p:nvPr/>
        </p:nvSpPr>
        <p:spPr>
          <a:xfrm>
            <a:off x="749808" y="2203704"/>
            <a:ext cx="1554480" cy="1042416"/>
          </a:xfrm>
          <a:prstGeom prst="rect">
            <a:avLst/>
          </a:prstGeom>
          <a:noFill/>
          <a:ln/>
        </p:spPr>
        <p:txBody>
          <a:bodyPr wrap="square" lIns="0" tIns="0" rIns="0" bIns="0" rtlCol="0" anchor="t"/>
          <a:lstStyle/>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code  ZONE_A01</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name, floor</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qrCode</a:t>
            </a:r>
            <a:endParaRPr lang="en-US" sz="1000" dirty="0"/>
          </a:p>
        </p:txBody>
      </p:sp>
      <p:sp>
        <p:nvSpPr>
          <p:cNvPr id="11" name="Shape 8"/>
          <p:cNvSpPr/>
          <p:nvPr/>
        </p:nvSpPr>
        <p:spPr>
          <a:xfrm>
            <a:off x="2834640" y="1600200"/>
            <a:ext cx="1920240" cy="1737360"/>
          </a:xfrm>
          <a:prstGeom prst="roundRect">
            <a:avLst>
              <a:gd name="adj" fmla="val 4211"/>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12" name="Shape 9"/>
          <p:cNvSpPr/>
          <p:nvPr/>
        </p:nvSpPr>
        <p:spPr>
          <a:xfrm>
            <a:off x="2944368" y="1709928"/>
            <a:ext cx="1700784" cy="384048"/>
          </a:xfrm>
          <a:prstGeom prst="roundRect">
            <a:avLst>
              <a:gd name="adj" fmla="val 14286"/>
            </a:avLst>
          </a:prstGeom>
          <a:solidFill>
            <a:srgbClr val="5E2420"/>
          </a:solidFill>
          <a:ln w="12700">
            <a:solidFill>
              <a:srgbClr val="5E2420"/>
            </a:solidFill>
            <a:prstDash val="solid"/>
          </a:ln>
        </p:spPr>
      </p:sp>
      <p:sp>
        <p:nvSpPr>
          <p:cNvPr id="13" name="Text 10"/>
          <p:cNvSpPr txBox="1"/>
          <p:nvPr/>
        </p:nvSpPr>
        <p:spPr>
          <a:xfrm>
            <a:off x="2944368" y="1709928"/>
            <a:ext cx="17007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ExhibitAssignment</a:t>
            </a:r>
            <a:endParaRPr lang="en-US" sz="1300" dirty="0"/>
          </a:p>
        </p:txBody>
      </p:sp>
      <p:sp>
        <p:nvSpPr>
          <p:cNvPr id="14" name="Text 11"/>
          <p:cNvSpPr txBox="1"/>
          <p:nvPr/>
        </p:nvSpPr>
        <p:spPr>
          <a:xfrm>
            <a:off x="3035808" y="2203704"/>
            <a:ext cx="1554480" cy="1042416"/>
          </a:xfrm>
          <a:prstGeom prst="rect">
            <a:avLst/>
          </a:prstGeom>
          <a:noFill/>
          <a:ln/>
        </p:spPr>
        <p:txBody>
          <a:bodyPr wrap="square" lIns="0" tIns="0" rIns="0" bIns="0" rtlCol="0" anchor="t"/>
          <a:lstStyle/>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zoneId, exhibitId</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activeFrom</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activeTo (null=mở)</a:t>
            </a:r>
            <a:endParaRPr lang="en-US" sz="1000" dirty="0"/>
          </a:p>
        </p:txBody>
      </p:sp>
      <p:sp>
        <p:nvSpPr>
          <p:cNvPr id="15" name="Shape 12"/>
          <p:cNvSpPr/>
          <p:nvPr/>
        </p:nvSpPr>
        <p:spPr>
          <a:xfrm>
            <a:off x="5120640" y="1600200"/>
            <a:ext cx="1920240" cy="1737360"/>
          </a:xfrm>
          <a:prstGeom prst="roundRect">
            <a:avLst>
              <a:gd name="adj" fmla="val 4211"/>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16" name="Shape 13"/>
          <p:cNvSpPr/>
          <p:nvPr/>
        </p:nvSpPr>
        <p:spPr>
          <a:xfrm>
            <a:off x="5230368" y="1709928"/>
            <a:ext cx="1700784" cy="384048"/>
          </a:xfrm>
          <a:prstGeom prst="roundRect">
            <a:avLst>
              <a:gd name="adj" fmla="val 14286"/>
            </a:avLst>
          </a:prstGeom>
          <a:solidFill>
            <a:srgbClr val="5E2420"/>
          </a:solidFill>
          <a:ln w="12700">
            <a:solidFill>
              <a:srgbClr val="5E2420"/>
            </a:solidFill>
            <a:prstDash val="solid"/>
          </a:ln>
        </p:spPr>
      </p:sp>
      <p:sp>
        <p:nvSpPr>
          <p:cNvPr id="17" name="Text 14"/>
          <p:cNvSpPr txBox="1"/>
          <p:nvPr/>
        </p:nvSpPr>
        <p:spPr>
          <a:xfrm>
            <a:off x="5230368" y="1709928"/>
            <a:ext cx="17007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Exhibit</a:t>
            </a:r>
            <a:endParaRPr lang="en-US" sz="1300" dirty="0"/>
          </a:p>
        </p:txBody>
      </p:sp>
      <p:sp>
        <p:nvSpPr>
          <p:cNvPr id="18" name="Text 15"/>
          <p:cNvSpPr txBox="1"/>
          <p:nvPr/>
        </p:nvSpPr>
        <p:spPr>
          <a:xfrm>
            <a:off x="5321808" y="2203704"/>
            <a:ext cx="1554480" cy="1042416"/>
          </a:xfrm>
          <a:prstGeom prst="rect">
            <a:avLst/>
          </a:prstGeom>
          <a:noFill/>
          <a:ln/>
        </p:spPr>
        <p:txBody>
          <a:bodyPr wrap="square" lIns="0" tIns="0" rIns="0" bIns="0" rtlCol="0" anchor="t"/>
          <a:lstStyle/>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code</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status</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media[]</a:t>
            </a:r>
            <a:endParaRPr lang="en-US" sz="1000" dirty="0"/>
          </a:p>
        </p:txBody>
      </p:sp>
      <p:sp>
        <p:nvSpPr>
          <p:cNvPr id="19" name="Shape 16"/>
          <p:cNvSpPr/>
          <p:nvPr/>
        </p:nvSpPr>
        <p:spPr>
          <a:xfrm>
            <a:off x="548640" y="3931920"/>
            <a:ext cx="1920240" cy="2148840"/>
          </a:xfrm>
          <a:prstGeom prst="roundRect">
            <a:avLst>
              <a:gd name="adj" fmla="val 3810"/>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20" name="Shape 17"/>
          <p:cNvSpPr/>
          <p:nvPr/>
        </p:nvSpPr>
        <p:spPr>
          <a:xfrm>
            <a:off x="658368" y="4041648"/>
            <a:ext cx="1700784" cy="384048"/>
          </a:xfrm>
          <a:prstGeom prst="roundRect">
            <a:avLst>
              <a:gd name="adj" fmla="val 14286"/>
            </a:avLst>
          </a:prstGeom>
          <a:solidFill>
            <a:srgbClr val="EFE6DA"/>
          </a:solidFill>
          <a:ln w="12700">
            <a:solidFill>
              <a:srgbClr val="EFE6DA"/>
            </a:solidFill>
            <a:prstDash val="solid"/>
          </a:ln>
        </p:spPr>
      </p:sp>
      <p:sp>
        <p:nvSpPr>
          <p:cNvPr id="21" name="Text 18"/>
          <p:cNvSpPr txBox="1"/>
          <p:nvPr/>
        </p:nvSpPr>
        <p:spPr>
          <a:xfrm>
            <a:off x="658368" y="4041648"/>
            <a:ext cx="1700784" cy="384048"/>
          </a:xfrm>
          <a:prstGeom prst="rect">
            <a:avLst/>
          </a:prstGeom>
          <a:noFill/>
          <a:ln/>
        </p:spPr>
        <p:txBody>
          <a:bodyPr wrap="square" lIns="0" tIns="0" rIns="0" bIns="0" rtlCol="0" anchor="ctr"/>
          <a:lstStyle/>
          <a:p>
            <a:pPr algn="ctr" indent="0" marL="0">
              <a:buNone/>
            </a:pPr>
            <a:r>
              <a:rPr lang="en-US" sz="1300" b="1" dirty="0">
                <a:solidFill>
                  <a:srgbClr val="5E2420"/>
                </a:solidFill>
                <a:latin typeface="Calibri" pitchFamily="34" charset="0"/>
                <a:ea typeface="Calibri" pitchFamily="34" charset="-122"/>
                <a:cs typeface="Calibri" pitchFamily="34" charset="-120"/>
              </a:rPr>
              <a:t>Beacon</a:t>
            </a:r>
            <a:endParaRPr lang="en-US" sz="1300" dirty="0"/>
          </a:p>
        </p:txBody>
      </p:sp>
      <p:sp>
        <p:nvSpPr>
          <p:cNvPr id="22" name="Text 19"/>
          <p:cNvSpPr txBox="1"/>
          <p:nvPr/>
        </p:nvSpPr>
        <p:spPr>
          <a:xfrm>
            <a:off x="749808" y="4535424"/>
            <a:ext cx="1554480" cy="1453896"/>
          </a:xfrm>
          <a:prstGeom prst="rect">
            <a:avLst/>
          </a:prstGeom>
          <a:noFill/>
          <a:ln/>
        </p:spPr>
        <p:txBody>
          <a:bodyPr wrap="square" lIns="0" tIns="0" rIns="0" bIns="0" rtlCol="0" anchor="t"/>
          <a:lstStyle/>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identifier</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protocol</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namespace+instance</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uuid+major+minor</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minRssi, enabled</a:t>
            </a:r>
            <a:endParaRPr lang="en-US" sz="1000" dirty="0"/>
          </a:p>
        </p:txBody>
      </p:sp>
      <p:sp>
        <p:nvSpPr>
          <p:cNvPr id="23" name="Shape 20"/>
          <p:cNvSpPr/>
          <p:nvPr/>
        </p:nvSpPr>
        <p:spPr>
          <a:xfrm>
            <a:off x="5120640" y="3931920"/>
            <a:ext cx="1920240" cy="2148840"/>
          </a:xfrm>
          <a:prstGeom prst="roundRect">
            <a:avLst>
              <a:gd name="adj" fmla="val 3810"/>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24" name="Shape 21"/>
          <p:cNvSpPr/>
          <p:nvPr/>
        </p:nvSpPr>
        <p:spPr>
          <a:xfrm>
            <a:off x="5230368" y="4041648"/>
            <a:ext cx="1700784" cy="384048"/>
          </a:xfrm>
          <a:prstGeom prst="roundRect">
            <a:avLst>
              <a:gd name="adj" fmla="val 14286"/>
            </a:avLst>
          </a:prstGeom>
          <a:solidFill>
            <a:srgbClr val="EFE6DA"/>
          </a:solidFill>
          <a:ln w="12700">
            <a:solidFill>
              <a:srgbClr val="EFE6DA"/>
            </a:solidFill>
            <a:prstDash val="solid"/>
          </a:ln>
        </p:spPr>
      </p:sp>
      <p:sp>
        <p:nvSpPr>
          <p:cNvPr id="25" name="Text 22"/>
          <p:cNvSpPr txBox="1"/>
          <p:nvPr/>
        </p:nvSpPr>
        <p:spPr>
          <a:xfrm>
            <a:off x="5230368" y="4041648"/>
            <a:ext cx="1700784" cy="384048"/>
          </a:xfrm>
          <a:prstGeom prst="rect">
            <a:avLst/>
          </a:prstGeom>
          <a:noFill/>
          <a:ln/>
        </p:spPr>
        <p:txBody>
          <a:bodyPr wrap="square" lIns="0" tIns="0" rIns="0" bIns="0" rtlCol="0" anchor="ctr"/>
          <a:lstStyle/>
          <a:p>
            <a:pPr algn="ctr" indent="0" marL="0">
              <a:buNone/>
            </a:pPr>
            <a:r>
              <a:rPr lang="en-US" sz="1300" b="1" dirty="0">
                <a:solidFill>
                  <a:srgbClr val="5E2420"/>
                </a:solidFill>
                <a:latin typeface="Calibri" pitchFamily="34" charset="0"/>
                <a:ea typeface="Calibri" pitchFamily="34" charset="-122"/>
                <a:cs typeface="Calibri" pitchFamily="34" charset="-120"/>
              </a:rPr>
              <a:t>ExhibitTranslation</a:t>
            </a:r>
            <a:endParaRPr lang="en-US" sz="1300" dirty="0"/>
          </a:p>
        </p:txBody>
      </p:sp>
      <p:sp>
        <p:nvSpPr>
          <p:cNvPr id="26" name="Text 23"/>
          <p:cNvSpPr txBox="1"/>
          <p:nvPr/>
        </p:nvSpPr>
        <p:spPr>
          <a:xfrm>
            <a:off x="5321808" y="4535424"/>
            <a:ext cx="1554480" cy="1453896"/>
          </a:xfrm>
          <a:prstGeom prst="rect">
            <a:avLst/>
          </a:prstGeom>
          <a:noFill/>
          <a:ln/>
        </p:spPr>
        <p:txBody>
          <a:bodyPr wrap="square" lIns="0" tIns="0" rIns="0" bIns="0" rtlCol="0" anchor="t"/>
          <a:lstStyle/>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languageCode</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title</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shortDescription</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description</a:t>
            </a:r>
            <a:endParaRPr lang="en-US" sz="1000" dirty="0"/>
          </a:p>
          <a:p>
            <a:pPr indent="0" marL="0">
              <a:lnSpc>
                <a:spcPct val="115000"/>
              </a:lnSpc>
              <a:buNone/>
            </a:pPr>
            <a:r>
              <a:rPr lang="en-US" sz="1000" dirty="0">
                <a:solidFill>
                  <a:srgbClr val="231D1A"/>
                </a:solidFill>
                <a:latin typeface="Courier New" pitchFamily="34" charset="0"/>
                <a:ea typeface="Courier New" pitchFamily="34" charset="-122"/>
                <a:cs typeface="Courier New" pitchFamily="34" charset="-120"/>
              </a:rPr>
              <a:t>audioUrl</a:t>
            </a:r>
            <a:endParaRPr lang="en-US" sz="1000" dirty="0"/>
          </a:p>
        </p:txBody>
      </p:sp>
      <p:sp>
        <p:nvSpPr>
          <p:cNvPr id="27" name="Shape 24"/>
          <p:cNvSpPr/>
          <p:nvPr/>
        </p:nvSpPr>
        <p:spPr>
          <a:xfrm>
            <a:off x="2834640" y="3931920"/>
            <a:ext cx="1920240" cy="2148840"/>
          </a:xfrm>
          <a:prstGeom prst="roundRect">
            <a:avLst>
              <a:gd name="adj" fmla="val 3810"/>
            </a:avLst>
          </a:prstGeom>
          <a:solidFill>
            <a:srgbClr val="F6F0E8"/>
          </a:solidFill>
          <a:ln w="9525">
            <a:solidFill>
              <a:srgbClr val="F6F0E8"/>
            </a:solidFill>
            <a:prstDash val="solid"/>
          </a:ln>
        </p:spPr>
      </p:sp>
      <p:sp>
        <p:nvSpPr>
          <p:cNvPr id="28" name="Text 25"/>
          <p:cNvSpPr txBox="1"/>
          <p:nvPr/>
        </p:nvSpPr>
        <p:spPr>
          <a:xfrm>
            <a:off x="3017520" y="4114800"/>
            <a:ext cx="1645920" cy="1874520"/>
          </a:xfrm>
          <a:prstGeom prst="rect">
            <a:avLst/>
          </a:prstGeom>
          <a:noFill/>
          <a:ln/>
        </p:spPr>
        <p:txBody>
          <a:bodyPr wrap="square" lIns="0" tIns="0" rIns="0" bIns="0" rtlCol="0" anchor="t"/>
          <a:lstStyle/>
          <a:p>
            <a:pPr indent="0" marL="0">
              <a:buNone/>
            </a:pPr>
            <a:r>
              <a:rPr lang="en-US" sz="1150" b="1" dirty="0">
                <a:solidFill>
                  <a:srgbClr val="5E2420"/>
                </a:solidFill>
                <a:latin typeface="Calibri" pitchFamily="34" charset="0"/>
                <a:ea typeface="Calibri" pitchFamily="34" charset="-122"/>
                <a:cs typeface="Calibri" pitchFamily="34" charset="-120"/>
              </a:rPr>
              <a:t>ExhibitStatus</a:t>
            </a:r>
            <a:endParaRPr lang="en-US" sz="1150" dirty="0"/>
          </a:p>
          <a:p>
            <a:pPr indent="0" marL="0">
              <a:buNone/>
            </a:pPr>
            <a:r>
              <a:rPr lang="en-US" sz="950" dirty="0">
                <a:solidFill>
                  <a:srgbClr val="231D1A"/>
                </a:solidFill>
                <a:latin typeface="Courier New" pitchFamily="34" charset="0"/>
                <a:ea typeface="Courier New" pitchFamily="34" charset="-122"/>
                <a:cs typeface="Courier New" pitchFamily="34" charset="-120"/>
              </a:rPr>
              <a:t>DRAFT</a:t>
            </a:r>
            <a:endParaRPr lang="en-US" sz="1150" dirty="0"/>
          </a:p>
          <a:p>
            <a:pPr indent="0" marL="0">
              <a:buNone/>
            </a:pPr>
            <a:r>
              <a:rPr lang="en-US" sz="950" dirty="0">
                <a:solidFill>
                  <a:srgbClr val="231D1A"/>
                </a:solidFill>
                <a:latin typeface="Courier New" pitchFamily="34" charset="0"/>
                <a:ea typeface="Courier New" pitchFamily="34" charset="-122"/>
                <a:cs typeface="Courier New" pitchFamily="34" charset="-120"/>
              </a:rPr>
              <a:t>PUBLISHED</a:t>
            </a:r>
            <a:endParaRPr lang="en-US" sz="1150" dirty="0"/>
          </a:p>
          <a:p>
            <a:pPr indent="0" marL="0">
              <a:buNone/>
            </a:pPr>
            <a:r>
              <a:rPr lang="en-US" sz="950" dirty="0">
                <a:solidFill>
                  <a:srgbClr val="231D1A"/>
                </a:solidFill>
                <a:latin typeface="Courier New" pitchFamily="34" charset="0"/>
                <a:ea typeface="Courier New" pitchFamily="34" charset="-122"/>
                <a:cs typeface="Courier New" pitchFamily="34" charset="-120"/>
              </a:rPr>
              <a:t>ARCHIVED</a:t>
            </a:r>
            <a:endParaRPr lang="en-US" sz="1150" dirty="0"/>
          </a:p>
          <a:p>
            <a:pPr indent="0" marL="0">
              <a:buNone/>
            </a:pPr>
            <a:r>
              <a:rPr lang="en-US" sz="600" dirty="0">
                <a:solidFill>
                  <a:srgbClr val="231D1A"/>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5E2420"/>
                </a:solidFill>
                <a:latin typeface="Calibri" pitchFamily="34" charset="0"/>
                <a:ea typeface="Calibri" pitchFamily="34" charset="-122"/>
                <a:cs typeface="Calibri" pitchFamily="34" charset="-120"/>
              </a:rPr>
              <a:t>BeaconProtocol</a:t>
            </a:r>
            <a:endParaRPr lang="en-US" sz="1150" dirty="0"/>
          </a:p>
          <a:p>
            <a:pPr indent="0" marL="0">
              <a:buNone/>
            </a:pPr>
            <a:r>
              <a:rPr lang="en-US" sz="950" dirty="0">
                <a:solidFill>
                  <a:srgbClr val="231D1A"/>
                </a:solidFill>
                <a:latin typeface="Courier New" pitchFamily="34" charset="0"/>
                <a:ea typeface="Courier New" pitchFamily="34" charset="-122"/>
                <a:cs typeface="Courier New" pitchFamily="34" charset="-120"/>
              </a:rPr>
              <a:t>EDDYSTONE_UID</a:t>
            </a:r>
            <a:endParaRPr lang="en-US" sz="1150" dirty="0"/>
          </a:p>
          <a:p>
            <a:pPr indent="0" marL="0">
              <a:buNone/>
            </a:pPr>
            <a:r>
              <a:rPr lang="en-US" sz="950" dirty="0">
                <a:solidFill>
                  <a:srgbClr val="231D1A"/>
                </a:solidFill>
                <a:latin typeface="Courier New" pitchFamily="34" charset="0"/>
                <a:ea typeface="Courier New" pitchFamily="34" charset="-122"/>
                <a:cs typeface="Courier New" pitchFamily="34" charset="-120"/>
              </a:rPr>
              <a:t>IBEACON</a:t>
            </a:r>
            <a:endParaRPr lang="en-US" sz="1150" dirty="0"/>
          </a:p>
          <a:p>
            <a:pPr indent="0" marL="0">
              <a:buNone/>
            </a:pPr>
            <a:r>
              <a:rPr lang="en-US" sz="950" dirty="0">
                <a:solidFill>
                  <a:srgbClr val="231D1A"/>
                </a:solidFill>
                <a:latin typeface="Courier New" pitchFamily="34" charset="0"/>
                <a:ea typeface="Courier New" pitchFamily="34" charset="-122"/>
                <a:cs typeface="Courier New" pitchFamily="34" charset="-120"/>
              </a:rPr>
              <a:t>GENERIC</a:t>
            </a:r>
            <a:endParaRPr lang="en-US" sz="1150" dirty="0"/>
          </a:p>
        </p:txBody>
      </p:sp>
      <p:sp>
        <p:nvSpPr>
          <p:cNvPr id="29" name="Shape 26"/>
          <p:cNvSpPr/>
          <p:nvPr/>
        </p:nvSpPr>
        <p:spPr>
          <a:xfrm>
            <a:off x="2468880" y="2468880"/>
            <a:ext cx="365760" cy="914"/>
          </a:xfrm>
          <a:prstGeom prst="line">
            <a:avLst/>
          </a:prstGeom>
          <a:noFill/>
          <a:ln w="19050">
            <a:solidFill>
              <a:srgbClr val="B08A4F"/>
            </a:solidFill>
            <a:prstDash val="solid"/>
          </a:ln>
        </p:spPr>
      </p:sp>
      <p:sp>
        <p:nvSpPr>
          <p:cNvPr id="30" name="Text 27"/>
          <p:cNvSpPr txBox="1"/>
          <p:nvPr/>
        </p:nvSpPr>
        <p:spPr>
          <a:xfrm>
            <a:off x="2423160" y="2176272"/>
            <a:ext cx="457200" cy="228600"/>
          </a:xfrm>
          <a:prstGeom prst="rect">
            <a:avLst/>
          </a:prstGeom>
          <a:noFill/>
          <a:ln/>
        </p:spPr>
        <p:txBody>
          <a:bodyPr wrap="square" lIns="0" tIns="0" rIns="0" bIns="0" rtlCol="0" anchor="t"/>
          <a:lstStyle/>
          <a:p>
            <a:pPr algn="ctr" indent="0" marL="0">
              <a:buNone/>
            </a:pPr>
            <a:r>
              <a:rPr lang="en-US" sz="950" b="1" dirty="0">
                <a:solidFill>
                  <a:srgbClr val="8A6732"/>
                </a:solidFill>
                <a:latin typeface="Calibri" pitchFamily="34" charset="0"/>
                <a:ea typeface="Calibri" pitchFamily="34" charset="-122"/>
                <a:cs typeface="Calibri" pitchFamily="34" charset="-120"/>
              </a:rPr>
              <a:t>1:n</a:t>
            </a:r>
            <a:endParaRPr lang="en-US" sz="950" dirty="0"/>
          </a:p>
        </p:txBody>
      </p:sp>
      <p:sp>
        <p:nvSpPr>
          <p:cNvPr id="31" name="Shape 28"/>
          <p:cNvSpPr/>
          <p:nvPr/>
        </p:nvSpPr>
        <p:spPr>
          <a:xfrm>
            <a:off x="4754880" y="2468880"/>
            <a:ext cx="365760" cy="914"/>
          </a:xfrm>
          <a:prstGeom prst="line">
            <a:avLst/>
          </a:prstGeom>
          <a:noFill/>
          <a:ln w="19050">
            <a:solidFill>
              <a:srgbClr val="B08A4F"/>
            </a:solidFill>
            <a:prstDash val="solid"/>
          </a:ln>
        </p:spPr>
      </p:sp>
      <p:sp>
        <p:nvSpPr>
          <p:cNvPr id="32" name="Text 29"/>
          <p:cNvSpPr txBox="1"/>
          <p:nvPr/>
        </p:nvSpPr>
        <p:spPr>
          <a:xfrm>
            <a:off x="4709160" y="2176272"/>
            <a:ext cx="457200" cy="228600"/>
          </a:xfrm>
          <a:prstGeom prst="rect">
            <a:avLst/>
          </a:prstGeom>
          <a:noFill/>
          <a:ln/>
        </p:spPr>
        <p:txBody>
          <a:bodyPr wrap="square" lIns="0" tIns="0" rIns="0" bIns="0" rtlCol="0" anchor="t"/>
          <a:lstStyle/>
          <a:p>
            <a:pPr algn="ctr" indent="0" marL="0">
              <a:buNone/>
            </a:pPr>
            <a:r>
              <a:rPr lang="en-US" sz="950" b="1" dirty="0">
                <a:solidFill>
                  <a:srgbClr val="8A6732"/>
                </a:solidFill>
                <a:latin typeface="Calibri" pitchFamily="34" charset="0"/>
                <a:ea typeface="Calibri" pitchFamily="34" charset="-122"/>
                <a:cs typeface="Calibri" pitchFamily="34" charset="-120"/>
              </a:rPr>
              <a:t>n:1</a:t>
            </a:r>
            <a:endParaRPr lang="en-US" sz="950" dirty="0"/>
          </a:p>
        </p:txBody>
      </p:sp>
      <p:sp>
        <p:nvSpPr>
          <p:cNvPr id="33" name="Shape 30"/>
          <p:cNvSpPr/>
          <p:nvPr/>
        </p:nvSpPr>
        <p:spPr>
          <a:xfrm>
            <a:off x="1508760" y="3337560"/>
            <a:ext cx="914" cy="594360"/>
          </a:xfrm>
          <a:prstGeom prst="line">
            <a:avLst/>
          </a:prstGeom>
          <a:noFill/>
          <a:ln w="19050">
            <a:solidFill>
              <a:srgbClr val="B08A4F"/>
            </a:solidFill>
            <a:prstDash val="solid"/>
          </a:ln>
        </p:spPr>
      </p:sp>
      <p:sp>
        <p:nvSpPr>
          <p:cNvPr id="34" name="Text 31"/>
          <p:cNvSpPr txBox="1"/>
          <p:nvPr/>
        </p:nvSpPr>
        <p:spPr>
          <a:xfrm>
            <a:off x="1600200" y="3520440"/>
            <a:ext cx="457200" cy="228600"/>
          </a:xfrm>
          <a:prstGeom prst="rect">
            <a:avLst/>
          </a:prstGeom>
          <a:noFill/>
          <a:ln/>
        </p:spPr>
        <p:txBody>
          <a:bodyPr wrap="square" lIns="0" tIns="0" rIns="0" bIns="0" rtlCol="0" anchor="t"/>
          <a:lstStyle/>
          <a:p>
            <a:pPr indent="0" marL="0">
              <a:buNone/>
            </a:pPr>
            <a:r>
              <a:rPr lang="en-US" sz="950" b="1" dirty="0">
                <a:solidFill>
                  <a:srgbClr val="8A6732"/>
                </a:solidFill>
                <a:latin typeface="Calibri" pitchFamily="34" charset="0"/>
                <a:ea typeface="Calibri" pitchFamily="34" charset="-122"/>
                <a:cs typeface="Calibri" pitchFamily="34" charset="-120"/>
              </a:rPr>
              <a:t>1:n</a:t>
            </a:r>
            <a:endParaRPr lang="en-US" sz="950" dirty="0"/>
          </a:p>
        </p:txBody>
      </p:sp>
      <p:sp>
        <p:nvSpPr>
          <p:cNvPr id="35" name="Shape 32"/>
          <p:cNvSpPr/>
          <p:nvPr/>
        </p:nvSpPr>
        <p:spPr>
          <a:xfrm>
            <a:off x="6080760" y="3337560"/>
            <a:ext cx="914" cy="594360"/>
          </a:xfrm>
          <a:prstGeom prst="line">
            <a:avLst/>
          </a:prstGeom>
          <a:noFill/>
          <a:ln w="19050">
            <a:solidFill>
              <a:srgbClr val="B08A4F"/>
            </a:solidFill>
            <a:prstDash val="solid"/>
          </a:ln>
        </p:spPr>
      </p:sp>
      <p:sp>
        <p:nvSpPr>
          <p:cNvPr id="36" name="Text 33"/>
          <p:cNvSpPr txBox="1"/>
          <p:nvPr/>
        </p:nvSpPr>
        <p:spPr>
          <a:xfrm>
            <a:off x="6172200" y="3520440"/>
            <a:ext cx="457200" cy="228600"/>
          </a:xfrm>
          <a:prstGeom prst="rect">
            <a:avLst/>
          </a:prstGeom>
          <a:noFill/>
          <a:ln/>
        </p:spPr>
        <p:txBody>
          <a:bodyPr wrap="square" lIns="0" tIns="0" rIns="0" bIns="0" rtlCol="0" anchor="t"/>
          <a:lstStyle/>
          <a:p>
            <a:pPr indent="0" marL="0">
              <a:buNone/>
            </a:pPr>
            <a:r>
              <a:rPr lang="en-US" sz="950" b="1" dirty="0">
                <a:solidFill>
                  <a:srgbClr val="8A6732"/>
                </a:solidFill>
                <a:latin typeface="Calibri" pitchFamily="34" charset="0"/>
                <a:ea typeface="Calibri" pitchFamily="34" charset="-122"/>
                <a:cs typeface="Calibri" pitchFamily="34" charset="-120"/>
              </a:rPr>
              <a:t>1:n</a:t>
            </a:r>
            <a:endParaRPr lang="en-US" sz="950" dirty="0"/>
          </a:p>
        </p:txBody>
      </p:sp>
      <p:sp>
        <p:nvSpPr>
          <p:cNvPr id="37" name="Shape 34"/>
          <p:cNvSpPr/>
          <p:nvPr/>
        </p:nvSpPr>
        <p:spPr>
          <a:xfrm>
            <a:off x="7406640" y="1600200"/>
            <a:ext cx="4233672"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38" name="Image 1" descr="Biểu tượng">    </p:cNvPr>
          <p:cNvPicPr>
            <a:picLocks noChangeAspect="1"/>
          </p:cNvPicPr>
          <p:nvPr/>
        </p:nvPicPr>
        <p:blipFill>
          <a:blip r:embed="rId2"/>
          <a:stretch>
            <a:fillRect/>
          </a:stretch>
        </p:blipFill>
        <p:spPr>
          <a:xfrm>
            <a:off x="7589520" y="1801368"/>
            <a:ext cx="329184" cy="329184"/>
          </a:xfrm>
          <a:prstGeom prst="rect">
            <a:avLst/>
          </a:prstGeom>
        </p:spPr>
      </p:pic>
      <p:sp>
        <p:nvSpPr>
          <p:cNvPr id="39" name="Text 35"/>
          <p:cNvSpPr txBox="1"/>
          <p:nvPr/>
        </p:nvSpPr>
        <p:spPr>
          <a:xfrm>
            <a:off x="8092440" y="1709928"/>
            <a:ext cx="3429000" cy="274320"/>
          </a:xfrm>
          <a:prstGeom prst="rect">
            <a:avLst/>
          </a:prstGeom>
          <a:noFill/>
          <a:ln/>
        </p:spPr>
        <p:txBody>
          <a:bodyPr wrap="square" lIns="0" tIns="0" rIns="0" bIns="0" rtlCol="0" anchor="t"/>
          <a:lstStyle/>
          <a:p>
            <a:pPr indent="0" marL="0">
              <a:buNone/>
            </a:pPr>
            <a:r>
              <a:rPr lang="en-US" sz="1300" b="1" dirty="0">
                <a:solidFill>
                  <a:srgbClr val="231D1A"/>
                </a:solidFill>
                <a:latin typeface="Calibri" pitchFamily="34" charset="0"/>
                <a:ea typeface="Calibri" pitchFamily="34" charset="-122"/>
                <a:cs typeface="Calibri" pitchFamily="34" charset="-120"/>
              </a:rPr>
              <a:t>Khoảng thời gian nửa mở [from, to)</a:t>
            </a:r>
            <a:endParaRPr lang="en-US" sz="1300" dirty="0"/>
          </a:p>
        </p:txBody>
      </p:sp>
      <p:sp>
        <p:nvSpPr>
          <p:cNvPr id="40" name="Text 36"/>
          <p:cNvSpPr txBox="1"/>
          <p:nvPr/>
        </p:nvSpPr>
        <p:spPr>
          <a:xfrm>
            <a:off x="8092440" y="1993392"/>
            <a:ext cx="3429000" cy="566928"/>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Hai lượt trưng bày nối tiếp không bao giờ cùng “hiện hành” tại một thời điểm.</a:t>
            </a:r>
            <a:endParaRPr lang="en-US" sz="1050" dirty="0"/>
          </a:p>
        </p:txBody>
      </p:sp>
      <p:sp>
        <p:nvSpPr>
          <p:cNvPr id="41" name="Shape 37"/>
          <p:cNvSpPr/>
          <p:nvPr/>
        </p:nvSpPr>
        <p:spPr>
          <a:xfrm>
            <a:off x="7406640" y="2734056"/>
            <a:ext cx="4233672"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42" name="Image 2" descr="Biểu tượng">    </p:cNvPr>
          <p:cNvPicPr>
            <a:picLocks noChangeAspect="1"/>
          </p:cNvPicPr>
          <p:nvPr/>
        </p:nvPicPr>
        <p:blipFill>
          <a:blip r:embed="rId3"/>
          <a:stretch>
            <a:fillRect/>
          </a:stretch>
        </p:blipFill>
        <p:spPr>
          <a:xfrm>
            <a:off x="7589520" y="2935224"/>
            <a:ext cx="329184" cy="329184"/>
          </a:xfrm>
          <a:prstGeom prst="rect">
            <a:avLst/>
          </a:prstGeom>
        </p:spPr>
      </p:pic>
      <p:sp>
        <p:nvSpPr>
          <p:cNvPr id="43" name="Text 38"/>
          <p:cNvSpPr txBox="1"/>
          <p:nvPr/>
        </p:nvSpPr>
        <p:spPr>
          <a:xfrm>
            <a:off x="8092440" y="2843784"/>
            <a:ext cx="3429000" cy="274320"/>
          </a:xfrm>
          <a:prstGeom prst="rect">
            <a:avLst/>
          </a:prstGeom>
          <a:noFill/>
          <a:ln/>
        </p:spPr>
        <p:txBody>
          <a:bodyPr wrap="square" lIns="0" tIns="0" rIns="0" bIns="0" rtlCol="0" anchor="t"/>
          <a:lstStyle/>
          <a:p>
            <a:pPr indent="0" marL="0">
              <a:buNone/>
            </a:pPr>
            <a:r>
              <a:rPr lang="en-US" sz="1300" b="1" dirty="0">
                <a:solidFill>
                  <a:srgbClr val="231D1A"/>
                </a:solidFill>
                <a:latin typeface="Calibri" pitchFamily="34" charset="0"/>
                <a:ea typeface="Calibri" pitchFamily="34" charset="-122"/>
                <a:cs typeface="Calibri" pitchFamily="34" charset="-120"/>
              </a:rPr>
              <a:t>Không chồng lấn trong một zone</a:t>
            </a:r>
            <a:endParaRPr lang="en-US" sz="1300" dirty="0"/>
          </a:p>
        </p:txBody>
      </p:sp>
      <p:sp>
        <p:nvSpPr>
          <p:cNvPr id="44" name="Text 39"/>
          <p:cNvSpPr txBox="1"/>
          <p:nvPr/>
        </p:nvSpPr>
        <p:spPr>
          <a:xfrm>
            <a:off x="8092440" y="3127248"/>
            <a:ext cx="3429000" cy="566928"/>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ScheduleConflictValidator kiểm tra ở backend; giao diện chỉ kiểm tra để phản hồi nhanh.</a:t>
            </a:r>
            <a:endParaRPr lang="en-US" sz="1050" dirty="0"/>
          </a:p>
        </p:txBody>
      </p:sp>
      <p:sp>
        <p:nvSpPr>
          <p:cNvPr id="45" name="Shape 40"/>
          <p:cNvSpPr/>
          <p:nvPr/>
        </p:nvSpPr>
        <p:spPr>
          <a:xfrm>
            <a:off x="7406640" y="3867912"/>
            <a:ext cx="4233672"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46" name="Image 3" descr="Biểu tượng">    </p:cNvPr>
          <p:cNvPicPr>
            <a:picLocks noChangeAspect="1"/>
          </p:cNvPicPr>
          <p:nvPr/>
        </p:nvPicPr>
        <p:blipFill>
          <a:blip r:embed="rId4"/>
          <a:stretch>
            <a:fillRect/>
          </a:stretch>
        </p:blipFill>
        <p:spPr>
          <a:xfrm>
            <a:off x="7589520" y="4069080"/>
            <a:ext cx="329184" cy="329184"/>
          </a:xfrm>
          <a:prstGeom prst="rect">
            <a:avLst/>
          </a:prstGeom>
        </p:spPr>
      </p:pic>
      <p:sp>
        <p:nvSpPr>
          <p:cNvPr id="47" name="Text 41"/>
          <p:cNvSpPr txBox="1"/>
          <p:nvPr/>
        </p:nvSpPr>
        <p:spPr>
          <a:xfrm>
            <a:off x="8092440" y="3977640"/>
            <a:ext cx="3429000" cy="274320"/>
          </a:xfrm>
          <a:prstGeom prst="rect">
            <a:avLst/>
          </a:prstGeom>
          <a:noFill/>
          <a:ln/>
        </p:spPr>
        <p:txBody>
          <a:bodyPr wrap="square" lIns="0" tIns="0" rIns="0" bIns="0" rtlCol="0" anchor="t"/>
          <a:lstStyle/>
          <a:p>
            <a:pPr indent="0" marL="0">
              <a:buNone/>
            </a:pPr>
            <a:r>
              <a:rPr lang="en-US" sz="1300" b="1" dirty="0">
                <a:solidFill>
                  <a:srgbClr val="231D1A"/>
                </a:solidFill>
                <a:latin typeface="Calibri" pitchFamily="34" charset="0"/>
                <a:ea typeface="Calibri" pitchFamily="34" charset="-122"/>
                <a:cs typeface="Calibri" pitchFamily="34" charset="-120"/>
              </a:rPr>
              <a:t>Chọn bản dịch có dự phòng</a:t>
            </a:r>
            <a:endParaRPr lang="en-US" sz="1300" dirty="0"/>
          </a:p>
        </p:txBody>
      </p:sp>
      <p:sp>
        <p:nvSpPr>
          <p:cNvPr id="48" name="Text 42"/>
          <p:cNvSpPr txBox="1"/>
          <p:nvPr/>
        </p:nvSpPr>
        <p:spPr>
          <a:xfrm>
            <a:off x="8092440" y="4261104"/>
            <a:ext cx="3429000" cy="566928"/>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Đúng mã → cùng ngôn ngữ gốc (pt-BR → pt) → mặc định vi → bản đầu tiên; giao diện báo khi dùng dự phòng.</a:t>
            </a:r>
            <a:endParaRPr lang="en-US" sz="1050" dirty="0"/>
          </a:p>
        </p:txBody>
      </p:sp>
      <p:sp>
        <p:nvSpPr>
          <p:cNvPr id="49" name="Shape 43"/>
          <p:cNvSpPr/>
          <p:nvPr/>
        </p:nvSpPr>
        <p:spPr>
          <a:xfrm>
            <a:off x="7406640" y="5001768"/>
            <a:ext cx="4233672"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50" name="Image 4" descr="Biểu tượng">    </p:cNvPr>
          <p:cNvPicPr>
            <a:picLocks noChangeAspect="1"/>
          </p:cNvPicPr>
          <p:nvPr/>
        </p:nvPicPr>
        <p:blipFill>
          <a:blip r:embed="rId5"/>
          <a:stretch>
            <a:fillRect/>
          </a:stretch>
        </p:blipFill>
        <p:spPr>
          <a:xfrm>
            <a:off x="7589520" y="5202936"/>
            <a:ext cx="329184" cy="329184"/>
          </a:xfrm>
          <a:prstGeom prst="rect">
            <a:avLst/>
          </a:prstGeom>
        </p:spPr>
      </p:pic>
      <p:sp>
        <p:nvSpPr>
          <p:cNvPr id="51" name="Text 44"/>
          <p:cNvSpPr txBox="1"/>
          <p:nvPr/>
        </p:nvSpPr>
        <p:spPr>
          <a:xfrm>
            <a:off x="8092440" y="5111496"/>
            <a:ext cx="3429000" cy="274320"/>
          </a:xfrm>
          <a:prstGeom prst="rect">
            <a:avLst/>
          </a:prstGeom>
          <a:noFill/>
          <a:ln/>
        </p:spPr>
        <p:txBody>
          <a:bodyPr wrap="square" lIns="0" tIns="0" rIns="0" bIns="0" rtlCol="0" anchor="t"/>
          <a:lstStyle/>
          <a:p>
            <a:pPr indent="0" marL="0">
              <a:buNone/>
            </a:pPr>
            <a:r>
              <a:rPr lang="en-US" sz="1300" b="1" dirty="0">
                <a:solidFill>
                  <a:srgbClr val="231D1A"/>
                </a:solidFill>
                <a:latin typeface="Calibri" pitchFamily="34" charset="0"/>
                <a:ea typeface="Calibri" pitchFamily="34" charset="-122"/>
                <a:cs typeface="Calibri" pitchFamily="34" charset="-120"/>
              </a:rPr>
              <a:t>Định danh beacon theo payload</a:t>
            </a:r>
            <a:endParaRPr lang="en-US" sz="1300" dirty="0"/>
          </a:p>
        </p:txBody>
      </p:sp>
      <p:sp>
        <p:nvSpPr>
          <p:cNvPr id="52" name="Text 45"/>
          <p:cNvSpPr txBox="1"/>
          <p:nvPr/>
        </p:nvSpPr>
        <p:spPr>
          <a:xfrm>
            <a:off x="8092440" y="5394960"/>
            <a:ext cx="3429000" cy="566928"/>
          </a:xfrm>
          <a:prstGeom prst="rect">
            <a:avLst/>
          </a:prstGeom>
          <a:noFill/>
          <a:ln/>
        </p:spPr>
        <p:txBody>
          <a:bodyPr wrap="square" lIns="0" tIns="0" rIns="0" bIns="0" rtlCol="0" anchor="t"/>
          <a:lstStyle/>
          <a:p>
            <a:pPr indent="0" marL="0">
              <a:buNone/>
            </a:pPr>
            <a:r>
              <a:rPr lang="en-US" sz="1050" dirty="0">
                <a:solidFill>
                  <a:srgbClr val="6B5F58"/>
                </a:solidFill>
                <a:latin typeface="Calibri" pitchFamily="34" charset="0"/>
                <a:ea typeface="Calibri" pitchFamily="34" charset="-122"/>
                <a:cs typeface="Calibri" pitchFamily="34" charset="-120"/>
              </a:rPr>
              <a:t>Không dùng địa chỉ MAC: iOS chỉ trả về UUID riêng theo máy, nên MAC không nhất quán giữa hai nền tảng.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04 · WORKFLOW NHÂN VIÊN</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Từ soạn nội dung đến lúc khách nhìn thấy</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08 / 20</a:t>
            </a:r>
            <a:endParaRPr lang="en-US" sz="900" dirty="0"/>
          </a:p>
        </p:txBody>
      </p:sp>
      <p:sp>
        <p:nvSpPr>
          <p:cNvPr id="7" name="Shape 4"/>
          <p:cNvSpPr/>
          <p:nvPr/>
        </p:nvSpPr>
        <p:spPr>
          <a:xfrm>
            <a:off x="777240" y="2194560"/>
            <a:ext cx="914" cy="292608"/>
          </a:xfrm>
          <a:prstGeom prst="line">
            <a:avLst/>
          </a:prstGeom>
          <a:noFill/>
          <a:ln w="15875">
            <a:solidFill>
              <a:srgbClr val="B08A4F"/>
            </a:solidFill>
            <a:prstDash val="solid"/>
          </a:ln>
        </p:spPr>
      </p:sp>
      <p:pic>
        <p:nvPicPr>
          <p:cNvPr id="8" name="Image 1" descr="Họa tiết vòm trang trí">    </p:cNvPr>
          <p:cNvPicPr>
            <a:picLocks noChangeAspect="1"/>
          </p:cNvPicPr>
          <p:nvPr/>
        </p:nvPicPr>
        <p:blipFill>
          <a:blip r:embed="rId2"/>
          <a:stretch>
            <a:fillRect/>
          </a:stretch>
        </p:blipFill>
        <p:spPr>
          <a:xfrm>
            <a:off x="548640" y="1572768"/>
            <a:ext cx="457200" cy="609600"/>
          </a:xfrm>
          <a:prstGeom prst="rect">
            <a:avLst/>
          </a:prstGeom>
        </p:spPr>
      </p:pic>
      <p:sp>
        <p:nvSpPr>
          <p:cNvPr id="9" name="Text 5"/>
          <p:cNvSpPr txBox="1"/>
          <p:nvPr/>
        </p:nvSpPr>
        <p:spPr>
          <a:xfrm>
            <a:off x="548640" y="1792224"/>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234440" y="1572768"/>
            <a:ext cx="4526280" cy="29260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Soạn hiện vật bằng ngôn ngữ chính</a:t>
            </a:r>
            <a:endParaRPr lang="en-US" sz="1450" dirty="0"/>
          </a:p>
        </p:txBody>
      </p:sp>
      <p:sp>
        <p:nvSpPr>
          <p:cNvPr id="11" name="Text 7"/>
          <p:cNvSpPr txBox="1"/>
          <p:nvPr/>
        </p:nvSpPr>
        <p:spPr>
          <a:xfrm>
            <a:off x="1234440" y="1865376"/>
            <a:ext cx="4526280" cy="54864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Tiêu đề, mô tả ngắn, bài viết, ảnh; hiện vật mới ở trạng thái DRAFT.</a:t>
            </a:r>
            <a:endParaRPr lang="en-US" sz="1150" dirty="0"/>
          </a:p>
        </p:txBody>
      </p:sp>
      <p:sp>
        <p:nvSpPr>
          <p:cNvPr id="12" name="Shape 8"/>
          <p:cNvSpPr/>
          <p:nvPr/>
        </p:nvSpPr>
        <p:spPr>
          <a:xfrm>
            <a:off x="777240" y="3108960"/>
            <a:ext cx="914" cy="292608"/>
          </a:xfrm>
          <a:prstGeom prst="line">
            <a:avLst/>
          </a:prstGeom>
          <a:noFill/>
          <a:ln w="15875">
            <a:solidFill>
              <a:srgbClr val="B08A4F"/>
            </a:solidFill>
            <a:prstDash val="solid"/>
          </a:ln>
        </p:spPr>
      </p:sp>
      <p:pic>
        <p:nvPicPr>
          <p:cNvPr id="13" name="Image 2" descr="Họa tiết vòm trang trí">    </p:cNvPr>
          <p:cNvPicPr>
            <a:picLocks noChangeAspect="1"/>
          </p:cNvPicPr>
          <p:nvPr/>
        </p:nvPicPr>
        <p:blipFill>
          <a:blip r:embed="rId3"/>
          <a:stretch>
            <a:fillRect/>
          </a:stretch>
        </p:blipFill>
        <p:spPr>
          <a:xfrm>
            <a:off x="548640" y="2487168"/>
            <a:ext cx="457200" cy="609600"/>
          </a:xfrm>
          <a:prstGeom prst="rect">
            <a:avLst/>
          </a:prstGeom>
        </p:spPr>
      </p:pic>
      <p:sp>
        <p:nvSpPr>
          <p:cNvPr id="14" name="Text 9"/>
          <p:cNvSpPr txBox="1"/>
          <p:nvPr/>
        </p:nvSpPr>
        <p:spPr>
          <a:xfrm>
            <a:off x="548640" y="2706624"/>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0"/>
          <p:cNvSpPr txBox="1"/>
          <p:nvPr/>
        </p:nvSpPr>
        <p:spPr>
          <a:xfrm>
            <a:off x="1234440" y="2487168"/>
            <a:ext cx="4526280" cy="29260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Sinh bản dịch &amp; audio thuyết minh</a:t>
            </a:r>
            <a:endParaRPr lang="en-US" sz="1450" dirty="0"/>
          </a:p>
        </p:txBody>
      </p:sp>
      <p:sp>
        <p:nvSpPr>
          <p:cNvPr id="16" name="Text 11"/>
          <p:cNvSpPr txBox="1"/>
          <p:nvPr/>
        </p:nvSpPr>
        <p:spPr>
          <a:xfrm>
            <a:off x="1234440" y="2779776"/>
            <a:ext cx="4526280" cy="54864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Chọn ngôn ngữ đích: gpt-4o-mini dịch, tts-1 đọc. Bản do nhân viên tự viết luôn được giữ nguyên.</a:t>
            </a:r>
            <a:endParaRPr lang="en-US" sz="1150" dirty="0"/>
          </a:p>
        </p:txBody>
      </p:sp>
      <p:sp>
        <p:nvSpPr>
          <p:cNvPr id="17" name="Shape 12"/>
          <p:cNvSpPr/>
          <p:nvPr/>
        </p:nvSpPr>
        <p:spPr>
          <a:xfrm>
            <a:off x="777240" y="4023360"/>
            <a:ext cx="914" cy="292608"/>
          </a:xfrm>
          <a:prstGeom prst="line">
            <a:avLst/>
          </a:prstGeom>
          <a:noFill/>
          <a:ln w="15875">
            <a:solidFill>
              <a:srgbClr val="B08A4F"/>
            </a:solidFill>
            <a:prstDash val="solid"/>
          </a:ln>
        </p:spPr>
      </p:sp>
      <p:pic>
        <p:nvPicPr>
          <p:cNvPr id="18" name="Image 3" descr="Họa tiết vòm trang trí">    </p:cNvPr>
          <p:cNvPicPr>
            <a:picLocks noChangeAspect="1"/>
          </p:cNvPicPr>
          <p:nvPr/>
        </p:nvPicPr>
        <p:blipFill>
          <a:blip r:embed="rId4"/>
          <a:stretch>
            <a:fillRect/>
          </a:stretch>
        </p:blipFill>
        <p:spPr>
          <a:xfrm>
            <a:off x="548640" y="3401568"/>
            <a:ext cx="457200" cy="609600"/>
          </a:xfrm>
          <a:prstGeom prst="rect">
            <a:avLst/>
          </a:prstGeom>
        </p:spPr>
      </p:pic>
      <p:sp>
        <p:nvSpPr>
          <p:cNvPr id="19" name="Text 13"/>
          <p:cNvSpPr txBox="1"/>
          <p:nvPr/>
        </p:nvSpPr>
        <p:spPr>
          <a:xfrm>
            <a:off x="548640" y="3621024"/>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4"/>
          <p:cNvSpPr txBox="1"/>
          <p:nvPr/>
        </p:nvSpPr>
        <p:spPr>
          <a:xfrm>
            <a:off x="1234440" y="3401568"/>
            <a:ext cx="4526280" cy="29260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Xuất bản</a:t>
            </a:r>
            <a:endParaRPr lang="en-US" sz="1450" dirty="0"/>
          </a:p>
        </p:txBody>
      </p:sp>
      <p:sp>
        <p:nvSpPr>
          <p:cNvPr id="21" name="Text 15"/>
          <p:cNvSpPr txBox="1"/>
          <p:nvPr/>
        </p:nvSpPr>
        <p:spPr>
          <a:xfrm>
            <a:off x="1234440" y="3694176"/>
            <a:ext cx="4526280" cy="54864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DRAFT → PUBLISHED. Khách chỉ nhận được hiện vật đã xuất bản.</a:t>
            </a:r>
            <a:endParaRPr lang="en-US" sz="1150" dirty="0"/>
          </a:p>
        </p:txBody>
      </p:sp>
      <p:sp>
        <p:nvSpPr>
          <p:cNvPr id="22" name="Shape 16"/>
          <p:cNvSpPr/>
          <p:nvPr/>
        </p:nvSpPr>
        <p:spPr>
          <a:xfrm>
            <a:off x="777240" y="4937760"/>
            <a:ext cx="914" cy="292608"/>
          </a:xfrm>
          <a:prstGeom prst="line">
            <a:avLst/>
          </a:prstGeom>
          <a:noFill/>
          <a:ln w="15875">
            <a:solidFill>
              <a:srgbClr val="B08A4F"/>
            </a:solidFill>
            <a:prstDash val="solid"/>
          </a:ln>
        </p:spPr>
      </p:sp>
      <p:pic>
        <p:nvPicPr>
          <p:cNvPr id="23" name="Image 4" descr="Họa tiết vòm trang trí">    </p:cNvPr>
          <p:cNvPicPr>
            <a:picLocks noChangeAspect="1"/>
          </p:cNvPicPr>
          <p:nvPr/>
        </p:nvPicPr>
        <p:blipFill>
          <a:blip r:embed="rId5"/>
          <a:stretch>
            <a:fillRect/>
          </a:stretch>
        </p:blipFill>
        <p:spPr>
          <a:xfrm>
            <a:off x="548640" y="4315968"/>
            <a:ext cx="457200" cy="609600"/>
          </a:xfrm>
          <a:prstGeom prst="rect">
            <a:avLst/>
          </a:prstGeom>
        </p:spPr>
      </p:pic>
      <p:sp>
        <p:nvSpPr>
          <p:cNvPr id="24" name="Text 17"/>
          <p:cNvSpPr txBox="1"/>
          <p:nvPr/>
        </p:nvSpPr>
        <p:spPr>
          <a:xfrm>
            <a:off x="548640" y="4535424"/>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18"/>
          <p:cNvSpPr txBox="1"/>
          <p:nvPr/>
        </p:nvSpPr>
        <p:spPr>
          <a:xfrm>
            <a:off x="1234440" y="4315968"/>
            <a:ext cx="4526280" cy="29260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Thiết lập khu vực &amp; beacon</a:t>
            </a:r>
            <a:endParaRPr lang="en-US" sz="1450" dirty="0"/>
          </a:p>
        </p:txBody>
      </p:sp>
      <p:sp>
        <p:nvSpPr>
          <p:cNvPr id="26" name="Text 19"/>
          <p:cNvSpPr txBox="1"/>
          <p:nvPr/>
        </p:nvSpPr>
        <p:spPr>
          <a:xfrm>
            <a:off x="1234440" y="4608576"/>
            <a:ext cx="4526280" cy="54864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Tạo zone, hệ thống sinh QR /q/ZONE_CODE; quét beacon gần máy để điền định danh, chỉnh tầm nhận diện.</a:t>
            </a:r>
            <a:endParaRPr lang="en-US" sz="1150" dirty="0"/>
          </a:p>
        </p:txBody>
      </p:sp>
      <p:pic>
        <p:nvPicPr>
          <p:cNvPr id="27" name="Image 5" descr="Họa tiết vòm trang trí">    </p:cNvPr>
          <p:cNvPicPr>
            <a:picLocks noChangeAspect="1"/>
          </p:cNvPicPr>
          <p:nvPr/>
        </p:nvPicPr>
        <p:blipFill>
          <a:blip r:embed="rId6"/>
          <a:stretch>
            <a:fillRect/>
          </a:stretch>
        </p:blipFill>
        <p:spPr>
          <a:xfrm>
            <a:off x="548640" y="5230368"/>
            <a:ext cx="457200" cy="609600"/>
          </a:xfrm>
          <a:prstGeom prst="rect">
            <a:avLst/>
          </a:prstGeom>
        </p:spPr>
      </p:pic>
      <p:sp>
        <p:nvSpPr>
          <p:cNvPr id="28" name="Text 20"/>
          <p:cNvSpPr txBox="1"/>
          <p:nvPr/>
        </p:nvSpPr>
        <p:spPr>
          <a:xfrm>
            <a:off x="548640" y="5449824"/>
            <a:ext cx="4572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9" name="Text 21"/>
          <p:cNvSpPr txBox="1"/>
          <p:nvPr/>
        </p:nvSpPr>
        <p:spPr>
          <a:xfrm>
            <a:off x="1234440" y="5230368"/>
            <a:ext cx="4526280" cy="292608"/>
          </a:xfrm>
          <a:prstGeom prst="rect">
            <a:avLst/>
          </a:prstGeom>
          <a:noFill/>
          <a:ln/>
        </p:spPr>
        <p:txBody>
          <a:bodyPr wrap="square" lIns="0" tIns="0" rIns="0" bIns="0" rtlCol="0" anchor="t"/>
          <a:lstStyle/>
          <a:p>
            <a:pPr indent="0" marL="0">
              <a:buNone/>
            </a:pPr>
            <a:r>
              <a:rPr lang="en-US" sz="1450" b="1" dirty="0">
                <a:solidFill>
                  <a:srgbClr val="231D1A"/>
                </a:solidFill>
                <a:latin typeface="Calibri" pitchFamily="34" charset="0"/>
                <a:ea typeface="Calibri" pitchFamily="34" charset="-122"/>
                <a:cs typeface="Calibri" pitchFamily="34" charset="-120"/>
              </a:rPr>
              <a:t>Đặt hiện vật hiện tại cho khu vực</a:t>
            </a:r>
            <a:endParaRPr lang="en-US" sz="1450" dirty="0"/>
          </a:p>
        </p:txBody>
      </p:sp>
      <p:sp>
        <p:nvSpPr>
          <p:cNvPr id="30" name="Text 22"/>
          <p:cNvSpPr txBox="1"/>
          <p:nvPr/>
        </p:nvSpPr>
        <p:spPr>
          <a:xfrm>
            <a:off x="1234440" y="5522976"/>
            <a:ext cx="4526280" cy="54864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Bản gán cũ được đóng lại thành lịch sử; beacon và QR đã lắp giữ nguyên.</a:t>
            </a:r>
            <a:endParaRPr lang="en-US" sz="1150" dirty="0"/>
          </a:p>
        </p:txBody>
      </p:sp>
      <p:pic>
        <p:nvPicPr>
          <p:cNvPr id="31" name="Image 6" descr="Ảnh chụp trang quản trị Admin">    </p:cNvPr>
          <p:cNvPicPr>
            <a:picLocks noChangeAspect="1"/>
          </p:cNvPicPr>
          <p:nvPr/>
        </p:nvPicPr>
        <p:blipFill>
          <a:blip r:embed="rId7"/>
          <a:stretch>
            <a:fillRect/>
          </a:stretch>
        </p:blipFill>
        <p:spPr>
          <a:xfrm>
            <a:off x="5989320" y="1325880"/>
            <a:ext cx="5760720" cy="4282970"/>
          </a:xfrm>
          <a:prstGeom prst="rect">
            <a:avLst/>
          </a:prstGeom>
        </p:spPr>
      </p:pic>
      <p:sp>
        <p:nvSpPr>
          <p:cNvPr id="32" name="Text 23"/>
          <p:cNvSpPr txBox="1"/>
          <p:nvPr/>
        </p:nvSpPr>
        <p:spPr>
          <a:xfrm>
            <a:off x="6309360" y="5425970"/>
            <a:ext cx="5120640" cy="457200"/>
          </a:xfrm>
          <a:prstGeom prst="rect">
            <a:avLst/>
          </a:prstGeom>
          <a:noFill/>
          <a:ln/>
        </p:spPr>
        <p:txBody>
          <a:bodyPr wrap="square" lIns="0" tIns="0" rIns="0" bIns="0" rtlCol="0" anchor="t"/>
          <a:lstStyle/>
          <a:p>
            <a:pPr algn="ctr" indent="0" marL="0">
              <a:buNone/>
            </a:pPr>
            <a:r>
              <a:rPr lang="en-US" sz="1100" i="1" dirty="0">
                <a:solidFill>
                  <a:srgbClr val="6B5F58"/>
                </a:solidFill>
                <a:latin typeface="Calibri" pitchFamily="34" charset="0"/>
                <a:ea typeface="Calibri" pitchFamily="34" charset="-122"/>
                <a:cs typeface="Calibri" pitchFamily="34" charset="-120"/>
              </a:rPr>
              <a:t>Trang khu vực trong Admin: hiện vật đang trưng bày, đổi hiện vật, lịch sử, beacon và mã QR in một lần.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04 · WORKFLOW KHÁCH THAM QUAN</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Hai lối vào, một cách trả lời</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09 / 20</a:t>
            </a:r>
            <a:endParaRPr lang="en-US" sz="900" dirty="0"/>
          </a:p>
        </p:txBody>
      </p:sp>
      <p:pic>
        <p:nvPicPr>
          <p:cNvPr id="7" name="Image 1" descr="Biểu tượng">    </p:cNvPr>
          <p:cNvPicPr>
            <a:picLocks noChangeAspect="1"/>
          </p:cNvPicPr>
          <p:nvPr/>
        </p:nvPicPr>
        <p:blipFill>
          <a:blip r:embed="rId2"/>
          <a:stretch>
            <a:fillRect/>
          </a:stretch>
        </p:blipFill>
        <p:spPr>
          <a:xfrm>
            <a:off x="548640" y="1536192"/>
            <a:ext cx="274320" cy="274320"/>
          </a:xfrm>
          <a:prstGeom prst="rect">
            <a:avLst/>
          </a:prstGeom>
        </p:spPr>
      </p:pic>
      <p:sp>
        <p:nvSpPr>
          <p:cNvPr id="8" name="Text 4"/>
          <p:cNvSpPr txBox="1"/>
          <p:nvPr/>
        </p:nvSpPr>
        <p:spPr>
          <a:xfrm>
            <a:off x="914400" y="1554480"/>
            <a:ext cx="3657600" cy="256032"/>
          </a:xfrm>
          <a:prstGeom prst="rect">
            <a:avLst/>
          </a:prstGeom>
          <a:noFill/>
          <a:ln/>
        </p:spPr>
        <p:txBody>
          <a:bodyPr wrap="square" lIns="0" tIns="0" rIns="0" bIns="0" rtlCol="0" anchor="ctr"/>
          <a:lstStyle/>
          <a:p>
            <a:pPr indent="0" marL="0">
              <a:buNone/>
            </a:pPr>
            <a:r>
              <a:rPr lang="en-US" sz="1050" b="1" spc="200" kern="0" dirty="0">
                <a:solidFill>
                  <a:srgbClr val="5E2420"/>
                </a:solidFill>
                <a:latin typeface="Calibri" pitchFamily="34" charset="0"/>
                <a:ea typeface="Calibri" pitchFamily="34" charset="-122"/>
                <a:cs typeface="Calibri" pitchFamily="34" charset="-120"/>
              </a:rPr>
              <a:t>APP MOBILE · BLE</a:t>
            </a:r>
            <a:endParaRPr lang="en-US" sz="1050" dirty="0"/>
          </a:p>
        </p:txBody>
      </p:sp>
      <p:sp>
        <p:nvSpPr>
          <p:cNvPr id="9" name="Shape 5"/>
          <p:cNvSpPr/>
          <p:nvPr/>
        </p:nvSpPr>
        <p:spPr>
          <a:xfrm>
            <a:off x="548640" y="1901952"/>
            <a:ext cx="1572768"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10" name="Text 6"/>
          <p:cNvSpPr txBox="1"/>
          <p:nvPr/>
        </p:nvSpPr>
        <p:spPr>
          <a:xfrm>
            <a:off x="685800" y="2011680"/>
            <a:ext cx="457200" cy="228600"/>
          </a:xfrm>
          <a:prstGeom prst="rect">
            <a:avLst/>
          </a:prstGeom>
          <a:noFill/>
          <a:ln/>
        </p:spPr>
        <p:txBody>
          <a:bodyPr wrap="square" lIns="0" tIns="0" rIns="0" bIns="0" rtlCol="0" anchor="t"/>
          <a:lstStyle/>
          <a:p>
            <a:pPr indent="0" marL="0">
              <a:buNone/>
            </a:pPr>
            <a:r>
              <a:rPr lang="en-US" sz="1000" b="1" dirty="0">
                <a:solidFill>
                  <a:srgbClr val="8A6732"/>
                </a:solidFill>
                <a:latin typeface="Calibri" pitchFamily="34" charset="0"/>
                <a:ea typeface="Calibri" pitchFamily="34" charset="-122"/>
                <a:cs typeface="Calibri" pitchFamily="34" charset="-120"/>
              </a:rPr>
              <a:t>01</a:t>
            </a:r>
            <a:endParaRPr lang="en-US" sz="1000" dirty="0"/>
          </a:p>
        </p:txBody>
      </p:sp>
      <p:sp>
        <p:nvSpPr>
          <p:cNvPr id="11" name="Text 7"/>
          <p:cNvSpPr txBox="1"/>
          <p:nvPr/>
        </p:nvSpPr>
        <p:spPr>
          <a:xfrm>
            <a:off x="685800" y="2231136"/>
            <a:ext cx="1298448" cy="621792"/>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Chọn ngôn ngữ, cấp quyền Bluetooth</a:t>
            </a:r>
            <a:endParaRPr lang="en-US" sz="1200" dirty="0"/>
          </a:p>
        </p:txBody>
      </p:sp>
      <p:sp>
        <p:nvSpPr>
          <p:cNvPr id="12" name="Shape 8"/>
          <p:cNvSpPr/>
          <p:nvPr/>
        </p:nvSpPr>
        <p:spPr>
          <a:xfrm>
            <a:off x="2157984" y="2404872"/>
            <a:ext cx="256032" cy="914"/>
          </a:xfrm>
          <a:prstGeom prst="line">
            <a:avLst/>
          </a:prstGeom>
          <a:noFill/>
          <a:ln w="22225">
            <a:solidFill>
              <a:srgbClr val="B08A4F"/>
            </a:solidFill>
            <a:prstDash val="solid"/>
            <a:tailEnd type="triangle"/>
          </a:ln>
        </p:spPr>
      </p:sp>
      <p:sp>
        <p:nvSpPr>
          <p:cNvPr id="13" name="Shape 9"/>
          <p:cNvSpPr/>
          <p:nvPr/>
        </p:nvSpPr>
        <p:spPr>
          <a:xfrm>
            <a:off x="2450592" y="1901952"/>
            <a:ext cx="1572768"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14" name="Text 10"/>
          <p:cNvSpPr txBox="1"/>
          <p:nvPr/>
        </p:nvSpPr>
        <p:spPr>
          <a:xfrm>
            <a:off x="2587752" y="2011680"/>
            <a:ext cx="457200" cy="228600"/>
          </a:xfrm>
          <a:prstGeom prst="rect">
            <a:avLst/>
          </a:prstGeom>
          <a:noFill/>
          <a:ln/>
        </p:spPr>
        <p:txBody>
          <a:bodyPr wrap="square" lIns="0" tIns="0" rIns="0" bIns="0" rtlCol="0" anchor="t"/>
          <a:lstStyle/>
          <a:p>
            <a:pPr indent="0" marL="0">
              <a:buNone/>
            </a:pPr>
            <a:r>
              <a:rPr lang="en-US" sz="1000" b="1" dirty="0">
                <a:solidFill>
                  <a:srgbClr val="8A6732"/>
                </a:solidFill>
                <a:latin typeface="Calibri" pitchFamily="34" charset="0"/>
                <a:ea typeface="Calibri" pitchFamily="34" charset="-122"/>
                <a:cs typeface="Calibri" pitchFamily="34" charset="-120"/>
              </a:rPr>
              <a:t>02</a:t>
            </a:r>
            <a:endParaRPr lang="en-US" sz="1000" dirty="0"/>
          </a:p>
        </p:txBody>
      </p:sp>
      <p:sp>
        <p:nvSpPr>
          <p:cNvPr id="15" name="Text 11"/>
          <p:cNvSpPr txBox="1"/>
          <p:nvPr/>
        </p:nvSpPr>
        <p:spPr>
          <a:xfrm>
            <a:off x="2587752" y="2231136"/>
            <a:ext cx="1298448" cy="621792"/>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Tải danh sách beacon (một lần)</a:t>
            </a:r>
            <a:endParaRPr lang="en-US" sz="1200" dirty="0"/>
          </a:p>
        </p:txBody>
      </p:sp>
      <p:sp>
        <p:nvSpPr>
          <p:cNvPr id="16" name="Shape 12"/>
          <p:cNvSpPr/>
          <p:nvPr/>
        </p:nvSpPr>
        <p:spPr>
          <a:xfrm>
            <a:off x="4059936" y="2404872"/>
            <a:ext cx="256032" cy="914"/>
          </a:xfrm>
          <a:prstGeom prst="line">
            <a:avLst/>
          </a:prstGeom>
          <a:noFill/>
          <a:ln w="22225">
            <a:solidFill>
              <a:srgbClr val="B08A4F"/>
            </a:solidFill>
            <a:prstDash val="solid"/>
            <a:tailEnd type="triangle"/>
          </a:ln>
        </p:spPr>
      </p:sp>
      <p:sp>
        <p:nvSpPr>
          <p:cNvPr id="17" name="Shape 13"/>
          <p:cNvSpPr/>
          <p:nvPr/>
        </p:nvSpPr>
        <p:spPr>
          <a:xfrm>
            <a:off x="4352544" y="1901952"/>
            <a:ext cx="1572768"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18" name="Text 14"/>
          <p:cNvSpPr txBox="1"/>
          <p:nvPr/>
        </p:nvSpPr>
        <p:spPr>
          <a:xfrm>
            <a:off x="4489704" y="2011680"/>
            <a:ext cx="457200" cy="228600"/>
          </a:xfrm>
          <a:prstGeom prst="rect">
            <a:avLst/>
          </a:prstGeom>
          <a:noFill/>
          <a:ln/>
        </p:spPr>
        <p:txBody>
          <a:bodyPr wrap="square" lIns="0" tIns="0" rIns="0" bIns="0" rtlCol="0" anchor="t"/>
          <a:lstStyle/>
          <a:p>
            <a:pPr indent="0" marL="0">
              <a:buNone/>
            </a:pPr>
            <a:r>
              <a:rPr lang="en-US" sz="1000" b="1" dirty="0">
                <a:solidFill>
                  <a:srgbClr val="8A6732"/>
                </a:solidFill>
                <a:latin typeface="Calibri" pitchFamily="34" charset="0"/>
                <a:ea typeface="Calibri" pitchFamily="34" charset="-122"/>
                <a:cs typeface="Calibri" pitchFamily="34" charset="-120"/>
              </a:rPr>
              <a:t>03</a:t>
            </a:r>
            <a:endParaRPr lang="en-US" sz="1000" dirty="0"/>
          </a:p>
        </p:txBody>
      </p:sp>
      <p:sp>
        <p:nvSpPr>
          <p:cNvPr id="19" name="Text 15"/>
          <p:cNvSpPr txBox="1"/>
          <p:nvPr/>
        </p:nvSpPr>
        <p:spPr>
          <a:xfrm>
            <a:off x="4489704" y="2231136"/>
            <a:ext cx="1298448" cy="621792"/>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Quét &amp; xác nhận zone ngay trên máy</a:t>
            </a:r>
            <a:endParaRPr lang="en-US" sz="1200" dirty="0"/>
          </a:p>
        </p:txBody>
      </p:sp>
      <p:sp>
        <p:nvSpPr>
          <p:cNvPr id="20" name="Shape 16"/>
          <p:cNvSpPr/>
          <p:nvPr/>
        </p:nvSpPr>
        <p:spPr>
          <a:xfrm>
            <a:off x="5961888" y="2404872"/>
            <a:ext cx="256032" cy="914"/>
          </a:xfrm>
          <a:prstGeom prst="line">
            <a:avLst/>
          </a:prstGeom>
          <a:noFill/>
          <a:ln w="22225">
            <a:solidFill>
              <a:srgbClr val="B08A4F"/>
            </a:solidFill>
            <a:prstDash val="solid"/>
            <a:tailEnd type="triangle"/>
          </a:ln>
        </p:spPr>
      </p:sp>
      <p:sp>
        <p:nvSpPr>
          <p:cNvPr id="21" name="Shape 17"/>
          <p:cNvSpPr/>
          <p:nvPr/>
        </p:nvSpPr>
        <p:spPr>
          <a:xfrm>
            <a:off x="6254496" y="1901952"/>
            <a:ext cx="1572768"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22" name="Text 18"/>
          <p:cNvSpPr txBox="1"/>
          <p:nvPr/>
        </p:nvSpPr>
        <p:spPr>
          <a:xfrm>
            <a:off x="6391656" y="2011680"/>
            <a:ext cx="457200" cy="228600"/>
          </a:xfrm>
          <a:prstGeom prst="rect">
            <a:avLst/>
          </a:prstGeom>
          <a:noFill/>
          <a:ln/>
        </p:spPr>
        <p:txBody>
          <a:bodyPr wrap="square" lIns="0" tIns="0" rIns="0" bIns="0" rtlCol="0" anchor="t"/>
          <a:lstStyle/>
          <a:p>
            <a:pPr indent="0" marL="0">
              <a:buNone/>
            </a:pPr>
            <a:r>
              <a:rPr lang="en-US" sz="1000" b="1" dirty="0">
                <a:solidFill>
                  <a:srgbClr val="8A6732"/>
                </a:solidFill>
                <a:latin typeface="Calibri" pitchFamily="34" charset="0"/>
                <a:ea typeface="Calibri" pitchFamily="34" charset="-122"/>
                <a:cs typeface="Calibri" pitchFamily="34" charset="-120"/>
              </a:rPr>
              <a:t>04</a:t>
            </a:r>
            <a:endParaRPr lang="en-US" sz="1000" dirty="0"/>
          </a:p>
        </p:txBody>
      </p:sp>
      <p:sp>
        <p:nvSpPr>
          <p:cNvPr id="23" name="Text 19"/>
          <p:cNvSpPr txBox="1"/>
          <p:nvPr/>
        </p:nvSpPr>
        <p:spPr>
          <a:xfrm>
            <a:off x="6391656" y="2231136"/>
            <a:ext cx="1298448" cy="621792"/>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Gợi ý “Bạn đang ở khu vực …”</a:t>
            </a:r>
            <a:endParaRPr lang="en-US" sz="1200" dirty="0"/>
          </a:p>
        </p:txBody>
      </p:sp>
      <p:pic>
        <p:nvPicPr>
          <p:cNvPr id="24" name="Image 2" descr="Biểu tượng">    </p:cNvPr>
          <p:cNvPicPr>
            <a:picLocks noChangeAspect="1"/>
          </p:cNvPicPr>
          <p:nvPr/>
        </p:nvPicPr>
        <p:blipFill>
          <a:blip r:embed="rId3"/>
          <a:stretch>
            <a:fillRect/>
          </a:stretch>
        </p:blipFill>
        <p:spPr>
          <a:xfrm>
            <a:off x="548640" y="3319272"/>
            <a:ext cx="274320" cy="274320"/>
          </a:xfrm>
          <a:prstGeom prst="rect">
            <a:avLst/>
          </a:prstGeom>
        </p:spPr>
      </p:pic>
      <p:sp>
        <p:nvSpPr>
          <p:cNvPr id="25" name="Text 20"/>
          <p:cNvSpPr txBox="1"/>
          <p:nvPr/>
        </p:nvSpPr>
        <p:spPr>
          <a:xfrm>
            <a:off x="914400" y="3337560"/>
            <a:ext cx="3657600" cy="256032"/>
          </a:xfrm>
          <a:prstGeom prst="rect">
            <a:avLst/>
          </a:prstGeom>
          <a:noFill/>
          <a:ln/>
        </p:spPr>
        <p:txBody>
          <a:bodyPr wrap="square" lIns="0" tIns="0" rIns="0" bIns="0" rtlCol="0" anchor="ctr"/>
          <a:lstStyle/>
          <a:p>
            <a:pPr indent="0" marL="0">
              <a:buNone/>
            </a:pPr>
            <a:r>
              <a:rPr lang="en-US" sz="1050" b="1" spc="200" kern="0" dirty="0">
                <a:solidFill>
                  <a:srgbClr val="5E2420"/>
                </a:solidFill>
                <a:latin typeface="Calibri" pitchFamily="34" charset="0"/>
                <a:ea typeface="Calibri" pitchFamily="34" charset="-122"/>
                <a:cs typeface="Calibri" pitchFamily="34" charset="-120"/>
              </a:rPr>
              <a:t>TRÌNH DUYỆT · QR</a:t>
            </a:r>
            <a:endParaRPr lang="en-US" sz="1050" dirty="0"/>
          </a:p>
        </p:txBody>
      </p:sp>
      <p:sp>
        <p:nvSpPr>
          <p:cNvPr id="26" name="Shape 21"/>
          <p:cNvSpPr/>
          <p:nvPr/>
        </p:nvSpPr>
        <p:spPr>
          <a:xfrm>
            <a:off x="548640" y="3685032"/>
            <a:ext cx="2206752"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27" name="Text 22"/>
          <p:cNvSpPr txBox="1"/>
          <p:nvPr/>
        </p:nvSpPr>
        <p:spPr>
          <a:xfrm>
            <a:off x="685800" y="3794760"/>
            <a:ext cx="457200" cy="228600"/>
          </a:xfrm>
          <a:prstGeom prst="rect">
            <a:avLst/>
          </a:prstGeom>
          <a:noFill/>
          <a:ln/>
        </p:spPr>
        <p:txBody>
          <a:bodyPr wrap="square" lIns="0" tIns="0" rIns="0" bIns="0" rtlCol="0" anchor="t"/>
          <a:lstStyle/>
          <a:p>
            <a:pPr indent="0" marL="0">
              <a:buNone/>
            </a:pPr>
            <a:r>
              <a:rPr lang="en-US" sz="1000" b="1" dirty="0">
                <a:solidFill>
                  <a:srgbClr val="8A6732"/>
                </a:solidFill>
                <a:latin typeface="Calibri" pitchFamily="34" charset="0"/>
                <a:ea typeface="Calibri" pitchFamily="34" charset="-122"/>
                <a:cs typeface="Calibri" pitchFamily="34" charset="-120"/>
              </a:rPr>
              <a:t>01</a:t>
            </a:r>
            <a:endParaRPr lang="en-US" sz="1000" dirty="0"/>
          </a:p>
        </p:txBody>
      </p:sp>
      <p:sp>
        <p:nvSpPr>
          <p:cNvPr id="28" name="Text 23"/>
          <p:cNvSpPr txBox="1"/>
          <p:nvPr/>
        </p:nvSpPr>
        <p:spPr>
          <a:xfrm>
            <a:off x="685800" y="4014216"/>
            <a:ext cx="1932432" cy="621792"/>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Quét QR bằng camera điện thoại</a:t>
            </a:r>
            <a:endParaRPr lang="en-US" sz="1200" dirty="0"/>
          </a:p>
        </p:txBody>
      </p:sp>
      <p:sp>
        <p:nvSpPr>
          <p:cNvPr id="29" name="Shape 24"/>
          <p:cNvSpPr/>
          <p:nvPr/>
        </p:nvSpPr>
        <p:spPr>
          <a:xfrm>
            <a:off x="2791968" y="4187952"/>
            <a:ext cx="256032" cy="914"/>
          </a:xfrm>
          <a:prstGeom prst="line">
            <a:avLst/>
          </a:prstGeom>
          <a:noFill/>
          <a:ln w="22225">
            <a:solidFill>
              <a:srgbClr val="B08A4F"/>
            </a:solidFill>
            <a:prstDash val="solid"/>
            <a:tailEnd type="triangle"/>
          </a:ln>
        </p:spPr>
      </p:sp>
      <p:sp>
        <p:nvSpPr>
          <p:cNvPr id="30" name="Shape 25"/>
          <p:cNvSpPr/>
          <p:nvPr/>
        </p:nvSpPr>
        <p:spPr>
          <a:xfrm>
            <a:off x="3084576" y="3685032"/>
            <a:ext cx="2206752"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31" name="Text 26"/>
          <p:cNvSpPr txBox="1"/>
          <p:nvPr/>
        </p:nvSpPr>
        <p:spPr>
          <a:xfrm>
            <a:off x="3221736" y="3794760"/>
            <a:ext cx="457200" cy="228600"/>
          </a:xfrm>
          <a:prstGeom prst="rect">
            <a:avLst/>
          </a:prstGeom>
          <a:noFill/>
          <a:ln/>
        </p:spPr>
        <p:txBody>
          <a:bodyPr wrap="square" lIns="0" tIns="0" rIns="0" bIns="0" rtlCol="0" anchor="t"/>
          <a:lstStyle/>
          <a:p>
            <a:pPr indent="0" marL="0">
              <a:buNone/>
            </a:pPr>
            <a:r>
              <a:rPr lang="en-US" sz="1000" b="1" dirty="0">
                <a:solidFill>
                  <a:srgbClr val="8A6732"/>
                </a:solidFill>
                <a:latin typeface="Calibri" pitchFamily="34" charset="0"/>
                <a:ea typeface="Calibri" pitchFamily="34" charset="-122"/>
                <a:cs typeface="Calibri" pitchFamily="34" charset="-120"/>
              </a:rPr>
              <a:t>02</a:t>
            </a:r>
            <a:endParaRPr lang="en-US" sz="1000" dirty="0"/>
          </a:p>
        </p:txBody>
      </p:sp>
      <p:sp>
        <p:nvSpPr>
          <p:cNvPr id="32" name="Text 27"/>
          <p:cNvSpPr txBox="1"/>
          <p:nvPr/>
        </p:nvSpPr>
        <p:spPr>
          <a:xfrm>
            <a:off x="3221736" y="4014216"/>
            <a:ext cx="1932432" cy="621792"/>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Trình duyệt mở trang /q/ZONE_A01</a:t>
            </a:r>
            <a:endParaRPr lang="en-US" sz="1200" dirty="0"/>
          </a:p>
        </p:txBody>
      </p:sp>
      <p:sp>
        <p:nvSpPr>
          <p:cNvPr id="33" name="Shape 28"/>
          <p:cNvSpPr/>
          <p:nvPr/>
        </p:nvSpPr>
        <p:spPr>
          <a:xfrm>
            <a:off x="5327904" y="4187952"/>
            <a:ext cx="256032" cy="914"/>
          </a:xfrm>
          <a:prstGeom prst="line">
            <a:avLst/>
          </a:prstGeom>
          <a:noFill/>
          <a:ln w="22225">
            <a:solidFill>
              <a:srgbClr val="B08A4F"/>
            </a:solidFill>
            <a:prstDash val="solid"/>
            <a:tailEnd type="triangle"/>
          </a:ln>
        </p:spPr>
      </p:sp>
      <p:sp>
        <p:nvSpPr>
          <p:cNvPr id="34" name="Shape 29"/>
          <p:cNvSpPr/>
          <p:nvPr/>
        </p:nvSpPr>
        <p:spPr>
          <a:xfrm>
            <a:off x="5620512" y="3685032"/>
            <a:ext cx="2206752" cy="1005840"/>
          </a:xfrm>
          <a:prstGeom prst="roundRect">
            <a:avLst>
              <a:gd name="adj" fmla="val 7273"/>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35" name="Text 30"/>
          <p:cNvSpPr txBox="1"/>
          <p:nvPr/>
        </p:nvSpPr>
        <p:spPr>
          <a:xfrm>
            <a:off x="5757672" y="3794760"/>
            <a:ext cx="457200" cy="228600"/>
          </a:xfrm>
          <a:prstGeom prst="rect">
            <a:avLst/>
          </a:prstGeom>
          <a:noFill/>
          <a:ln/>
        </p:spPr>
        <p:txBody>
          <a:bodyPr wrap="square" lIns="0" tIns="0" rIns="0" bIns="0" rtlCol="0" anchor="t"/>
          <a:lstStyle/>
          <a:p>
            <a:pPr indent="0" marL="0">
              <a:buNone/>
            </a:pPr>
            <a:r>
              <a:rPr lang="en-US" sz="1000" b="1" dirty="0">
                <a:solidFill>
                  <a:srgbClr val="8A6732"/>
                </a:solidFill>
                <a:latin typeface="Calibri" pitchFamily="34" charset="0"/>
                <a:ea typeface="Calibri" pitchFamily="34" charset="-122"/>
                <a:cs typeface="Calibri" pitchFamily="34" charset="-120"/>
              </a:rPr>
              <a:t>03</a:t>
            </a:r>
            <a:endParaRPr lang="en-US" sz="1000" dirty="0"/>
          </a:p>
        </p:txBody>
      </p:sp>
      <p:sp>
        <p:nvSpPr>
          <p:cNvPr id="36" name="Text 31"/>
          <p:cNvSpPr txBox="1"/>
          <p:nvPr/>
        </p:nvSpPr>
        <p:spPr>
          <a:xfrm>
            <a:off x="5757672" y="4014216"/>
            <a:ext cx="1932432" cy="621792"/>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Trang web gọi API theo mã zone</a:t>
            </a:r>
            <a:endParaRPr lang="en-US" sz="1200" dirty="0"/>
          </a:p>
        </p:txBody>
      </p:sp>
      <p:sp>
        <p:nvSpPr>
          <p:cNvPr id="37" name="Shape 32"/>
          <p:cNvSpPr/>
          <p:nvPr/>
        </p:nvSpPr>
        <p:spPr>
          <a:xfrm>
            <a:off x="8229600" y="1901952"/>
            <a:ext cx="3410712" cy="2788920"/>
          </a:xfrm>
          <a:prstGeom prst="roundRect">
            <a:avLst>
              <a:gd name="adj" fmla="val 2623"/>
            </a:avLst>
          </a:prstGeom>
          <a:solidFill>
            <a:srgbClr val="5E2420"/>
          </a:solidFill>
          <a:ln w="9525">
            <a:solidFill>
              <a:srgbClr val="5E2420"/>
            </a:solidFill>
            <a:prstDash val="solid"/>
          </a:ln>
          <a:effectLst>
            <a:outerShdw sx="100000" sy="100000" kx="0" ky="0" algn="bl" rotWithShape="0" blurRad="127000" dist="25400" dir="5400000">
              <a:srgbClr val="000000">
                <a:alpha val="8000"/>
              </a:srgbClr>
            </a:outerShdw>
          </a:effectLst>
        </p:spPr>
      </p:sp>
      <p:sp>
        <p:nvSpPr>
          <p:cNvPr id="38" name="Shape 33"/>
          <p:cNvSpPr/>
          <p:nvPr/>
        </p:nvSpPr>
        <p:spPr>
          <a:xfrm>
            <a:off x="7863840" y="2404872"/>
            <a:ext cx="329184" cy="914"/>
          </a:xfrm>
          <a:prstGeom prst="line">
            <a:avLst/>
          </a:prstGeom>
          <a:noFill/>
          <a:ln w="22225">
            <a:solidFill>
              <a:srgbClr val="B08A4F"/>
            </a:solidFill>
            <a:prstDash val="solid"/>
            <a:tailEnd type="triangle"/>
          </a:ln>
        </p:spPr>
      </p:sp>
      <p:sp>
        <p:nvSpPr>
          <p:cNvPr id="39" name="Shape 34"/>
          <p:cNvSpPr/>
          <p:nvPr/>
        </p:nvSpPr>
        <p:spPr>
          <a:xfrm>
            <a:off x="7863840" y="4187952"/>
            <a:ext cx="329184" cy="914"/>
          </a:xfrm>
          <a:prstGeom prst="line">
            <a:avLst/>
          </a:prstGeom>
          <a:noFill/>
          <a:ln w="22225">
            <a:solidFill>
              <a:srgbClr val="B08A4F"/>
            </a:solidFill>
            <a:prstDash val="solid"/>
            <a:tailEnd type="triangle"/>
          </a:ln>
        </p:spPr>
      </p:sp>
      <p:sp>
        <p:nvSpPr>
          <p:cNvPr id="40" name="Text 35"/>
          <p:cNvSpPr txBox="1"/>
          <p:nvPr/>
        </p:nvSpPr>
        <p:spPr>
          <a:xfrm>
            <a:off x="8458200" y="2029968"/>
            <a:ext cx="2953512"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API xác định nội dung</a:t>
            </a:r>
            <a:endParaRPr lang="en-US" sz="1500" dirty="0"/>
          </a:p>
        </p:txBody>
      </p:sp>
      <p:sp>
        <p:nvSpPr>
          <p:cNvPr id="41" name="Text 36"/>
          <p:cNvSpPr txBox="1"/>
          <p:nvPr/>
        </p:nvSpPr>
        <p:spPr>
          <a:xfrm>
            <a:off x="8458200" y="2359152"/>
            <a:ext cx="3044952" cy="365760"/>
          </a:xfrm>
          <a:prstGeom prst="rect">
            <a:avLst/>
          </a:prstGeom>
          <a:noFill/>
          <a:ln/>
        </p:spPr>
        <p:txBody>
          <a:bodyPr wrap="square" lIns="0" tIns="0" rIns="0" bIns="0" rtlCol="0" anchor="t"/>
          <a:lstStyle/>
          <a:p>
            <a:pPr indent="0" marL="0">
              <a:buNone/>
            </a:pPr>
            <a:r>
              <a:rPr lang="en-US" sz="850" dirty="0">
                <a:solidFill>
                  <a:srgbClr val="EFE6DA"/>
                </a:solidFill>
                <a:latin typeface="Courier New" pitchFamily="34" charset="0"/>
                <a:ea typeface="Courier New" pitchFamily="34" charset="-122"/>
                <a:cs typeface="Courier New" pitchFamily="34" charset="-120"/>
              </a:rPr>
              <a:t>GET /public/beacons/:id/active-exhibit</a:t>
            </a:r>
            <a:endParaRPr lang="en-US" sz="850" dirty="0"/>
          </a:p>
          <a:p>
            <a:pPr indent="0" marL="0">
              <a:buNone/>
            </a:pPr>
            <a:r>
              <a:rPr lang="en-US" sz="850" dirty="0">
                <a:solidFill>
                  <a:srgbClr val="EFE6DA"/>
                </a:solidFill>
                <a:latin typeface="Courier New" pitchFamily="34" charset="0"/>
                <a:ea typeface="Courier New" pitchFamily="34" charset="-122"/>
                <a:cs typeface="Courier New" pitchFamily="34" charset="-120"/>
              </a:rPr>
              <a:t>GET /public/zones/:code/active-exhibit</a:t>
            </a:r>
            <a:endParaRPr lang="en-US" sz="850" dirty="0"/>
          </a:p>
        </p:txBody>
      </p:sp>
      <p:sp>
        <p:nvSpPr>
          <p:cNvPr id="42" name="Shape 37"/>
          <p:cNvSpPr/>
          <p:nvPr/>
        </p:nvSpPr>
        <p:spPr>
          <a:xfrm>
            <a:off x="8458200" y="2871216"/>
            <a:ext cx="237744" cy="237744"/>
          </a:xfrm>
          <a:prstGeom prst="ellipse">
            <a:avLst/>
          </a:prstGeom>
          <a:solidFill>
            <a:srgbClr val="B08A4F"/>
          </a:solidFill>
          <a:ln w="12700">
            <a:solidFill>
              <a:srgbClr val="B08A4F"/>
            </a:solidFill>
            <a:prstDash val="solid"/>
          </a:ln>
        </p:spPr>
      </p:sp>
      <p:sp>
        <p:nvSpPr>
          <p:cNvPr id="43" name="Text 38"/>
          <p:cNvSpPr txBox="1"/>
          <p:nvPr/>
        </p:nvSpPr>
        <p:spPr>
          <a:xfrm>
            <a:off x="8458200" y="287121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44" name="Text 39"/>
          <p:cNvSpPr txBox="1"/>
          <p:nvPr/>
        </p:nvSpPr>
        <p:spPr>
          <a:xfrm>
            <a:off x="8796528" y="2834640"/>
            <a:ext cx="2679192" cy="31089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Beacon / mã QR → Zone</a:t>
            </a:r>
            <a:endParaRPr lang="en-US" sz="1200" dirty="0"/>
          </a:p>
        </p:txBody>
      </p:sp>
      <p:sp>
        <p:nvSpPr>
          <p:cNvPr id="45" name="Shape 40"/>
          <p:cNvSpPr/>
          <p:nvPr/>
        </p:nvSpPr>
        <p:spPr>
          <a:xfrm>
            <a:off x="8458200" y="3255264"/>
            <a:ext cx="237744" cy="237744"/>
          </a:xfrm>
          <a:prstGeom prst="ellipse">
            <a:avLst/>
          </a:prstGeom>
          <a:solidFill>
            <a:srgbClr val="B08A4F"/>
          </a:solidFill>
          <a:ln w="12700">
            <a:solidFill>
              <a:srgbClr val="B08A4F"/>
            </a:solidFill>
            <a:prstDash val="solid"/>
          </a:ln>
        </p:spPr>
      </p:sp>
      <p:sp>
        <p:nvSpPr>
          <p:cNvPr id="46" name="Text 41"/>
          <p:cNvSpPr txBox="1"/>
          <p:nvPr/>
        </p:nvSpPr>
        <p:spPr>
          <a:xfrm>
            <a:off x="8458200" y="3255264"/>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47" name="Text 42"/>
          <p:cNvSpPr txBox="1"/>
          <p:nvPr/>
        </p:nvSpPr>
        <p:spPr>
          <a:xfrm>
            <a:off x="8796528" y="3218688"/>
            <a:ext cx="2679192" cy="31089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Bản gán đang hiệu lực lúc này</a:t>
            </a:r>
            <a:endParaRPr lang="en-US" sz="1200" dirty="0"/>
          </a:p>
        </p:txBody>
      </p:sp>
      <p:sp>
        <p:nvSpPr>
          <p:cNvPr id="48" name="Shape 43"/>
          <p:cNvSpPr/>
          <p:nvPr/>
        </p:nvSpPr>
        <p:spPr>
          <a:xfrm>
            <a:off x="8458200" y="3639312"/>
            <a:ext cx="237744" cy="237744"/>
          </a:xfrm>
          <a:prstGeom prst="ellipse">
            <a:avLst/>
          </a:prstGeom>
          <a:solidFill>
            <a:srgbClr val="B08A4F"/>
          </a:solidFill>
          <a:ln w="12700">
            <a:solidFill>
              <a:srgbClr val="B08A4F"/>
            </a:solidFill>
            <a:prstDash val="solid"/>
          </a:ln>
        </p:spPr>
      </p:sp>
      <p:sp>
        <p:nvSpPr>
          <p:cNvPr id="49" name="Text 44"/>
          <p:cNvSpPr txBox="1"/>
          <p:nvPr/>
        </p:nvSpPr>
        <p:spPr>
          <a:xfrm>
            <a:off x="8458200" y="3639312"/>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50" name="Text 45"/>
          <p:cNvSpPr txBox="1"/>
          <p:nvPr/>
        </p:nvSpPr>
        <p:spPr>
          <a:xfrm>
            <a:off x="8796528" y="3602736"/>
            <a:ext cx="2679192" cy="31089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Hiện vật đã PUBLISHED</a:t>
            </a:r>
            <a:endParaRPr lang="en-US" sz="1200" dirty="0"/>
          </a:p>
        </p:txBody>
      </p:sp>
      <p:sp>
        <p:nvSpPr>
          <p:cNvPr id="51" name="Shape 46"/>
          <p:cNvSpPr/>
          <p:nvPr/>
        </p:nvSpPr>
        <p:spPr>
          <a:xfrm>
            <a:off x="8458200" y="4023360"/>
            <a:ext cx="237744" cy="237744"/>
          </a:xfrm>
          <a:prstGeom prst="ellipse">
            <a:avLst/>
          </a:prstGeom>
          <a:solidFill>
            <a:srgbClr val="B08A4F"/>
          </a:solidFill>
          <a:ln w="12700">
            <a:solidFill>
              <a:srgbClr val="B08A4F"/>
            </a:solidFill>
            <a:prstDash val="solid"/>
          </a:ln>
        </p:spPr>
      </p:sp>
      <p:sp>
        <p:nvSpPr>
          <p:cNvPr id="52" name="Text 47"/>
          <p:cNvSpPr txBox="1"/>
          <p:nvPr/>
        </p:nvSpPr>
        <p:spPr>
          <a:xfrm>
            <a:off x="8458200" y="4023360"/>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53" name="Text 48"/>
          <p:cNvSpPr txBox="1"/>
          <p:nvPr/>
        </p:nvSpPr>
        <p:spPr>
          <a:xfrm>
            <a:off x="8796528" y="3986784"/>
            <a:ext cx="2679192" cy="310896"/>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Bản dịch phù hợp (có dự phòng)</a:t>
            </a:r>
            <a:endParaRPr lang="en-US" sz="1200" dirty="0"/>
          </a:p>
        </p:txBody>
      </p:sp>
      <p:sp>
        <p:nvSpPr>
          <p:cNvPr id="54" name="Text 49"/>
          <p:cNvSpPr txBox="1"/>
          <p:nvPr/>
        </p:nvSpPr>
        <p:spPr>
          <a:xfrm>
            <a:off x="8458200" y="4389120"/>
            <a:ext cx="3044952" cy="237744"/>
          </a:xfrm>
          <a:prstGeom prst="rect">
            <a:avLst/>
          </a:prstGeom>
          <a:noFill/>
          <a:ln/>
        </p:spPr>
        <p:txBody>
          <a:bodyPr wrap="square" lIns="0" tIns="0" rIns="0" bIns="0" rtlCol="0" anchor="t"/>
          <a:lstStyle/>
          <a:p>
            <a:pPr indent="0" marL="0">
              <a:buNone/>
            </a:pPr>
            <a:r>
              <a:rPr lang="en-US" sz="1100" b="1" dirty="0">
                <a:solidFill>
                  <a:srgbClr val="B08A4F"/>
                </a:solidFill>
                <a:latin typeface="Calibri" pitchFamily="34" charset="0"/>
                <a:ea typeface="Calibri" pitchFamily="34" charset="-122"/>
                <a:cs typeface="Calibri" pitchFamily="34" charset="-120"/>
              </a:rPr>
              <a:t>→ JSON: tiêu đề · mô tả · audio · ảnh</a:t>
            </a:r>
            <a:endParaRPr lang="en-US" sz="1100" dirty="0"/>
          </a:p>
        </p:txBody>
      </p:sp>
      <p:sp>
        <p:nvSpPr>
          <p:cNvPr id="55" name="Shape 50"/>
          <p:cNvSpPr/>
          <p:nvPr/>
        </p:nvSpPr>
        <p:spPr>
          <a:xfrm>
            <a:off x="548640" y="5074920"/>
            <a:ext cx="11091672" cy="960120"/>
          </a:xfrm>
          <a:prstGeom prst="roundRect">
            <a:avLst>
              <a:gd name="adj" fmla="val 7619"/>
            </a:avLst>
          </a:prstGeom>
          <a:solidFill>
            <a:srgbClr val="EFE6DA"/>
          </a:solidFill>
          <a:ln w="9525">
            <a:solidFill>
              <a:srgbClr val="EFE6DA"/>
            </a:solidFill>
            <a:prstDash val="solid"/>
          </a:ln>
        </p:spPr>
      </p:sp>
      <p:pic>
        <p:nvPicPr>
          <p:cNvPr id="56" name="Image 3" descr="Biểu tượng">    </p:cNvPr>
          <p:cNvPicPr>
            <a:picLocks noChangeAspect="1"/>
          </p:cNvPicPr>
          <p:nvPr/>
        </p:nvPicPr>
        <p:blipFill>
          <a:blip r:embed="rId4"/>
          <a:stretch>
            <a:fillRect/>
          </a:stretch>
        </p:blipFill>
        <p:spPr>
          <a:xfrm>
            <a:off x="822960" y="5349240"/>
            <a:ext cx="411480" cy="411480"/>
          </a:xfrm>
          <a:prstGeom prst="rect">
            <a:avLst/>
          </a:prstGeom>
        </p:spPr>
      </p:pic>
      <p:sp>
        <p:nvSpPr>
          <p:cNvPr id="57" name="Text 51"/>
          <p:cNvSpPr txBox="1"/>
          <p:nvPr/>
        </p:nvSpPr>
        <p:spPr>
          <a:xfrm>
            <a:off x="1463040" y="5074920"/>
            <a:ext cx="9966960" cy="960120"/>
          </a:xfrm>
          <a:prstGeom prst="rect">
            <a:avLst/>
          </a:prstGeom>
          <a:noFill/>
          <a:ln/>
        </p:spPr>
        <p:txBody>
          <a:bodyPr wrap="square" lIns="0" tIns="0" rIns="0" bIns="0" rtlCol="0" anchor="ctr"/>
          <a:lstStyle/>
          <a:p>
            <a:pPr indent="0" marL="0">
              <a:buNone/>
            </a:pPr>
            <a:r>
              <a:rPr lang="en-US" sz="1350" b="1" dirty="0">
                <a:solidFill>
                  <a:srgbClr val="5E2420"/>
                </a:solidFill>
                <a:latin typeface="Calibri" pitchFamily="34" charset="0"/>
                <a:ea typeface="Calibri" pitchFamily="34" charset="-122"/>
                <a:cs typeface="Calibri" pitchFamily="34" charset="-120"/>
              </a:rPr>
              <a:t>Kết quả cho khách: </a:t>
            </a:r>
            <a:pPr indent="0" marL="0">
              <a:buNone/>
            </a:pPr>
            <a:r>
              <a:rPr lang="en-US" sz="1350" dirty="0">
                <a:solidFill>
                  <a:srgbClr val="231D1A"/>
                </a:solidFill>
                <a:latin typeface="Calibri" pitchFamily="34" charset="0"/>
                <a:ea typeface="Calibri" pitchFamily="34" charset="-122"/>
                <a:cs typeface="Calibri" pitchFamily="34" charset="-120"/>
              </a:rPr>
              <a:t>đọc mô tả, nghe audio, đổi ngôn ngữ bất cứ lúc nào. </a:t>
            </a:r>
            <a:pPr indent="0" marL="0">
              <a:buNone/>
            </a:pPr>
            <a:r>
              <a:rPr lang="en-US" sz="1350" b="1" dirty="0">
                <a:solidFill>
                  <a:srgbClr val="231D1A"/>
                </a:solidFill>
                <a:latin typeface="Calibri" pitchFamily="34" charset="0"/>
                <a:ea typeface="Calibri" pitchFamily="34" charset="-122"/>
                <a:cs typeface="Calibri" pitchFamily="34" charset="-120"/>
              </a:rPr>
              <a:t>App mobile chỉ gọi API khi xác nhận một zone mới — không gửi từng mẫu RSSI lên máy chủ.</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05 · NHẬN DIỆN VỊ TRÍ</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Pipeline xử lý tín hiệu BLE ngay trên điện thoại</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10 / 20</a:t>
            </a:r>
            <a:endParaRPr lang="en-US" sz="900" dirty="0"/>
          </a:p>
        </p:txBody>
      </p:sp>
      <p:sp>
        <p:nvSpPr>
          <p:cNvPr id="7" name="Shape 4"/>
          <p:cNvSpPr/>
          <p:nvPr/>
        </p:nvSpPr>
        <p:spPr>
          <a:xfrm>
            <a:off x="548640" y="1572768"/>
            <a:ext cx="2484882" cy="3063240"/>
          </a:xfrm>
          <a:prstGeom prst="roundRect">
            <a:avLst>
              <a:gd name="adj" fmla="val 294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8" name="Image 1" descr="Họa tiết vòm trang trí">    </p:cNvPr>
          <p:cNvPicPr>
            <a:picLocks noChangeAspect="1"/>
          </p:cNvPicPr>
          <p:nvPr/>
        </p:nvPicPr>
        <p:blipFill>
          <a:blip r:embed="rId2"/>
          <a:stretch>
            <a:fillRect/>
          </a:stretch>
        </p:blipFill>
        <p:spPr>
          <a:xfrm>
            <a:off x="777240" y="1755648"/>
            <a:ext cx="420624" cy="560832"/>
          </a:xfrm>
          <a:prstGeom prst="rect">
            <a:avLst/>
          </a:prstGeom>
        </p:spPr>
      </p:pic>
      <p:pic>
        <p:nvPicPr>
          <p:cNvPr id="9" name="Image 2" descr="Biểu tượng">    </p:cNvPr>
          <p:cNvPicPr>
            <a:picLocks noChangeAspect="1"/>
          </p:cNvPicPr>
          <p:nvPr/>
        </p:nvPicPr>
        <p:blipFill>
          <a:blip r:embed="rId3"/>
          <a:stretch>
            <a:fillRect/>
          </a:stretch>
        </p:blipFill>
        <p:spPr>
          <a:xfrm>
            <a:off x="882396" y="1991197"/>
            <a:ext cx="210312" cy="210312"/>
          </a:xfrm>
          <a:prstGeom prst="rect">
            <a:avLst/>
          </a:prstGeom>
        </p:spPr>
      </p:pic>
      <p:sp>
        <p:nvSpPr>
          <p:cNvPr id="10" name="Text 5"/>
          <p:cNvSpPr txBox="1"/>
          <p:nvPr/>
        </p:nvSpPr>
        <p:spPr>
          <a:xfrm>
            <a:off x="1325880" y="1956816"/>
            <a:ext cx="109728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BƯỚC 1</a:t>
            </a:r>
            <a:endParaRPr lang="en-US" sz="1000" dirty="0"/>
          </a:p>
        </p:txBody>
      </p:sp>
      <p:sp>
        <p:nvSpPr>
          <p:cNvPr id="11" name="Text 6"/>
          <p:cNvSpPr txBox="1"/>
          <p:nvPr/>
        </p:nvSpPr>
        <p:spPr>
          <a:xfrm>
            <a:off x="777240" y="2414016"/>
            <a:ext cx="2119122" cy="320040"/>
          </a:xfrm>
          <a:prstGeom prst="rect">
            <a:avLst/>
          </a:prstGeom>
          <a:noFill/>
          <a:ln/>
        </p:spPr>
        <p:txBody>
          <a:bodyPr wrap="square" lIns="0" tIns="0" rIns="0" bIns="0" rtlCol="0" anchor="t"/>
          <a:lstStyle/>
          <a:p>
            <a:pPr indent="0" marL="0">
              <a:buNone/>
            </a:pPr>
            <a:r>
              <a:rPr lang="en-US" sz="1550" b="1" dirty="0">
                <a:solidFill>
                  <a:srgbClr val="231D1A"/>
                </a:solidFill>
                <a:latin typeface="Calibri" pitchFamily="34" charset="0"/>
                <a:ea typeface="Calibri" pitchFamily="34" charset="-122"/>
                <a:cs typeface="Calibri" pitchFamily="34" charset="-120"/>
              </a:rPr>
              <a:t>Nguồn tín hiệu</a:t>
            </a:r>
            <a:endParaRPr lang="en-US" sz="1550" dirty="0"/>
          </a:p>
        </p:txBody>
      </p:sp>
      <p:sp>
        <p:nvSpPr>
          <p:cNvPr id="12" name="Text 7"/>
          <p:cNvSpPr txBox="1"/>
          <p:nvPr/>
        </p:nvSpPr>
        <p:spPr>
          <a:xfrm>
            <a:off x="777240" y="2734056"/>
            <a:ext cx="2119122" cy="228600"/>
          </a:xfrm>
          <a:prstGeom prst="rect">
            <a:avLst/>
          </a:prstGeom>
          <a:noFill/>
          <a:ln/>
        </p:spPr>
        <p:txBody>
          <a:bodyPr wrap="square" lIns="0" tIns="0" rIns="0" bIns="0" rtlCol="0" anchor="t"/>
          <a:lstStyle/>
          <a:p>
            <a:pPr indent="0" marL="0">
              <a:buNone/>
            </a:pPr>
            <a:r>
              <a:rPr lang="en-US" sz="950" dirty="0">
                <a:solidFill>
                  <a:srgbClr val="6B5F58"/>
                </a:solidFill>
                <a:latin typeface="Courier New" pitchFamily="34" charset="0"/>
                <a:ea typeface="Courier New" pitchFamily="34" charset="-122"/>
                <a:cs typeface="Courier New" pitchFamily="34" charset="-120"/>
              </a:rPr>
              <a:t>BeaconSignalSource</a:t>
            </a:r>
            <a:endParaRPr lang="en-US" sz="950" dirty="0"/>
          </a:p>
        </p:txBody>
      </p:sp>
      <p:sp>
        <p:nvSpPr>
          <p:cNvPr id="13" name="Text 8"/>
          <p:cNvSpPr txBox="1"/>
          <p:nvPr/>
        </p:nvSpPr>
        <p:spPr>
          <a:xfrm>
            <a:off x="749808" y="3054096"/>
            <a:ext cx="2119122" cy="1536192"/>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Thật: react-native-ble-plx</a:t>
            </a:r>
            <a:endParaRPr lang="en-US" sz="1150" dirty="0"/>
          </a:p>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Mô phỏng: tín hiệu xác định cho phát triển &amp; demo</a:t>
            </a:r>
            <a:endParaRPr lang="en-US" sz="1150" dirty="0"/>
          </a:p>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Nhận diện theo payload Eddystone-UID / iBeacon</a:t>
            </a:r>
            <a:endParaRPr lang="en-US" sz="1150" dirty="0"/>
          </a:p>
        </p:txBody>
      </p:sp>
      <p:sp>
        <p:nvSpPr>
          <p:cNvPr id="14" name="Shape 9"/>
          <p:cNvSpPr/>
          <p:nvPr/>
        </p:nvSpPr>
        <p:spPr>
          <a:xfrm>
            <a:off x="3079242" y="3099816"/>
            <a:ext cx="292608" cy="914"/>
          </a:xfrm>
          <a:prstGeom prst="line">
            <a:avLst/>
          </a:prstGeom>
          <a:noFill/>
          <a:ln w="22225">
            <a:solidFill>
              <a:srgbClr val="B08A4F"/>
            </a:solidFill>
            <a:prstDash val="solid"/>
            <a:tailEnd type="triangle"/>
          </a:ln>
        </p:spPr>
      </p:sp>
      <p:sp>
        <p:nvSpPr>
          <p:cNvPr id="15" name="Shape 10"/>
          <p:cNvSpPr/>
          <p:nvPr/>
        </p:nvSpPr>
        <p:spPr>
          <a:xfrm>
            <a:off x="3417570" y="1572768"/>
            <a:ext cx="2484882" cy="3063240"/>
          </a:xfrm>
          <a:prstGeom prst="roundRect">
            <a:avLst>
              <a:gd name="adj" fmla="val 294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16" name="Image 3" descr="Họa tiết vòm trang trí">    </p:cNvPr>
          <p:cNvPicPr>
            <a:picLocks noChangeAspect="1"/>
          </p:cNvPicPr>
          <p:nvPr/>
        </p:nvPicPr>
        <p:blipFill>
          <a:blip r:embed="rId4"/>
          <a:stretch>
            <a:fillRect/>
          </a:stretch>
        </p:blipFill>
        <p:spPr>
          <a:xfrm>
            <a:off x="3646170" y="1755648"/>
            <a:ext cx="420624" cy="560832"/>
          </a:xfrm>
          <a:prstGeom prst="rect">
            <a:avLst/>
          </a:prstGeom>
        </p:spPr>
      </p:pic>
      <p:pic>
        <p:nvPicPr>
          <p:cNvPr id="17" name="Image 4" descr="Biểu tượng">    </p:cNvPr>
          <p:cNvPicPr>
            <a:picLocks noChangeAspect="1"/>
          </p:cNvPicPr>
          <p:nvPr/>
        </p:nvPicPr>
        <p:blipFill>
          <a:blip r:embed="rId5"/>
          <a:stretch>
            <a:fillRect/>
          </a:stretch>
        </p:blipFill>
        <p:spPr>
          <a:xfrm>
            <a:off x="3751326" y="1991197"/>
            <a:ext cx="210312" cy="210312"/>
          </a:xfrm>
          <a:prstGeom prst="rect">
            <a:avLst/>
          </a:prstGeom>
        </p:spPr>
      </p:pic>
      <p:sp>
        <p:nvSpPr>
          <p:cNvPr id="18" name="Text 11"/>
          <p:cNvSpPr txBox="1"/>
          <p:nvPr/>
        </p:nvSpPr>
        <p:spPr>
          <a:xfrm>
            <a:off x="4194810" y="1956816"/>
            <a:ext cx="109728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BƯỚC 2</a:t>
            </a:r>
            <a:endParaRPr lang="en-US" sz="1000" dirty="0"/>
          </a:p>
        </p:txBody>
      </p:sp>
      <p:sp>
        <p:nvSpPr>
          <p:cNvPr id="19" name="Text 12"/>
          <p:cNvSpPr txBox="1"/>
          <p:nvPr/>
        </p:nvSpPr>
        <p:spPr>
          <a:xfrm>
            <a:off x="3646170" y="2414016"/>
            <a:ext cx="2119122" cy="320040"/>
          </a:xfrm>
          <a:prstGeom prst="rect">
            <a:avLst/>
          </a:prstGeom>
          <a:noFill/>
          <a:ln/>
        </p:spPr>
        <p:txBody>
          <a:bodyPr wrap="square" lIns="0" tIns="0" rIns="0" bIns="0" rtlCol="0" anchor="t"/>
          <a:lstStyle/>
          <a:p>
            <a:pPr indent="0" marL="0">
              <a:buNone/>
            </a:pPr>
            <a:r>
              <a:rPr lang="en-US" sz="1550" b="1" dirty="0">
                <a:solidFill>
                  <a:srgbClr val="231D1A"/>
                </a:solidFill>
                <a:latin typeface="Calibri" pitchFamily="34" charset="0"/>
                <a:ea typeface="Calibri" pitchFamily="34" charset="-122"/>
                <a:cs typeface="Calibri" pitchFamily="34" charset="-120"/>
              </a:rPr>
              <a:t>Làm sạch &amp; làm mượt</a:t>
            </a:r>
            <a:endParaRPr lang="en-US" sz="1550" dirty="0"/>
          </a:p>
        </p:txBody>
      </p:sp>
      <p:sp>
        <p:nvSpPr>
          <p:cNvPr id="20" name="Text 13"/>
          <p:cNvSpPr txBox="1"/>
          <p:nvPr/>
        </p:nvSpPr>
        <p:spPr>
          <a:xfrm>
            <a:off x="3646170" y="2734056"/>
            <a:ext cx="2119122" cy="228600"/>
          </a:xfrm>
          <a:prstGeom prst="rect">
            <a:avLst/>
          </a:prstGeom>
          <a:noFill/>
          <a:ln/>
        </p:spPr>
        <p:txBody>
          <a:bodyPr wrap="square" lIns="0" tIns="0" rIns="0" bIns="0" rtlCol="0" anchor="t"/>
          <a:lstStyle/>
          <a:p>
            <a:pPr indent="0" marL="0">
              <a:buNone/>
            </a:pPr>
            <a:r>
              <a:rPr lang="en-US" sz="950" dirty="0">
                <a:solidFill>
                  <a:srgbClr val="6B5F58"/>
                </a:solidFill>
                <a:latin typeface="Courier New" pitchFamily="34" charset="0"/>
                <a:ea typeface="Courier New" pitchFamily="34" charset="-122"/>
                <a:cs typeface="Courier New" pitchFamily="34" charset="-120"/>
              </a:rPr>
              <a:t>SignalProcessor</a:t>
            </a:r>
            <a:endParaRPr lang="en-US" sz="950" dirty="0"/>
          </a:p>
        </p:txBody>
      </p:sp>
      <p:sp>
        <p:nvSpPr>
          <p:cNvPr id="21" name="Text 14"/>
          <p:cNvSpPr txBox="1"/>
          <p:nvPr/>
        </p:nvSpPr>
        <p:spPr>
          <a:xfrm>
            <a:off x="3618738" y="3054096"/>
            <a:ext cx="2119122" cy="1536192"/>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Cửa sổ trượt 4 s, tối đa 25 mẫu mỗi beacon</a:t>
            </a:r>
            <a:endParaRPr lang="en-US" sz="1150" dirty="0"/>
          </a:p>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Loại mẫu lệch quá 12 dB so với median</a:t>
            </a:r>
            <a:endParaRPr lang="en-US" sz="1150" dirty="0"/>
          </a:p>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Trung bình trượt có trọng số: mẫu mới nặng hơn</a:t>
            </a:r>
            <a:endParaRPr lang="en-US" sz="1150" dirty="0"/>
          </a:p>
        </p:txBody>
      </p:sp>
      <p:sp>
        <p:nvSpPr>
          <p:cNvPr id="22" name="Shape 15"/>
          <p:cNvSpPr/>
          <p:nvPr/>
        </p:nvSpPr>
        <p:spPr>
          <a:xfrm>
            <a:off x="5948172" y="3099816"/>
            <a:ext cx="292608" cy="914"/>
          </a:xfrm>
          <a:prstGeom prst="line">
            <a:avLst/>
          </a:prstGeom>
          <a:noFill/>
          <a:ln w="22225">
            <a:solidFill>
              <a:srgbClr val="B08A4F"/>
            </a:solidFill>
            <a:prstDash val="solid"/>
            <a:tailEnd type="triangle"/>
          </a:ln>
        </p:spPr>
      </p:sp>
      <p:sp>
        <p:nvSpPr>
          <p:cNvPr id="23" name="Shape 16"/>
          <p:cNvSpPr/>
          <p:nvPr/>
        </p:nvSpPr>
        <p:spPr>
          <a:xfrm>
            <a:off x="6286500" y="1572768"/>
            <a:ext cx="2484882" cy="3063240"/>
          </a:xfrm>
          <a:prstGeom prst="roundRect">
            <a:avLst>
              <a:gd name="adj" fmla="val 294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24" name="Image 5" descr="Họa tiết vòm trang trí">    </p:cNvPr>
          <p:cNvPicPr>
            <a:picLocks noChangeAspect="1"/>
          </p:cNvPicPr>
          <p:nvPr/>
        </p:nvPicPr>
        <p:blipFill>
          <a:blip r:embed="rId6"/>
          <a:stretch>
            <a:fillRect/>
          </a:stretch>
        </p:blipFill>
        <p:spPr>
          <a:xfrm>
            <a:off x="6515100" y="1755648"/>
            <a:ext cx="420624" cy="560832"/>
          </a:xfrm>
          <a:prstGeom prst="rect">
            <a:avLst/>
          </a:prstGeom>
        </p:spPr>
      </p:pic>
      <p:pic>
        <p:nvPicPr>
          <p:cNvPr id="25" name="Image 6" descr="Biểu tượng">    </p:cNvPr>
          <p:cNvPicPr>
            <a:picLocks noChangeAspect="1"/>
          </p:cNvPicPr>
          <p:nvPr/>
        </p:nvPicPr>
        <p:blipFill>
          <a:blip r:embed="rId7"/>
          <a:stretch>
            <a:fillRect/>
          </a:stretch>
        </p:blipFill>
        <p:spPr>
          <a:xfrm>
            <a:off x="6620256" y="1991197"/>
            <a:ext cx="210312" cy="210312"/>
          </a:xfrm>
          <a:prstGeom prst="rect">
            <a:avLst/>
          </a:prstGeom>
        </p:spPr>
      </p:pic>
      <p:sp>
        <p:nvSpPr>
          <p:cNvPr id="26" name="Text 17"/>
          <p:cNvSpPr txBox="1"/>
          <p:nvPr/>
        </p:nvSpPr>
        <p:spPr>
          <a:xfrm>
            <a:off x="7063740" y="1956816"/>
            <a:ext cx="109728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BƯỚC 3</a:t>
            </a:r>
            <a:endParaRPr lang="en-US" sz="1000" dirty="0"/>
          </a:p>
        </p:txBody>
      </p:sp>
      <p:sp>
        <p:nvSpPr>
          <p:cNvPr id="27" name="Text 18"/>
          <p:cNvSpPr txBox="1"/>
          <p:nvPr/>
        </p:nvSpPr>
        <p:spPr>
          <a:xfrm>
            <a:off x="6515100" y="2414016"/>
            <a:ext cx="2119122" cy="320040"/>
          </a:xfrm>
          <a:prstGeom prst="rect">
            <a:avLst/>
          </a:prstGeom>
          <a:noFill/>
          <a:ln/>
        </p:spPr>
        <p:txBody>
          <a:bodyPr wrap="square" lIns="0" tIns="0" rIns="0" bIns="0" rtlCol="0" anchor="t"/>
          <a:lstStyle/>
          <a:p>
            <a:pPr indent="0" marL="0">
              <a:buNone/>
            </a:pPr>
            <a:r>
              <a:rPr lang="en-US" sz="1550" b="1" dirty="0">
                <a:solidFill>
                  <a:srgbClr val="231D1A"/>
                </a:solidFill>
                <a:latin typeface="Calibri" pitchFamily="34" charset="0"/>
                <a:ea typeface="Calibri" pitchFamily="34" charset="-122"/>
                <a:cs typeface="Calibri" pitchFamily="34" charset="-120"/>
              </a:rPr>
              <a:t>Quyết định khu vực</a:t>
            </a:r>
            <a:endParaRPr lang="en-US" sz="1550" dirty="0"/>
          </a:p>
        </p:txBody>
      </p:sp>
      <p:sp>
        <p:nvSpPr>
          <p:cNvPr id="28" name="Text 19"/>
          <p:cNvSpPr txBox="1"/>
          <p:nvPr/>
        </p:nvSpPr>
        <p:spPr>
          <a:xfrm>
            <a:off x="6515100" y="2734056"/>
            <a:ext cx="2119122" cy="228600"/>
          </a:xfrm>
          <a:prstGeom prst="rect">
            <a:avLst/>
          </a:prstGeom>
          <a:noFill/>
          <a:ln/>
        </p:spPr>
        <p:txBody>
          <a:bodyPr wrap="square" lIns="0" tIns="0" rIns="0" bIns="0" rtlCol="0" anchor="t"/>
          <a:lstStyle/>
          <a:p>
            <a:pPr indent="0" marL="0">
              <a:buNone/>
            </a:pPr>
            <a:r>
              <a:rPr lang="en-US" sz="950" dirty="0">
                <a:solidFill>
                  <a:srgbClr val="6B5F58"/>
                </a:solidFill>
                <a:latin typeface="Courier New" pitchFamily="34" charset="0"/>
                <a:ea typeface="Courier New" pitchFamily="34" charset="-122"/>
                <a:cs typeface="Courier New" pitchFamily="34" charset="-120"/>
              </a:rPr>
              <a:t>BeaconZoneDetector</a:t>
            </a:r>
            <a:endParaRPr lang="en-US" sz="950" dirty="0"/>
          </a:p>
        </p:txBody>
      </p:sp>
      <p:sp>
        <p:nvSpPr>
          <p:cNvPr id="29" name="Text 20"/>
          <p:cNvSpPr txBox="1"/>
          <p:nvPr/>
        </p:nvSpPr>
        <p:spPr>
          <a:xfrm>
            <a:off x="6487668" y="3054096"/>
            <a:ext cx="2119122" cy="1536192"/>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Lọc theo ngưỡng RSSI của từng beacon</a:t>
            </a:r>
            <a:endParaRPr lang="en-US" sz="1150" dirty="0"/>
          </a:p>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Dwell 3 s và hysteresis 4 dB</a:t>
            </a:r>
            <a:endParaRPr lang="en-US" sz="1150" dirty="0"/>
          </a:p>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Cooldown 60 s cho thông báo</a:t>
            </a:r>
            <a:endParaRPr lang="en-US" sz="1150" dirty="0"/>
          </a:p>
        </p:txBody>
      </p:sp>
      <p:sp>
        <p:nvSpPr>
          <p:cNvPr id="30" name="Shape 21"/>
          <p:cNvSpPr/>
          <p:nvPr/>
        </p:nvSpPr>
        <p:spPr>
          <a:xfrm>
            <a:off x="8817102" y="3099816"/>
            <a:ext cx="292608" cy="914"/>
          </a:xfrm>
          <a:prstGeom prst="line">
            <a:avLst/>
          </a:prstGeom>
          <a:noFill/>
          <a:ln w="22225">
            <a:solidFill>
              <a:srgbClr val="B08A4F"/>
            </a:solidFill>
            <a:prstDash val="solid"/>
            <a:tailEnd type="triangle"/>
          </a:ln>
        </p:spPr>
      </p:sp>
      <p:sp>
        <p:nvSpPr>
          <p:cNvPr id="31" name="Shape 22"/>
          <p:cNvSpPr/>
          <p:nvPr/>
        </p:nvSpPr>
        <p:spPr>
          <a:xfrm>
            <a:off x="9155430" y="1572768"/>
            <a:ext cx="2484882" cy="3063240"/>
          </a:xfrm>
          <a:prstGeom prst="roundRect">
            <a:avLst>
              <a:gd name="adj" fmla="val 294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32" name="Image 7" descr="Họa tiết vòm trang trí">    </p:cNvPr>
          <p:cNvPicPr>
            <a:picLocks noChangeAspect="1"/>
          </p:cNvPicPr>
          <p:nvPr/>
        </p:nvPicPr>
        <p:blipFill>
          <a:blip r:embed="rId8"/>
          <a:stretch>
            <a:fillRect/>
          </a:stretch>
        </p:blipFill>
        <p:spPr>
          <a:xfrm>
            <a:off x="9384030" y="1755648"/>
            <a:ext cx="420624" cy="560832"/>
          </a:xfrm>
          <a:prstGeom prst="rect">
            <a:avLst/>
          </a:prstGeom>
        </p:spPr>
      </p:pic>
      <p:pic>
        <p:nvPicPr>
          <p:cNvPr id="33" name="Image 8" descr="Biểu tượng">    </p:cNvPr>
          <p:cNvPicPr>
            <a:picLocks noChangeAspect="1"/>
          </p:cNvPicPr>
          <p:nvPr/>
        </p:nvPicPr>
        <p:blipFill>
          <a:blip r:embed="rId9"/>
          <a:stretch>
            <a:fillRect/>
          </a:stretch>
        </p:blipFill>
        <p:spPr>
          <a:xfrm>
            <a:off x="9489186" y="1991197"/>
            <a:ext cx="210312" cy="210312"/>
          </a:xfrm>
          <a:prstGeom prst="rect">
            <a:avLst/>
          </a:prstGeom>
        </p:spPr>
      </p:pic>
      <p:sp>
        <p:nvSpPr>
          <p:cNvPr id="34" name="Text 23"/>
          <p:cNvSpPr txBox="1"/>
          <p:nvPr/>
        </p:nvSpPr>
        <p:spPr>
          <a:xfrm>
            <a:off x="9932670" y="1956816"/>
            <a:ext cx="109728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BƯỚC 4</a:t>
            </a:r>
            <a:endParaRPr lang="en-US" sz="1000" dirty="0"/>
          </a:p>
        </p:txBody>
      </p:sp>
      <p:sp>
        <p:nvSpPr>
          <p:cNvPr id="35" name="Text 24"/>
          <p:cNvSpPr txBox="1"/>
          <p:nvPr/>
        </p:nvSpPr>
        <p:spPr>
          <a:xfrm>
            <a:off x="9384030" y="2414016"/>
            <a:ext cx="2119122" cy="320040"/>
          </a:xfrm>
          <a:prstGeom prst="rect">
            <a:avLst/>
          </a:prstGeom>
          <a:noFill/>
          <a:ln/>
        </p:spPr>
        <p:txBody>
          <a:bodyPr wrap="square" lIns="0" tIns="0" rIns="0" bIns="0" rtlCol="0" anchor="t"/>
          <a:lstStyle/>
          <a:p>
            <a:pPr indent="0" marL="0">
              <a:buNone/>
            </a:pPr>
            <a:r>
              <a:rPr lang="en-US" sz="1550" b="1" dirty="0">
                <a:solidFill>
                  <a:srgbClr val="231D1A"/>
                </a:solidFill>
                <a:latin typeface="Calibri" pitchFamily="34" charset="0"/>
                <a:ea typeface="Calibri" pitchFamily="34" charset="-122"/>
                <a:cs typeface="Calibri" pitchFamily="34" charset="-120"/>
              </a:rPr>
              <a:t>Lấy nội dung</a:t>
            </a:r>
            <a:endParaRPr lang="en-US" sz="1550" dirty="0"/>
          </a:p>
        </p:txBody>
      </p:sp>
      <p:sp>
        <p:nvSpPr>
          <p:cNvPr id="36" name="Text 25"/>
          <p:cNvSpPr txBox="1"/>
          <p:nvPr/>
        </p:nvSpPr>
        <p:spPr>
          <a:xfrm>
            <a:off x="9384030" y="2734056"/>
            <a:ext cx="2119122" cy="228600"/>
          </a:xfrm>
          <a:prstGeom prst="rect">
            <a:avLst/>
          </a:prstGeom>
          <a:noFill/>
          <a:ln/>
        </p:spPr>
        <p:txBody>
          <a:bodyPr wrap="square" lIns="0" tIns="0" rIns="0" bIns="0" rtlCol="0" anchor="t"/>
          <a:lstStyle/>
          <a:p>
            <a:pPr indent="0" marL="0">
              <a:buNone/>
            </a:pPr>
            <a:r>
              <a:rPr lang="en-US" sz="950" dirty="0">
                <a:solidFill>
                  <a:srgbClr val="6B5F58"/>
                </a:solidFill>
                <a:latin typeface="Courier New" pitchFamily="34" charset="0"/>
                <a:ea typeface="Courier New" pitchFamily="34" charset="-122"/>
                <a:cs typeface="Courier New" pitchFamily="34" charset="-120"/>
              </a:rPr>
              <a:t>GuideContext → API</a:t>
            </a:r>
            <a:endParaRPr lang="en-US" sz="950" dirty="0"/>
          </a:p>
        </p:txBody>
      </p:sp>
      <p:sp>
        <p:nvSpPr>
          <p:cNvPr id="37" name="Text 26"/>
          <p:cNvSpPr txBox="1"/>
          <p:nvPr/>
        </p:nvSpPr>
        <p:spPr>
          <a:xfrm>
            <a:off x="9356598" y="3054096"/>
            <a:ext cx="2119122" cy="1536192"/>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Gọi API một lần cho mỗi zone mới</a:t>
            </a:r>
            <a:endParaRPr lang="en-US" sz="1150" dirty="0"/>
          </a:p>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Hiện gợi ý nghe hoặc xem chi tiết</a:t>
            </a:r>
            <a:endParaRPr lang="en-US" sz="1150" dirty="0"/>
          </a:p>
          <a:p>
            <a:pPr marL="152400" indent="-152400">
              <a:spcAft>
                <a:spcPts val="500"/>
              </a:spcAft>
              <a:buSzPct val="100000"/>
              <a:buChar char="•"/>
            </a:pPr>
            <a:r>
              <a:rPr lang="en-US" sz="1150" dirty="0">
                <a:solidFill>
                  <a:srgbClr val="231D1A"/>
                </a:solidFill>
                <a:latin typeface="Calibri" pitchFamily="34" charset="0"/>
                <a:ea typeface="Calibri" pitchFamily="34" charset="-122"/>
                <a:cs typeface="Calibri" pitchFamily="34" charset="-120"/>
              </a:rPr>
              <a:t>Không gửi RSSI lên máy chủ</a:t>
            </a:r>
            <a:endParaRPr lang="en-US" sz="1150" dirty="0"/>
          </a:p>
        </p:txBody>
      </p:sp>
      <p:sp>
        <p:nvSpPr>
          <p:cNvPr id="38" name="Shape 27"/>
          <p:cNvSpPr/>
          <p:nvPr/>
        </p:nvSpPr>
        <p:spPr>
          <a:xfrm>
            <a:off x="548640" y="4892040"/>
            <a:ext cx="7086600" cy="1188720"/>
          </a:xfrm>
          <a:prstGeom prst="roundRect">
            <a:avLst>
              <a:gd name="adj" fmla="val 6154"/>
            </a:avLst>
          </a:prstGeom>
          <a:solidFill>
            <a:srgbClr val="EFE6DA"/>
          </a:solidFill>
          <a:ln w="9525">
            <a:solidFill>
              <a:srgbClr val="EFE6DA"/>
            </a:solidFill>
            <a:prstDash val="solid"/>
          </a:ln>
        </p:spPr>
      </p:sp>
      <p:pic>
        <p:nvPicPr>
          <p:cNvPr id="39" name="Image 9" descr="Biểu tượng">    </p:cNvPr>
          <p:cNvPicPr>
            <a:picLocks noChangeAspect="1"/>
          </p:cNvPicPr>
          <p:nvPr/>
        </p:nvPicPr>
        <p:blipFill>
          <a:blip r:embed="rId10"/>
          <a:stretch>
            <a:fillRect/>
          </a:stretch>
        </p:blipFill>
        <p:spPr>
          <a:xfrm>
            <a:off x="822960" y="5138928"/>
            <a:ext cx="384048" cy="384048"/>
          </a:xfrm>
          <a:prstGeom prst="rect">
            <a:avLst/>
          </a:prstGeom>
        </p:spPr>
      </p:pic>
      <p:sp>
        <p:nvSpPr>
          <p:cNvPr id="40" name="Text 28"/>
          <p:cNvSpPr txBox="1"/>
          <p:nvPr/>
        </p:nvSpPr>
        <p:spPr>
          <a:xfrm>
            <a:off x="1417320" y="5029200"/>
            <a:ext cx="6035040" cy="292608"/>
          </a:xfrm>
          <a:prstGeom prst="rect">
            <a:avLst/>
          </a:prstGeom>
          <a:noFill/>
          <a:ln/>
        </p:spPr>
        <p:txBody>
          <a:bodyPr wrap="square" lIns="0" tIns="0" rIns="0" bIns="0" rtlCol="0" anchor="t"/>
          <a:lstStyle/>
          <a:p>
            <a:pPr indent="0" marL="0">
              <a:buNone/>
            </a:pPr>
            <a:r>
              <a:rPr lang="en-US" sz="1400" b="1" dirty="0">
                <a:solidFill>
                  <a:srgbClr val="5E2420"/>
                </a:solidFill>
                <a:latin typeface="Calibri" pitchFamily="34" charset="0"/>
                <a:ea typeface="Calibri" pitchFamily="34" charset="-122"/>
                <a:cs typeface="Calibri" pitchFamily="34" charset="-120"/>
              </a:rPr>
              <a:t>Quyền riêng tư theo thiết kế</a:t>
            </a:r>
            <a:endParaRPr lang="en-US" sz="1400" dirty="0"/>
          </a:p>
        </p:txBody>
      </p:sp>
      <p:sp>
        <p:nvSpPr>
          <p:cNvPr id="41" name="Text 29"/>
          <p:cNvSpPr txBox="1"/>
          <p:nvPr/>
        </p:nvSpPr>
        <p:spPr>
          <a:xfrm>
            <a:off x="1417320" y="5340096"/>
            <a:ext cx="6035040" cy="685800"/>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RSSI thô và lịch sử di chuyển không rời khỏi thiết bị. Danh sách beacon (thông tin hạ tầng) chỉ tải một lần; việc so khớp gói quảng bá diễn ra cục bộ.</a:t>
            </a:r>
            <a:endParaRPr lang="en-US" sz="1200" dirty="0"/>
          </a:p>
        </p:txBody>
      </p:sp>
      <p:sp>
        <p:nvSpPr>
          <p:cNvPr id="42" name="Shape 30"/>
          <p:cNvSpPr/>
          <p:nvPr/>
        </p:nvSpPr>
        <p:spPr>
          <a:xfrm>
            <a:off x="7909560" y="4892040"/>
            <a:ext cx="3730752" cy="1188720"/>
          </a:xfrm>
          <a:prstGeom prst="roundRect">
            <a:avLst>
              <a:gd name="adj" fmla="val 6154"/>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43" name="Image 10" descr="Biểu tượng">    </p:cNvPr>
          <p:cNvPicPr>
            <a:picLocks noChangeAspect="1"/>
          </p:cNvPicPr>
          <p:nvPr/>
        </p:nvPicPr>
        <p:blipFill>
          <a:blip r:embed="rId11"/>
          <a:stretch>
            <a:fillRect/>
          </a:stretch>
        </p:blipFill>
        <p:spPr>
          <a:xfrm>
            <a:off x="8138160" y="5138928"/>
            <a:ext cx="384048" cy="384048"/>
          </a:xfrm>
          <a:prstGeom prst="rect">
            <a:avLst/>
          </a:prstGeom>
        </p:spPr>
      </p:pic>
      <p:sp>
        <p:nvSpPr>
          <p:cNvPr id="44" name="Text 31"/>
          <p:cNvSpPr txBox="1"/>
          <p:nvPr/>
        </p:nvSpPr>
        <p:spPr>
          <a:xfrm>
            <a:off x="8686800" y="5029200"/>
            <a:ext cx="2834640" cy="292608"/>
          </a:xfrm>
          <a:prstGeom prst="rect">
            <a:avLst/>
          </a:prstGeom>
          <a:noFill/>
          <a:ln/>
        </p:spPr>
        <p:txBody>
          <a:bodyPr wrap="square" lIns="0" tIns="0" rIns="0" bIns="0" rtlCol="0" anchor="t"/>
          <a:lstStyle/>
          <a:p>
            <a:pPr indent="0" marL="0">
              <a:buNone/>
            </a:pPr>
            <a:r>
              <a:rPr lang="en-US" sz="1400" b="1" dirty="0">
                <a:solidFill>
                  <a:srgbClr val="5E2420"/>
                </a:solidFill>
                <a:latin typeface="Calibri" pitchFamily="34" charset="0"/>
                <a:ea typeface="Calibri" pitchFamily="34" charset="-122"/>
                <a:cs typeface="Calibri" pitchFamily="34" charset="-120"/>
              </a:rPr>
              <a:t>Kiểm thử không cần phần cứng</a:t>
            </a:r>
            <a:endParaRPr lang="en-US" sz="1400" dirty="0"/>
          </a:p>
        </p:txBody>
      </p:sp>
      <p:sp>
        <p:nvSpPr>
          <p:cNvPr id="45" name="Text 32"/>
          <p:cNvSpPr txBox="1"/>
          <p:nvPr/>
        </p:nvSpPr>
        <p:spPr>
          <a:xfrm>
            <a:off x="8686800" y="5340096"/>
            <a:ext cx="2834640" cy="685800"/>
          </a:xfrm>
          <a:prstGeom prst="rect">
            <a:avLst/>
          </a:prstGeom>
          <a:noFill/>
          <a:ln/>
        </p:spPr>
        <p:txBody>
          <a:bodyPr wrap="square" lIns="0" tIns="0" rIns="0" bIns="0" rtlCol="0" anchor="t"/>
          <a:lstStyle/>
          <a:p>
            <a:pPr indent="0" marL="0">
              <a:buNone/>
            </a:pPr>
            <a:r>
              <a:rPr lang="en-US" sz="1200" dirty="0">
                <a:solidFill>
                  <a:srgbClr val="231D1A"/>
                </a:solidFill>
                <a:latin typeface="Calibri" pitchFamily="34" charset="0"/>
                <a:ea typeface="Calibri" pitchFamily="34" charset="-122"/>
                <a:cs typeface="Calibri" pitchFamily="34" charset="-120"/>
              </a:rPr>
              <a:t>Mọi bước nhận thời điểm now tường minh → chạy test với đồng hồ ảo, không cần Bluetooth.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05 · MÁY TRẠNG THÁI</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Vì sao hướng dẫn không “nhảy vùng” khi khách đi qua cửa?</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11 / 20</a:t>
            </a:r>
            <a:endParaRPr lang="en-US" sz="900" dirty="0"/>
          </a:p>
        </p:txBody>
      </p:sp>
      <p:sp>
        <p:nvSpPr>
          <p:cNvPr id="7" name="Shape 4"/>
          <p:cNvSpPr/>
          <p:nvPr/>
        </p:nvSpPr>
        <p:spPr>
          <a:xfrm>
            <a:off x="1051560" y="1645920"/>
            <a:ext cx="2148840" cy="512064"/>
          </a:xfrm>
          <a:prstGeom prst="roundRect">
            <a:avLst>
              <a:gd name="adj" fmla="val 50000"/>
            </a:avLst>
          </a:prstGeom>
          <a:solidFill>
            <a:srgbClr val="FFFFFF"/>
          </a:solidFill>
          <a:ln w="12700">
            <a:solidFill>
              <a:srgbClr val="E3D9CD"/>
            </a:solidFill>
            <a:prstDash val="solid"/>
          </a:ln>
          <a:effectLst>
            <a:outerShdw sx="100000" sy="100000" kx="0" ky="0" algn="bl" rotWithShape="0" blurRad="127000" dist="25400" dir="5400000">
              <a:srgbClr val="000000">
                <a:alpha val="8000"/>
              </a:srgbClr>
            </a:outerShdw>
          </a:effectLst>
        </p:spPr>
      </p:sp>
      <p:sp>
        <p:nvSpPr>
          <p:cNvPr id="8" name="Text 5"/>
          <p:cNvSpPr txBox="1"/>
          <p:nvPr/>
        </p:nvSpPr>
        <p:spPr>
          <a:xfrm>
            <a:off x="1051560" y="1645920"/>
            <a:ext cx="2148840" cy="512064"/>
          </a:xfrm>
          <a:prstGeom prst="rect">
            <a:avLst/>
          </a:prstGeom>
          <a:noFill/>
          <a:ln/>
        </p:spPr>
        <p:txBody>
          <a:bodyPr wrap="square" lIns="0" tIns="0" rIns="0" bIns="0" rtlCol="0" anchor="ctr"/>
          <a:lstStyle/>
          <a:p>
            <a:pPr algn="ctr" indent="0" marL="0">
              <a:buNone/>
            </a:pPr>
            <a:r>
              <a:rPr lang="en-US" sz="1200" b="1" dirty="0">
                <a:solidFill>
                  <a:srgbClr val="231D1A"/>
                </a:solidFill>
                <a:latin typeface="Courier New" pitchFamily="34" charset="0"/>
                <a:ea typeface="Courier New" pitchFamily="34" charset="-122"/>
                <a:cs typeface="Courier New" pitchFamily="34" charset="-120"/>
              </a:rPr>
              <a:t>IDLE</a:t>
            </a:r>
            <a:endParaRPr lang="en-US" sz="1200" dirty="0"/>
          </a:p>
        </p:txBody>
      </p:sp>
      <p:sp>
        <p:nvSpPr>
          <p:cNvPr id="9" name="Shape 6"/>
          <p:cNvSpPr/>
          <p:nvPr/>
        </p:nvSpPr>
        <p:spPr>
          <a:xfrm>
            <a:off x="2125980" y="2185416"/>
            <a:ext cx="914" cy="347472"/>
          </a:xfrm>
          <a:prstGeom prst="line">
            <a:avLst/>
          </a:prstGeom>
          <a:noFill/>
          <a:ln w="19050">
            <a:solidFill>
              <a:srgbClr val="B08A4F"/>
            </a:solidFill>
            <a:prstDash val="solid"/>
            <a:tailEnd type="triangle"/>
          </a:ln>
        </p:spPr>
      </p:sp>
      <p:sp>
        <p:nvSpPr>
          <p:cNvPr id="10" name="Text 7"/>
          <p:cNvSpPr txBox="1"/>
          <p:nvPr/>
        </p:nvSpPr>
        <p:spPr>
          <a:xfrm>
            <a:off x="2308860" y="2212848"/>
            <a:ext cx="3291840" cy="310896"/>
          </a:xfrm>
          <a:prstGeom prst="rect">
            <a:avLst/>
          </a:prstGeom>
          <a:noFill/>
          <a:ln/>
        </p:spPr>
        <p:txBody>
          <a:bodyPr wrap="square" lIns="0" tIns="0" rIns="0" bIns="0" rtlCol="0" anchor="ctr"/>
          <a:lstStyle/>
          <a:p>
            <a:pPr indent="0" marL="0">
              <a:buNone/>
            </a:pPr>
            <a:r>
              <a:rPr lang="en-US" sz="1100" dirty="0">
                <a:solidFill>
                  <a:srgbClr val="6B5F58"/>
                </a:solidFill>
                <a:latin typeface="Calibri" pitchFamily="34" charset="0"/>
                <a:ea typeface="Calibri" pitchFamily="34" charset="-122"/>
                <a:cs typeface="Calibri" pitchFamily="34" charset="-120"/>
              </a:rPr>
              <a:t>Bắt đầu quét</a:t>
            </a:r>
            <a:endParaRPr lang="en-US" sz="1100" dirty="0"/>
          </a:p>
        </p:txBody>
      </p:sp>
      <p:sp>
        <p:nvSpPr>
          <p:cNvPr id="11" name="Shape 8"/>
          <p:cNvSpPr/>
          <p:nvPr/>
        </p:nvSpPr>
        <p:spPr>
          <a:xfrm>
            <a:off x="1051560" y="2560320"/>
            <a:ext cx="2148840" cy="512064"/>
          </a:xfrm>
          <a:prstGeom prst="roundRect">
            <a:avLst>
              <a:gd name="adj" fmla="val 50000"/>
            </a:avLst>
          </a:prstGeom>
          <a:solidFill>
            <a:srgbClr val="FFFFFF"/>
          </a:solidFill>
          <a:ln w="12700">
            <a:solidFill>
              <a:srgbClr val="E3D9CD"/>
            </a:solidFill>
            <a:prstDash val="solid"/>
          </a:ln>
          <a:effectLst>
            <a:outerShdw sx="100000" sy="100000" kx="0" ky="0" algn="bl" rotWithShape="0" blurRad="127000" dist="25400" dir="5400000">
              <a:srgbClr val="000000">
                <a:alpha val="8000"/>
              </a:srgbClr>
            </a:outerShdw>
          </a:effectLst>
        </p:spPr>
      </p:sp>
      <p:sp>
        <p:nvSpPr>
          <p:cNvPr id="12" name="Text 9"/>
          <p:cNvSpPr txBox="1"/>
          <p:nvPr/>
        </p:nvSpPr>
        <p:spPr>
          <a:xfrm>
            <a:off x="1051560" y="2560320"/>
            <a:ext cx="2148840" cy="512064"/>
          </a:xfrm>
          <a:prstGeom prst="rect">
            <a:avLst/>
          </a:prstGeom>
          <a:noFill/>
          <a:ln/>
        </p:spPr>
        <p:txBody>
          <a:bodyPr wrap="square" lIns="0" tIns="0" rIns="0" bIns="0" rtlCol="0" anchor="ctr"/>
          <a:lstStyle/>
          <a:p>
            <a:pPr algn="ctr" indent="0" marL="0">
              <a:buNone/>
            </a:pPr>
            <a:r>
              <a:rPr lang="en-US" sz="1200" b="1" dirty="0">
                <a:solidFill>
                  <a:srgbClr val="231D1A"/>
                </a:solidFill>
                <a:latin typeface="Courier New" pitchFamily="34" charset="0"/>
                <a:ea typeface="Courier New" pitchFamily="34" charset="-122"/>
                <a:cs typeface="Courier New" pitchFamily="34" charset="-120"/>
              </a:rPr>
              <a:t>SCANNING</a:t>
            </a:r>
            <a:endParaRPr lang="en-US" sz="1200" dirty="0"/>
          </a:p>
        </p:txBody>
      </p:sp>
      <p:sp>
        <p:nvSpPr>
          <p:cNvPr id="13" name="Shape 10"/>
          <p:cNvSpPr/>
          <p:nvPr/>
        </p:nvSpPr>
        <p:spPr>
          <a:xfrm>
            <a:off x="2125980" y="3099816"/>
            <a:ext cx="914" cy="347472"/>
          </a:xfrm>
          <a:prstGeom prst="line">
            <a:avLst/>
          </a:prstGeom>
          <a:noFill/>
          <a:ln w="19050">
            <a:solidFill>
              <a:srgbClr val="B08A4F"/>
            </a:solidFill>
            <a:prstDash val="solid"/>
            <a:tailEnd type="triangle"/>
          </a:ln>
        </p:spPr>
      </p:sp>
      <p:sp>
        <p:nvSpPr>
          <p:cNvPr id="14" name="Text 11"/>
          <p:cNvSpPr txBox="1"/>
          <p:nvPr/>
        </p:nvSpPr>
        <p:spPr>
          <a:xfrm>
            <a:off x="2308860" y="3127248"/>
            <a:ext cx="3291840" cy="310896"/>
          </a:xfrm>
          <a:prstGeom prst="rect">
            <a:avLst/>
          </a:prstGeom>
          <a:noFill/>
          <a:ln/>
        </p:spPr>
        <p:txBody>
          <a:bodyPr wrap="square" lIns="0" tIns="0" rIns="0" bIns="0" rtlCol="0" anchor="ctr"/>
          <a:lstStyle/>
          <a:p>
            <a:pPr indent="0" marL="0">
              <a:buNone/>
            </a:pPr>
            <a:r>
              <a:rPr lang="en-US" sz="1100" dirty="0">
                <a:solidFill>
                  <a:srgbClr val="6B5F58"/>
                </a:solidFill>
                <a:latin typeface="Calibri" pitchFamily="34" charset="0"/>
                <a:ea typeface="Calibri" pitchFamily="34" charset="-122"/>
                <a:cs typeface="Calibri" pitchFamily="34" charset="-120"/>
              </a:rPr>
              <a:t>Có beacon đủ mạnh (≥ minRssi, ≥ 2 mẫu)</a:t>
            </a:r>
            <a:endParaRPr lang="en-US" sz="1100" dirty="0"/>
          </a:p>
        </p:txBody>
      </p:sp>
      <p:sp>
        <p:nvSpPr>
          <p:cNvPr id="15" name="Shape 12"/>
          <p:cNvSpPr/>
          <p:nvPr/>
        </p:nvSpPr>
        <p:spPr>
          <a:xfrm>
            <a:off x="1051560" y="3474720"/>
            <a:ext cx="2148840" cy="512064"/>
          </a:xfrm>
          <a:prstGeom prst="roundRect">
            <a:avLst>
              <a:gd name="adj" fmla="val 50000"/>
            </a:avLst>
          </a:prstGeom>
          <a:solidFill>
            <a:srgbClr val="F1E6D3"/>
          </a:solidFill>
          <a:ln w="12700">
            <a:solidFill>
              <a:srgbClr val="F1E6D3"/>
            </a:solidFill>
            <a:prstDash val="solid"/>
          </a:ln>
          <a:effectLst>
            <a:outerShdw sx="100000" sy="100000" kx="0" ky="0" algn="bl" rotWithShape="0" blurRad="127000" dist="25400" dir="5400000">
              <a:srgbClr val="000000">
                <a:alpha val="8000"/>
              </a:srgbClr>
            </a:outerShdw>
          </a:effectLst>
        </p:spPr>
      </p:sp>
      <p:sp>
        <p:nvSpPr>
          <p:cNvPr id="16" name="Text 13"/>
          <p:cNvSpPr txBox="1"/>
          <p:nvPr/>
        </p:nvSpPr>
        <p:spPr>
          <a:xfrm>
            <a:off x="1051560" y="3474720"/>
            <a:ext cx="2148840" cy="512064"/>
          </a:xfrm>
          <a:prstGeom prst="rect">
            <a:avLst/>
          </a:prstGeom>
          <a:noFill/>
          <a:ln/>
        </p:spPr>
        <p:txBody>
          <a:bodyPr wrap="square" lIns="0" tIns="0" rIns="0" bIns="0" rtlCol="0" anchor="ctr"/>
          <a:lstStyle/>
          <a:p>
            <a:pPr algn="ctr" indent="0" marL="0">
              <a:buNone/>
            </a:pPr>
            <a:r>
              <a:rPr lang="en-US" sz="1200" b="1" dirty="0">
                <a:solidFill>
                  <a:srgbClr val="231D1A"/>
                </a:solidFill>
                <a:latin typeface="Courier New" pitchFamily="34" charset="0"/>
                <a:ea typeface="Courier New" pitchFamily="34" charset="-122"/>
                <a:cs typeface="Courier New" pitchFamily="34" charset="-120"/>
              </a:rPr>
              <a:t>CANDIDATE</a:t>
            </a:r>
            <a:endParaRPr lang="en-US" sz="1200" dirty="0"/>
          </a:p>
        </p:txBody>
      </p:sp>
      <p:sp>
        <p:nvSpPr>
          <p:cNvPr id="17" name="Shape 14"/>
          <p:cNvSpPr/>
          <p:nvPr/>
        </p:nvSpPr>
        <p:spPr>
          <a:xfrm>
            <a:off x="2125980" y="4014216"/>
            <a:ext cx="914" cy="347472"/>
          </a:xfrm>
          <a:prstGeom prst="line">
            <a:avLst/>
          </a:prstGeom>
          <a:noFill/>
          <a:ln w="19050">
            <a:solidFill>
              <a:srgbClr val="B08A4F"/>
            </a:solidFill>
            <a:prstDash val="solid"/>
            <a:tailEnd type="triangle"/>
          </a:ln>
        </p:spPr>
      </p:sp>
      <p:sp>
        <p:nvSpPr>
          <p:cNvPr id="18" name="Text 15"/>
          <p:cNvSpPr txBox="1"/>
          <p:nvPr/>
        </p:nvSpPr>
        <p:spPr>
          <a:xfrm>
            <a:off x="2308860" y="4041648"/>
            <a:ext cx="3291840" cy="310896"/>
          </a:xfrm>
          <a:prstGeom prst="rect">
            <a:avLst/>
          </a:prstGeom>
          <a:noFill/>
          <a:ln/>
        </p:spPr>
        <p:txBody>
          <a:bodyPr wrap="square" lIns="0" tIns="0" rIns="0" bIns="0" rtlCol="0" anchor="ctr"/>
          <a:lstStyle/>
          <a:p>
            <a:pPr indent="0" marL="0">
              <a:buNone/>
            </a:pPr>
            <a:r>
              <a:rPr lang="en-US" sz="1100" dirty="0">
                <a:solidFill>
                  <a:srgbClr val="6B5F58"/>
                </a:solidFill>
                <a:latin typeface="Calibri" pitchFamily="34" charset="0"/>
                <a:ea typeface="Calibri" pitchFamily="34" charset="-122"/>
                <a:cs typeface="Calibri" pitchFamily="34" charset="-120"/>
              </a:rPr>
              <a:t>Giữ vị trí mạnh nhất liên tục ≥ 3 s (dwell)</a:t>
            </a:r>
            <a:endParaRPr lang="en-US" sz="1100" dirty="0"/>
          </a:p>
        </p:txBody>
      </p:sp>
      <p:sp>
        <p:nvSpPr>
          <p:cNvPr id="19" name="Shape 16"/>
          <p:cNvSpPr/>
          <p:nvPr/>
        </p:nvSpPr>
        <p:spPr>
          <a:xfrm>
            <a:off x="1051560" y="4389120"/>
            <a:ext cx="2148840" cy="512064"/>
          </a:xfrm>
          <a:prstGeom prst="roundRect">
            <a:avLst>
              <a:gd name="adj" fmla="val 50000"/>
            </a:avLst>
          </a:prstGeom>
          <a:solidFill>
            <a:srgbClr val="7A3A33"/>
          </a:solidFill>
          <a:ln w="12700">
            <a:solidFill>
              <a:srgbClr val="7A3A33"/>
            </a:solidFill>
            <a:prstDash val="solid"/>
          </a:ln>
          <a:effectLst>
            <a:outerShdw sx="100000" sy="100000" kx="0" ky="0" algn="bl" rotWithShape="0" blurRad="127000" dist="25400" dir="5400000">
              <a:srgbClr val="000000">
                <a:alpha val="8000"/>
              </a:srgbClr>
            </a:outerShdw>
          </a:effectLst>
        </p:spPr>
      </p:sp>
      <p:sp>
        <p:nvSpPr>
          <p:cNvPr id="20" name="Text 17"/>
          <p:cNvSpPr txBox="1"/>
          <p:nvPr/>
        </p:nvSpPr>
        <p:spPr>
          <a:xfrm>
            <a:off x="1051560" y="4389120"/>
            <a:ext cx="214884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CONFIRMED</a:t>
            </a:r>
            <a:endParaRPr lang="en-US" sz="1200" dirty="0"/>
          </a:p>
        </p:txBody>
      </p:sp>
      <p:sp>
        <p:nvSpPr>
          <p:cNvPr id="21" name="Shape 18"/>
          <p:cNvSpPr/>
          <p:nvPr/>
        </p:nvSpPr>
        <p:spPr>
          <a:xfrm>
            <a:off x="2125980" y="4928616"/>
            <a:ext cx="914" cy="347472"/>
          </a:xfrm>
          <a:prstGeom prst="line">
            <a:avLst/>
          </a:prstGeom>
          <a:noFill/>
          <a:ln w="19050">
            <a:solidFill>
              <a:srgbClr val="B08A4F"/>
            </a:solidFill>
            <a:prstDash val="solid"/>
            <a:tailEnd type="triangle"/>
          </a:ln>
        </p:spPr>
      </p:sp>
      <p:sp>
        <p:nvSpPr>
          <p:cNvPr id="22" name="Text 19"/>
          <p:cNvSpPr txBox="1"/>
          <p:nvPr/>
        </p:nvSpPr>
        <p:spPr>
          <a:xfrm>
            <a:off x="2308860" y="4956048"/>
            <a:ext cx="3291840" cy="310896"/>
          </a:xfrm>
          <a:prstGeom prst="rect">
            <a:avLst/>
          </a:prstGeom>
          <a:noFill/>
          <a:ln/>
        </p:spPr>
        <p:txBody>
          <a:bodyPr wrap="square" lIns="0" tIns="0" rIns="0" bIns="0" rtlCol="0" anchor="ctr"/>
          <a:lstStyle/>
          <a:p>
            <a:pPr indent="0" marL="0">
              <a:buNone/>
            </a:pPr>
            <a:r>
              <a:rPr lang="en-US" sz="1100" dirty="0">
                <a:solidFill>
                  <a:srgbClr val="6B5F58"/>
                </a:solidFill>
                <a:latin typeface="Calibri" pitchFamily="34" charset="0"/>
                <a:ea typeface="Calibri" pitchFamily="34" charset="-122"/>
                <a:cs typeface="Calibri" pitchFamily="34" charset="-120"/>
              </a:rPr>
              <a:t>Phát sự kiện zone mới → tải nội dung</a:t>
            </a:r>
            <a:endParaRPr lang="en-US" sz="1100" dirty="0"/>
          </a:p>
        </p:txBody>
      </p:sp>
      <p:sp>
        <p:nvSpPr>
          <p:cNvPr id="23" name="Shape 20"/>
          <p:cNvSpPr/>
          <p:nvPr/>
        </p:nvSpPr>
        <p:spPr>
          <a:xfrm>
            <a:off x="1051560" y="5303520"/>
            <a:ext cx="2148840" cy="512064"/>
          </a:xfrm>
          <a:prstGeom prst="roundRect">
            <a:avLst>
              <a:gd name="adj" fmla="val 50000"/>
            </a:avLst>
          </a:prstGeom>
          <a:solidFill>
            <a:srgbClr val="5E2420"/>
          </a:solidFill>
          <a:ln w="12700">
            <a:solidFill>
              <a:srgbClr val="5E2420"/>
            </a:solidFill>
            <a:prstDash val="solid"/>
          </a:ln>
          <a:effectLst>
            <a:outerShdw sx="100000" sy="100000" kx="0" ky="0" algn="bl" rotWithShape="0" blurRad="127000" dist="25400" dir="5400000">
              <a:srgbClr val="000000">
                <a:alpha val="8000"/>
              </a:srgbClr>
            </a:outerShdw>
          </a:effectLst>
        </p:spPr>
      </p:sp>
      <p:sp>
        <p:nvSpPr>
          <p:cNvPr id="24" name="Text 21"/>
          <p:cNvSpPr txBox="1"/>
          <p:nvPr/>
        </p:nvSpPr>
        <p:spPr>
          <a:xfrm>
            <a:off x="1051560" y="5303520"/>
            <a:ext cx="214884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CONTENT_ACTIVE</a:t>
            </a:r>
            <a:endParaRPr lang="en-US" sz="1200" dirty="0"/>
          </a:p>
        </p:txBody>
      </p:sp>
      <p:sp>
        <p:nvSpPr>
          <p:cNvPr id="25" name="Shape 22"/>
          <p:cNvSpPr/>
          <p:nvPr/>
        </p:nvSpPr>
        <p:spPr>
          <a:xfrm flipH="1">
            <a:off x="685800" y="5559552"/>
            <a:ext cx="365760" cy="914"/>
          </a:xfrm>
          <a:prstGeom prst="line">
            <a:avLst/>
          </a:prstGeom>
          <a:noFill/>
          <a:ln w="19050">
            <a:solidFill>
              <a:srgbClr val="5E2420"/>
            </a:solidFill>
            <a:prstDash val="dash"/>
          </a:ln>
        </p:spPr>
      </p:sp>
      <p:sp>
        <p:nvSpPr>
          <p:cNvPr id="26" name="Shape 23"/>
          <p:cNvSpPr/>
          <p:nvPr/>
        </p:nvSpPr>
        <p:spPr>
          <a:xfrm flipV="1">
            <a:off x="685800" y="3730752"/>
            <a:ext cx="914" cy="1828800"/>
          </a:xfrm>
          <a:prstGeom prst="line">
            <a:avLst/>
          </a:prstGeom>
          <a:noFill/>
          <a:ln w="19050">
            <a:solidFill>
              <a:srgbClr val="5E2420"/>
            </a:solidFill>
            <a:prstDash val="dash"/>
          </a:ln>
        </p:spPr>
      </p:sp>
      <p:sp>
        <p:nvSpPr>
          <p:cNvPr id="27" name="Shape 24"/>
          <p:cNvSpPr/>
          <p:nvPr/>
        </p:nvSpPr>
        <p:spPr>
          <a:xfrm>
            <a:off x="685800" y="3730752"/>
            <a:ext cx="347472" cy="914"/>
          </a:xfrm>
          <a:prstGeom prst="line">
            <a:avLst/>
          </a:prstGeom>
          <a:noFill/>
          <a:ln w="19050">
            <a:solidFill>
              <a:srgbClr val="5E2420"/>
            </a:solidFill>
            <a:prstDash val="solid"/>
            <a:tailEnd type="triangle"/>
          </a:ln>
        </p:spPr>
      </p:sp>
      <p:sp>
        <p:nvSpPr>
          <p:cNvPr id="28" name="Text 25"/>
          <p:cNvSpPr txBox="1"/>
          <p:nvPr/>
        </p:nvSpPr>
        <p:spPr>
          <a:xfrm>
            <a:off x="3383280" y="5303520"/>
            <a:ext cx="3017520" cy="512064"/>
          </a:xfrm>
          <a:prstGeom prst="rect">
            <a:avLst/>
          </a:prstGeom>
          <a:noFill/>
          <a:ln/>
        </p:spPr>
        <p:txBody>
          <a:bodyPr wrap="square" lIns="0" tIns="0" rIns="0" bIns="0" rtlCol="0" anchor="ctr"/>
          <a:lstStyle/>
          <a:p>
            <a:pPr indent="0" marL="0">
              <a:buNone/>
            </a:pPr>
            <a:r>
              <a:rPr lang="en-US" sz="1100" b="1" dirty="0">
                <a:solidFill>
                  <a:srgbClr val="5E2420"/>
                </a:solidFill>
                <a:latin typeface="Calibri" pitchFamily="34" charset="0"/>
                <a:ea typeface="Calibri" pitchFamily="34" charset="-122"/>
                <a:cs typeface="Calibri" pitchFamily="34" charset="-120"/>
              </a:rPr>
              <a:t>↺ Beacon khác mạnh hơn ≥ 4 dB (hysteresis) → quay lại CANDIDATE</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63640" y="1645920"/>
          <a:ext cx="5376672" cy="914400"/>
        </p:xfrm>
        <a:graphic>
          <a:graphicData uri="http://schemas.openxmlformats.org/drawingml/2006/table">
            <a:tbl>
              <a:tblPr/>
              <a:tblGrid>
                <a:gridCol w="2103120"/>
                <a:gridCol w="960120"/>
                <a:gridCol w="2313432"/>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Tham số</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5E242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Mặc định</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5E242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Ý nghĩa</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5E2420"/>
                    </a:solidFill>
                  </a:tcPr>
                </a:tc>
              </a:tr>
              <a:tr h="457200">
                <a:tc>
                  <a:txBody>
                    <a:bodyPr/>
                    <a:lstStyle/>
                    <a:p>
                      <a:pPr indent="0" marL="0">
                        <a:buNone/>
                      </a:pPr>
                      <a:r>
                        <a:rPr lang="en-US" sz="950" b="1" dirty="0">
                          <a:solidFill>
                            <a:srgbClr val="5E2420"/>
                          </a:solidFill>
                          <a:latin typeface="Courier New" pitchFamily="34" charset="0"/>
                          <a:ea typeface="Courier New" pitchFamily="34" charset="-122"/>
                          <a:cs typeface="Courier New" pitchFamily="34" charset="-120"/>
                        </a:rPr>
                        <a:t>scanWindowMs</a:t>
                      </a:r>
                      <a:endParaRPr lang="en-US" sz="950" dirty="0">
                        <a:latin typeface="Courier New" charset="0"/>
                        <a:ea typeface="Courier New" charset="0"/>
                        <a:cs typeface="Courier New"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150" b="1" dirty="0">
                          <a:solidFill>
                            <a:srgbClr val="231D1A"/>
                          </a:solidFill>
                          <a:latin typeface="Calibri" pitchFamily="34" charset="0"/>
                          <a:ea typeface="Calibri" pitchFamily="34" charset="-122"/>
                          <a:cs typeface="Calibri" pitchFamily="34" charset="-120"/>
                        </a:rPr>
                        <a:t>4 000 ms</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100" dirty="0">
                          <a:solidFill>
                            <a:srgbClr val="231D1A"/>
                          </a:solidFill>
                          <a:latin typeface="Calibri" pitchFamily="34" charset="0"/>
                          <a:ea typeface="Calibri" pitchFamily="34" charset="-122"/>
                          <a:cs typeface="Calibri" pitchFamily="34" charset="-120"/>
                        </a:rPr>
                        <a:t>Độ dài cửa sổ trượt RSSI</a:t>
                      </a:r>
                      <a:endParaRPr lang="en-US" sz="110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5E2420"/>
                          </a:solidFill>
                          <a:latin typeface="Courier New" pitchFamily="34" charset="0"/>
                          <a:ea typeface="Courier New" pitchFamily="34" charset="-122"/>
                          <a:cs typeface="Courier New" pitchFamily="34" charset="-120"/>
                        </a:rPr>
                        <a:t>dwellTimeMs</a:t>
                      </a:r>
                      <a:endParaRPr lang="en-US" sz="950" dirty="0">
                        <a:latin typeface="Courier New" charset="0"/>
                        <a:ea typeface="Courier New" charset="0"/>
                        <a:cs typeface="Courier New"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150" b="1" dirty="0">
                          <a:solidFill>
                            <a:srgbClr val="231D1A"/>
                          </a:solidFill>
                          <a:latin typeface="Calibri" pitchFamily="34" charset="0"/>
                          <a:ea typeface="Calibri" pitchFamily="34" charset="-122"/>
                          <a:cs typeface="Calibri" pitchFamily="34" charset="-120"/>
                        </a:rPr>
                        <a:t>3 000 ms</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100" dirty="0">
                          <a:solidFill>
                            <a:srgbClr val="231D1A"/>
                          </a:solidFill>
                          <a:latin typeface="Calibri" pitchFamily="34" charset="0"/>
                          <a:ea typeface="Calibri" pitchFamily="34" charset="-122"/>
                          <a:cs typeface="Calibri" pitchFamily="34" charset="-120"/>
                        </a:rPr>
                        <a:t>Thời gian ứng viên phải giữ ưu thế</a:t>
                      </a:r>
                      <a:endParaRPr lang="en-US" sz="110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r>
              <a:tr h="457200">
                <a:tc>
                  <a:txBody>
                    <a:bodyPr/>
                    <a:lstStyle/>
                    <a:p>
                      <a:pPr indent="0" marL="0">
                        <a:buNone/>
                      </a:pPr>
                      <a:r>
                        <a:rPr lang="en-US" sz="950" b="1" dirty="0">
                          <a:solidFill>
                            <a:srgbClr val="5E2420"/>
                          </a:solidFill>
                          <a:latin typeface="Courier New" pitchFamily="34" charset="0"/>
                          <a:ea typeface="Courier New" pitchFamily="34" charset="-122"/>
                          <a:cs typeface="Courier New" pitchFamily="34" charset="-120"/>
                        </a:rPr>
                        <a:t>hysteresisDb</a:t>
                      </a:r>
                      <a:endParaRPr lang="en-US" sz="950" dirty="0">
                        <a:latin typeface="Courier New" charset="0"/>
                        <a:ea typeface="Courier New" charset="0"/>
                        <a:cs typeface="Courier New"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150" b="1" dirty="0">
                          <a:solidFill>
                            <a:srgbClr val="231D1A"/>
                          </a:solidFill>
                          <a:latin typeface="Calibri" pitchFamily="34" charset="0"/>
                          <a:ea typeface="Calibri" pitchFamily="34" charset="-122"/>
                          <a:cs typeface="Calibri" pitchFamily="34" charset="-120"/>
                        </a:rPr>
                        <a:t>4 dB</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100" dirty="0">
                          <a:solidFill>
                            <a:srgbClr val="231D1A"/>
                          </a:solidFill>
                          <a:latin typeface="Calibri" pitchFamily="34" charset="0"/>
                          <a:ea typeface="Calibri" pitchFamily="34" charset="-122"/>
                          <a:cs typeface="Calibri" pitchFamily="34" charset="-120"/>
                        </a:rPr>
                        <a:t>Mức vượt trội cần có để đổi zone</a:t>
                      </a:r>
                      <a:endParaRPr lang="en-US" sz="110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5E2420"/>
                          </a:solidFill>
                          <a:latin typeface="Courier New" pitchFamily="34" charset="0"/>
                          <a:ea typeface="Courier New" pitchFamily="34" charset="-122"/>
                          <a:cs typeface="Courier New" pitchFamily="34" charset="-120"/>
                        </a:rPr>
                        <a:t>minRssi</a:t>
                      </a:r>
                      <a:endParaRPr lang="en-US" sz="950" dirty="0">
                        <a:latin typeface="Courier New" charset="0"/>
                        <a:ea typeface="Courier New" charset="0"/>
                        <a:cs typeface="Courier New"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150" b="1" dirty="0">
                          <a:solidFill>
                            <a:srgbClr val="231D1A"/>
                          </a:solidFill>
                          <a:latin typeface="Calibri" pitchFamily="34" charset="0"/>
                          <a:ea typeface="Calibri" pitchFamily="34" charset="-122"/>
                          <a:cs typeface="Calibri" pitchFamily="34" charset="-120"/>
                        </a:rPr>
                        <a:t>−95 dBm</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100" dirty="0">
                          <a:solidFill>
                            <a:srgbClr val="231D1A"/>
                          </a:solidFill>
                          <a:latin typeface="Calibri" pitchFamily="34" charset="0"/>
                          <a:ea typeface="Calibri" pitchFamily="34" charset="-122"/>
                          <a:cs typeface="Calibri" pitchFamily="34" charset="-120"/>
                        </a:rPr>
                        <a:t>Ngưỡng “phòng khác”; Admin ghi đè theo từng beacon</a:t>
                      </a:r>
                      <a:endParaRPr lang="en-US" sz="110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r>
              <a:tr h="457200">
                <a:tc>
                  <a:txBody>
                    <a:bodyPr/>
                    <a:lstStyle/>
                    <a:p>
                      <a:pPr indent="0" marL="0">
                        <a:buNone/>
                      </a:pPr>
                      <a:r>
                        <a:rPr lang="en-US" sz="950" b="1" dirty="0">
                          <a:solidFill>
                            <a:srgbClr val="5E2420"/>
                          </a:solidFill>
                          <a:latin typeface="Courier New" pitchFamily="34" charset="0"/>
                          <a:ea typeface="Courier New" pitchFamily="34" charset="-122"/>
                          <a:cs typeface="Courier New" pitchFamily="34" charset="-120"/>
                        </a:rPr>
                        <a:t>notificationCooldownMs</a:t>
                      </a:r>
                      <a:endParaRPr lang="en-US" sz="950" dirty="0">
                        <a:latin typeface="Courier New" charset="0"/>
                        <a:ea typeface="Courier New" charset="0"/>
                        <a:cs typeface="Courier New"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150" b="1" dirty="0">
                          <a:solidFill>
                            <a:srgbClr val="231D1A"/>
                          </a:solidFill>
                          <a:latin typeface="Calibri" pitchFamily="34" charset="0"/>
                          <a:ea typeface="Calibri" pitchFamily="34" charset="-122"/>
                          <a:cs typeface="Calibri" pitchFamily="34" charset="-120"/>
                        </a:rPr>
                        <a:t>60 s</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100" dirty="0">
                          <a:solidFill>
                            <a:srgbClr val="231D1A"/>
                          </a:solidFill>
                          <a:latin typeface="Calibri" pitchFamily="34" charset="0"/>
                          <a:ea typeface="Calibri" pitchFamily="34" charset="-122"/>
                          <a:cs typeface="Calibri" pitchFamily="34" charset="-120"/>
                        </a:rPr>
                        <a:t>Không nhắc lại khi khách quay về zone cũ</a:t>
                      </a:r>
                      <a:endParaRPr lang="en-US" sz="110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5E2420"/>
                          </a:solidFill>
                          <a:latin typeface="Courier New" pitchFamily="34" charset="0"/>
                          <a:ea typeface="Courier New" pitchFamily="34" charset="-122"/>
                          <a:cs typeface="Courier New" pitchFamily="34" charset="-120"/>
                        </a:rPr>
                        <a:t>loseConfirmationAfterMs</a:t>
                      </a:r>
                      <a:endParaRPr lang="en-US" sz="950" dirty="0">
                        <a:latin typeface="Courier New" charset="0"/>
                        <a:ea typeface="Courier New" charset="0"/>
                        <a:cs typeface="Courier New"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150" b="1" dirty="0">
                          <a:solidFill>
                            <a:srgbClr val="231D1A"/>
                          </a:solidFill>
                          <a:latin typeface="Calibri" pitchFamily="34" charset="0"/>
                          <a:ea typeface="Calibri" pitchFamily="34" charset="-122"/>
                          <a:cs typeface="Calibri" pitchFamily="34" charset="-120"/>
                        </a:rPr>
                        <a:t>10 s</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100" dirty="0">
                          <a:solidFill>
                            <a:srgbClr val="231D1A"/>
                          </a:solidFill>
                          <a:latin typeface="Calibri" pitchFamily="34" charset="0"/>
                          <a:ea typeface="Calibri" pitchFamily="34" charset="-122"/>
                          <a:cs typeface="Calibri" pitchFamily="34" charset="-120"/>
                        </a:rPr>
                        <a:t>Mất tín hiệu quá lâu → bỏ xác nhận</a:t>
                      </a:r>
                      <a:endParaRPr lang="en-US" sz="110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r>
              <a:tr h="457200">
                <a:tc>
                  <a:txBody>
                    <a:bodyPr/>
                    <a:lstStyle/>
                    <a:p>
                      <a:pPr indent="0" marL="0">
                        <a:buNone/>
                      </a:pPr>
                      <a:r>
                        <a:rPr lang="en-US" sz="950" b="1" dirty="0">
                          <a:solidFill>
                            <a:srgbClr val="5E2420"/>
                          </a:solidFill>
                          <a:latin typeface="Courier New" pitchFamily="34" charset="0"/>
                          <a:ea typeface="Courier New" pitchFamily="34" charset="-122"/>
                          <a:cs typeface="Courier New" pitchFamily="34" charset="-120"/>
                        </a:rPr>
                        <a:t>tickIntervalMs</a:t>
                      </a:r>
                      <a:endParaRPr lang="en-US" sz="950" dirty="0">
                        <a:latin typeface="Courier New" charset="0"/>
                        <a:ea typeface="Courier New" charset="0"/>
                        <a:cs typeface="Courier New"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150" b="1" dirty="0">
                          <a:solidFill>
                            <a:srgbClr val="231D1A"/>
                          </a:solidFill>
                          <a:latin typeface="Calibri" pitchFamily="34" charset="0"/>
                          <a:ea typeface="Calibri" pitchFamily="34" charset="-122"/>
                          <a:cs typeface="Calibri" pitchFamily="34" charset="-120"/>
                        </a:rPr>
                        <a:t>500 ms</a:t>
                      </a:r>
                      <a:endParaRPr lang="en-US" sz="115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100" dirty="0">
                          <a:solidFill>
                            <a:srgbClr val="231D1A"/>
                          </a:solidFill>
                          <a:latin typeface="Calibri" pitchFamily="34" charset="0"/>
                          <a:ea typeface="Calibri" pitchFamily="34" charset="-122"/>
                          <a:cs typeface="Calibri" pitchFamily="34" charset="-120"/>
                        </a:rPr>
                        <a:t>Chu kỳ xếp hạng lại các beacon</a:t>
                      </a:r>
                      <a:endParaRPr lang="en-US" sz="1100" dirty="0">
                        <a:latin typeface="Calibri" charset="0"/>
                        <a:ea typeface="Calibri" charset="0"/>
                        <a:cs typeface="Calibri" charset="0"/>
                      </a:endParaRPr>
                    </a:p>
                  </a:txBody>
                  <a:tcPr marL="73152" marR="73152" marT="27432" marB="27432"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r>
            </a:tbl>
          </a:graphicData>
        </a:graphic>
      </p:graphicFrame>
      <p:sp>
        <p:nvSpPr>
          <p:cNvPr id="30" name="Text 26"/>
          <p:cNvSpPr txBox="1"/>
          <p:nvPr/>
        </p:nvSpPr>
        <p:spPr>
          <a:xfrm>
            <a:off x="6263640" y="5440680"/>
            <a:ext cx="5376672" cy="457200"/>
          </a:xfrm>
          <a:prstGeom prst="rect">
            <a:avLst/>
          </a:prstGeom>
          <a:noFill/>
          <a:ln/>
        </p:spPr>
        <p:txBody>
          <a:bodyPr wrap="square" lIns="0" tIns="0" rIns="0" bIns="0" rtlCol="0" anchor="t"/>
          <a:lstStyle/>
          <a:p>
            <a:pPr indent="0" marL="0">
              <a:buNone/>
            </a:pPr>
            <a:r>
              <a:rPr lang="en-US" sz="1150" i="1" dirty="0">
                <a:solidFill>
                  <a:srgbClr val="6B5F58"/>
                </a:solidFill>
                <a:latin typeface="Calibri" pitchFamily="34" charset="0"/>
                <a:ea typeface="Calibri" pitchFamily="34" charset="-122"/>
                <a:cs typeface="Calibri" pitchFamily="34" charset="-120"/>
              </a:rPr>
              <a:t>Đây là giá trị khởi điểm cho một tòa nhà, sẽ được hiệu chỉnh bằng đo đạc thực địa (xem kế hoạch đánh giá).</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1B17"/>
        </a:solidFill>
      </p:bgPr>
    </p:bg>
    <p:spTree>
      <p:nvGrpSpPr>
        <p:cNvPr id="1" name=""/>
        <p:cNvGrpSpPr/>
        <p:nvPr/>
      </p:nvGrpSpPr>
      <p:grpSpPr>
        <a:xfrm>
          <a:off x="0" y="0"/>
          <a:ext cx="0" cy="0"/>
          <a:chOff x="0" y="0"/>
          <a:chExt cx="0" cy="0"/>
        </a:xfrm>
      </p:grpSpPr>
      <p:pic>
        <p:nvPicPr>
          <p:cNvPr id="2" name="Image 0" descr="Họa tiết vòm trang trí">    </p:cNvPr>
          <p:cNvPicPr>
            <a:picLocks noChangeAspect="1"/>
          </p:cNvPicPr>
          <p:nvPr/>
        </p:nvPicPr>
        <p:blipFill>
          <a:blip r:embed="rId1"/>
          <a:stretch>
            <a:fillRect/>
          </a:stretch>
        </p:blipFill>
        <p:spPr>
          <a:xfrm>
            <a:off x="3703320" y="4160520"/>
            <a:ext cx="2011680" cy="2697480"/>
          </a:xfrm>
          <a:prstGeom prst="rect">
            <a:avLst/>
          </a:prstGeom>
        </p:spPr>
      </p:pic>
      <p:pic>
        <p:nvPicPr>
          <p:cNvPr id="3" name="Image 1" descr="Họa tiết vòm trang trí">    </p:cNvPr>
          <p:cNvPicPr>
            <a:picLocks noChangeAspect="1"/>
          </p:cNvPicPr>
          <p:nvPr/>
        </p:nvPicPr>
        <p:blipFill>
          <a:blip r:embed="rId2"/>
          <a:stretch>
            <a:fillRect/>
          </a:stretch>
        </p:blipFill>
        <p:spPr>
          <a:xfrm>
            <a:off x="3474720" y="3840480"/>
            <a:ext cx="2468880" cy="3017520"/>
          </a:xfrm>
          <a:prstGeom prst="rect">
            <a:avLst/>
          </a:prstGeom>
        </p:spPr>
      </p:pic>
      <p:sp>
        <p:nvSpPr>
          <p:cNvPr id="4" name="Text 0"/>
          <p:cNvSpPr txBox="1"/>
          <p:nvPr/>
        </p:nvSpPr>
        <p:spPr>
          <a:xfrm>
            <a:off x="731520" y="1371600"/>
            <a:ext cx="4572000" cy="292608"/>
          </a:xfrm>
          <a:prstGeom prst="rect">
            <a:avLst/>
          </a:prstGeom>
          <a:noFill/>
          <a:ln/>
        </p:spPr>
        <p:txBody>
          <a:bodyPr wrap="square" lIns="0" tIns="0" rIns="0" bIns="0" rtlCol="0" anchor="t"/>
          <a:lstStyle/>
          <a:p>
            <a:pPr indent="0" marL="0">
              <a:buNone/>
            </a:pPr>
            <a:r>
              <a:rPr lang="en-US" sz="1200" b="1" spc="300" kern="0" dirty="0">
                <a:solidFill>
                  <a:srgbClr val="B08A4F"/>
                </a:solidFill>
                <a:latin typeface="Calibri" pitchFamily="34" charset="0"/>
                <a:ea typeface="Calibri" pitchFamily="34" charset="-122"/>
                <a:cs typeface="Calibri" pitchFamily="34" charset="-120"/>
              </a:rPr>
              <a:t>06 · DEMO</a:t>
            </a:r>
            <a:endParaRPr lang="en-US" sz="1200" dirty="0"/>
          </a:p>
        </p:txBody>
      </p:sp>
      <p:sp>
        <p:nvSpPr>
          <p:cNvPr id="5" name="Text 1"/>
          <p:cNvSpPr txBox="1"/>
          <p:nvPr/>
        </p:nvSpPr>
        <p:spPr>
          <a:xfrm>
            <a:off x="731520" y="1737360"/>
            <a:ext cx="5120640" cy="914400"/>
          </a:xfrm>
          <a:prstGeom prst="rect">
            <a:avLst/>
          </a:prstGeom>
          <a:noFill/>
          <a:ln/>
        </p:spPr>
        <p:txBody>
          <a:bodyPr wrap="square" lIns="0" tIns="0" rIns="0" bIns="0" rtlCol="0" anchor="t"/>
          <a:lstStyle/>
          <a:p>
            <a:pPr indent="0" marL="0">
              <a:buNone/>
            </a:pPr>
            <a:r>
              <a:rPr lang="en-US" sz="4800" dirty="0">
                <a:solidFill>
                  <a:srgbClr val="FFFFFF"/>
                </a:solidFill>
                <a:latin typeface="Cambria" pitchFamily="34" charset="0"/>
                <a:ea typeface="Cambria" pitchFamily="34" charset="-122"/>
                <a:cs typeface="Cambria" pitchFamily="34" charset="-120"/>
              </a:rPr>
              <a:t>Demo ứng dụng</a:t>
            </a:r>
            <a:endParaRPr lang="en-US" sz="4800" dirty="0"/>
          </a:p>
        </p:txBody>
      </p:sp>
      <p:sp>
        <p:nvSpPr>
          <p:cNvPr id="6" name="Text 2"/>
          <p:cNvSpPr txBox="1"/>
          <p:nvPr/>
        </p:nvSpPr>
        <p:spPr>
          <a:xfrm>
            <a:off x="731520" y="2743200"/>
            <a:ext cx="4846320" cy="1005840"/>
          </a:xfrm>
          <a:prstGeom prst="rect">
            <a:avLst/>
          </a:prstGeom>
          <a:noFill/>
          <a:ln/>
        </p:spPr>
        <p:txBody>
          <a:bodyPr wrap="square" lIns="0" tIns="0" rIns="0" bIns="0" rtlCol="0" anchor="t"/>
          <a:lstStyle/>
          <a:p>
            <a:pPr indent="0" marL="0">
              <a:lnSpc>
                <a:spcPct val="110000"/>
              </a:lnSpc>
              <a:buNone/>
            </a:pPr>
            <a:r>
              <a:rPr lang="en-US" sz="1600" dirty="0">
                <a:solidFill>
                  <a:srgbClr val="EFE6DA"/>
                </a:solidFill>
                <a:latin typeface="Calibri" pitchFamily="34" charset="0"/>
                <a:ea typeface="Calibri" pitchFamily="34" charset="-122"/>
                <a:cs typeface="Calibri" pitchFamily="34" charset="-120"/>
              </a:rPr>
              <a:t>Kịch bản bốn màn trên dữ liệu mẫu: 3 khu vực, 3 beacon, 5 hiện vật (4 đã xuất bản), bản dịch mẫu vi · en · ja · fr.</a:t>
            </a:r>
            <a:endParaRPr lang="en-US" sz="1600" dirty="0"/>
          </a:p>
        </p:txBody>
      </p:sp>
      <p:pic>
        <p:nvPicPr>
          <p:cNvPr id="7" name="Image 2" descr="Họa tiết vòm trang trí">    </p:cNvPr>
          <p:cNvPicPr>
            <a:picLocks noChangeAspect="1"/>
          </p:cNvPicPr>
          <p:nvPr/>
        </p:nvPicPr>
        <p:blipFill>
          <a:blip r:embed="rId3"/>
          <a:stretch>
            <a:fillRect/>
          </a:stretch>
        </p:blipFill>
        <p:spPr>
          <a:xfrm>
            <a:off x="6309360" y="1325880"/>
            <a:ext cx="566928" cy="755904"/>
          </a:xfrm>
          <a:prstGeom prst="rect">
            <a:avLst/>
          </a:prstGeom>
        </p:spPr>
      </p:pic>
      <p:sp>
        <p:nvSpPr>
          <p:cNvPr id="8" name="Text 3"/>
          <p:cNvSpPr txBox="1"/>
          <p:nvPr/>
        </p:nvSpPr>
        <p:spPr>
          <a:xfrm>
            <a:off x="6309360" y="1598005"/>
            <a:ext cx="566928" cy="45354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4"/>
          <p:cNvSpPr txBox="1"/>
          <p:nvPr/>
        </p:nvSpPr>
        <p:spPr>
          <a:xfrm>
            <a:off x="7132320" y="1325880"/>
            <a:ext cx="2743200" cy="228600"/>
          </a:xfrm>
          <a:prstGeom prst="rect">
            <a:avLst/>
          </a:prstGeom>
          <a:noFill/>
          <a:ln/>
        </p:spPr>
        <p:txBody>
          <a:bodyPr wrap="square" lIns="0" tIns="0" rIns="0" bIns="0" rtlCol="0" anchor="t"/>
          <a:lstStyle/>
          <a:p>
            <a:pPr indent="0" marL="0">
              <a:buNone/>
            </a:pPr>
            <a:r>
              <a:rPr lang="en-US" sz="1000" b="1" spc="200" kern="0" dirty="0">
                <a:solidFill>
                  <a:srgbClr val="B08A4F"/>
                </a:solidFill>
                <a:latin typeface="Calibri" pitchFamily="34" charset="0"/>
                <a:ea typeface="Calibri" pitchFamily="34" charset="-122"/>
                <a:cs typeface="Calibri" pitchFamily="34" charset="-120"/>
              </a:rPr>
              <a:t>MÀN 1</a:t>
            </a:r>
            <a:endParaRPr lang="en-US" sz="1000" dirty="0"/>
          </a:p>
        </p:txBody>
      </p:sp>
      <p:sp>
        <p:nvSpPr>
          <p:cNvPr id="10" name="Text 5"/>
          <p:cNvSpPr txBox="1"/>
          <p:nvPr/>
        </p:nvSpPr>
        <p:spPr>
          <a:xfrm>
            <a:off x="7132320" y="1554480"/>
            <a:ext cx="4480560" cy="347472"/>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Bảng điều khiển Admin</a:t>
            </a:r>
            <a:endParaRPr lang="en-US" sz="1900" dirty="0"/>
          </a:p>
        </p:txBody>
      </p:sp>
      <p:sp>
        <p:nvSpPr>
          <p:cNvPr id="11" name="Text 6"/>
          <p:cNvSpPr txBox="1"/>
          <p:nvPr/>
        </p:nvSpPr>
        <p:spPr>
          <a:xfrm>
            <a:off x="7132320" y="1901952"/>
            <a:ext cx="4480560" cy="274320"/>
          </a:xfrm>
          <a:prstGeom prst="rect">
            <a:avLst/>
          </a:prstGeom>
          <a:noFill/>
          <a:ln/>
        </p:spPr>
        <p:txBody>
          <a:bodyPr wrap="square" lIns="0" tIns="0" rIns="0" bIns="0" rtlCol="0" anchor="t"/>
          <a:lstStyle/>
          <a:p>
            <a:pPr indent="0" marL="0">
              <a:buNone/>
            </a:pPr>
            <a:r>
              <a:rPr lang="en-US" sz="1350" dirty="0">
                <a:solidFill>
                  <a:srgbClr val="EFE6DA"/>
                </a:solidFill>
                <a:latin typeface="Calibri" pitchFamily="34" charset="0"/>
                <a:ea typeface="Calibri" pitchFamily="34" charset="-122"/>
                <a:cs typeface="Calibri" pitchFamily="34" charset="-120"/>
              </a:rPr>
              <a:t>Trạng thái trực tiếp của từng khu vực</a:t>
            </a:r>
            <a:endParaRPr lang="en-US" sz="1350" dirty="0"/>
          </a:p>
        </p:txBody>
      </p:sp>
      <p:pic>
        <p:nvPicPr>
          <p:cNvPr id="12" name="Image 3" descr="Họa tiết vòm trang trí">    </p:cNvPr>
          <p:cNvPicPr>
            <a:picLocks noChangeAspect="1"/>
          </p:cNvPicPr>
          <p:nvPr/>
        </p:nvPicPr>
        <p:blipFill>
          <a:blip r:embed="rId4"/>
          <a:stretch>
            <a:fillRect/>
          </a:stretch>
        </p:blipFill>
        <p:spPr>
          <a:xfrm>
            <a:off x="6309360" y="2514600"/>
            <a:ext cx="566928" cy="755904"/>
          </a:xfrm>
          <a:prstGeom prst="rect">
            <a:avLst/>
          </a:prstGeom>
        </p:spPr>
      </p:pic>
      <p:sp>
        <p:nvSpPr>
          <p:cNvPr id="13" name="Text 7"/>
          <p:cNvSpPr txBox="1"/>
          <p:nvPr/>
        </p:nvSpPr>
        <p:spPr>
          <a:xfrm>
            <a:off x="6309360" y="2786725"/>
            <a:ext cx="566928" cy="45354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8"/>
          <p:cNvSpPr txBox="1"/>
          <p:nvPr/>
        </p:nvSpPr>
        <p:spPr>
          <a:xfrm>
            <a:off x="7132320" y="2514600"/>
            <a:ext cx="2743200" cy="228600"/>
          </a:xfrm>
          <a:prstGeom prst="rect">
            <a:avLst/>
          </a:prstGeom>
          <a:noFill/>
          <a:ln/>
        </p:spPr>
        <p:txBody>
          <a:bodyPr wrap="square" lIns="0" tIns="0" rIns="0" bIns="0" rtlCol="0" anchor="t"/>
          <a:lstStyle/>
          <a:p>
            <a:pPr indent="0" marL="0">
              <a:buNone/>
            </a:pPr>
            <a:r>
              <a:rPr lang="en-US" sz="1000" b="1" spc="200" kern="0" dirty="0">
                <a:solidFill>
                  <a:srgbClr val="B08A4F"/>
                </a:solidFill>
                <a:latin typeface="Calibri" pitchFamily="34" charset="0"/>
                <a:ea typeface="Calibri" pitchFamily="34" charset="-122"/>
                <a:cs typeface="Calibri" pitchFamily="34" charset="-120"/>
              </a:rPr>
              <a:t>MÀN 2</a:t>
            </a:r>
            <a:endParaRPr lang="en-US" sz="1000" dirty="0"/>
          </a:p>
        </p:txBody>
      </p:sp>
      <p:sp>
        <p:nvSpPr>
          <p:cNvPr id="15" name="Text 9"/>
          <p:cNvSpPr txBox="1"/>
          <p:nvPr/>
        </p:nvSpPr>
        <p:spPr>
          <a:xfrm>
            <a:off x="7132320" y="2743200"/>
            <a:ext cx="4480560" cy="347472"/>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Khách quét QR</a:t>
            </a:r>
            <a:endParaRPr lang="en-US" sz="1900" dirty="0"/>
          </a:p>
        </p:txBody>
      </p:sp>
      <p:sp>
        <p:nvSpPr>
          <p:cNvPr id="16" name="Text 10"/>
          <p:cNvSpPr txBox="1"/>
          <p:nvPr/>
        </p:nvSpPr>
        <p:spPr>
          <a:xfrm>
            <a:off x="7132320" y="3090672"/>
            <a:ext cx="4480560" cy="274320"/>
          </a:xfrm>
          <a:prstGeom prst="rect">
            <a:avLst/>
          </a:prstGeom>
          <a:noFill/>
          <a:ln/>
        </p:spPr>
        <p:txBody>
          <a:bodyPr wrap="square" lIns="0" tIns="0" rIns="0" bIns="0" rtlCol="0" anchor="t"/>
          <a:lstStyle/>
          <a:p>
            <a:pPr indent="0" marL="0">
              <a:buNone/>
            </a:pPr>
            <a:r>
              <a:rPr lang="en-US" sz="1350" dirty="0">
                <a:solidFill>
                  <a:srgbClr val="EFE6DA"/>
                </a:solidFill>
                <a:latin typeface="Calibri" pitchFamily="34" charset="0"/>
                <a:ea typeface="Calibri" pitchFamily="34" charset="-122"/>
                <a:cs typeface="Calibri" pitchFamily="34" charset="-120"/>
              </a:rPr>
              <a:t>Một mã, nhiều ngôn ngữ, không cần cài đặt</a:t>
            </a:r>
            <a:endParaRPr lang="en-US" sz="1350" dirty="0"/>
          </a:p>
        </p:txBody>
      </p:sp>
      <p:pic>
        <p:nvPicPr>
          <p:cNvPr id="17" name="Image 4" descr="Họa tiết vòm trang trí">    </p:cNvPr>
          <p:cNvPicPr>
            <a:picLocks noChangeAspect="1"/>
          </p:cNvPicPr>
          <p:nvPr/>
        </p:nvPicPr>
        <p:blipFill>
          <a:blip r:embed="rId5"/>
          <a:stretch>
            <a:fillRect/>
          </a:stretch>
        </p:blipFill>
        <p:spPr>
          <a:xfrm>
            <a:off x="6309360" y="3703320"/>
            <a:ext cx="566928" cy="755904"/>
          </a:xfrm>
          <a:prstGeom prst="rect">
            <a:avLst/>
          </a:prstGeom>
        </p:spPr>
      </p:pic>
      <p:sp>
        <p:nvSpPr>
          <p:cNvPr id="18" name="Text 11"/>
          <p:cNvSpPr txBox="1"/>
          <p:nvPr/>
        </p:nvSpPr>
        <p:spPr>
          <a:xfrm>
            <a:off x="6309360" y="3975445"/>
            <a:ext cx="566928" cy="45354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2"/>
          <p:cNvSpPr txBox="1"/>
          <p:nvPr/>
        </p:nvSpPr>
        <p:spPr>
          <a:xfrm>
            <a:off x="7132320" y="3703320"/>
            <a:ext cx="2743200" cy="228600"/>
          </a:xfrm>
          <a:prstGeom prst="rect">
            <a:avLst/>
          </a:prstGeom>
          <a:noFill/>
          <a:ln/>
        </p:spPr>
        <p:txBody>
          <a:bodyPr wrap="square" lIns="0" tIns="0" rIns="0" bIns="0" rtlCol="0" anchor="t"/>
          <a:lstStyle/>
          <a:p>
            <a:pPr indent="0" marL="0">
              <a:buNone/>
            </a:pPr>
            <a:r>
              <a:rPr lang="en-US" sz="1000" b="1" spc="200" kern="0" dirty="0">
                <a:solidFill>
                  <a:srgbClr val="B08A4F"/>
                </a:solidFill>
                <a:latin typeface="Calibri" pitchFamily="34" charset="0"/>
                <a:ea typeface="Calibri" pitchFamily="34" charset="-122"/>
                <a:cs typeface="Calibri" pitchFamily="34" charset="-120"/>
              </a:rPr>
              <a:t>MÀN 3</a:t>
            </a:r>
            <a:endParaRPr lang="en-US" sz="1000" dirty="0"/>
          </a:p>
        </p:txBody>
      </p:sp>
      <p:sp>
        <p:nvSpPr>
          <p:cNvPr id="20" name="Text 13"/>
          <p:cNvSpPr txBox="1"/>
          <p:nvPr/>
        </p:nvSpPr>
        <p:spPr>
          <a:xfrm>
            <a:off x="7132320" y="3931920"/>
            <a:ext cx="4480560" cy="347472"/>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Luân chuyển hiện vật</a:t>
            </a:r>
            <a:endParaRPr lang="en-US" sz="1900" dirty="0"/>
          </a:p>
        </p:txBody>
      </p:sp>
      <p:sp>
        <p:nvSpPr>
          <p:cNvPr id="21" name="Text 14"/>
          <p:cNvSpPr txBox="1"/>
          <p:nvPr/>
        </p:nvSpPr>
        <p:spPr>
          <a:xfrm>
            <a:off x="7132320" y="4279392"/>
            <a:ext cx="4480560" cy="274320"/>
          </a:xfrm>
          <a:prstGeom prst="rect">
            <a:avLst/>
          </a:prstGeom>
          <a:noFill/>
          <a:ln/>
        </p:spPr>
        <p:txBody>
          <a:bodyPr wrap="square" lIns="0" tIns="0" rIns="0" bIns="0" rtlCol="0" anchor="t"/>
          <a:lstStyle/>
          <a:p>
            <a:pPr indent="0" marL="0">
              <a:buNone/>
            </a:pPr>
            <a:r>
              <a:rPr lang="en-US" sz="1350" dirty="0">
                <a:solidFill>
                  <a:srgbClr val="EFE6DA"/>
                </a:solidFill>
                <a:latin typeface="Calibri" pitchFamily="34" charset="0"/>
                <a:ea typeface="Calibri" pitchFamily="34" charset="-122"/>
                <a:cs typeface="Calibri" pitchFamily="34" charset="-120"/>
              </a:rPr>
              <a:t>Đổi nội dung, giữ nguyên QR và beacon</a:t>
            </a:r>
            <a:endParaRPr lang="en-US" sz="1350" dirty="0"/>
          </a:p>
        </p:txBody>
      </p:sp>
      <p:pic>
        <p:nvPicPr>
          <p:cNvPr id="22" name="Image 5" descr="Họa tiết vòm trang trí">    </p:cNvPr>
          <p:cNvPicPr>
            <a:picLocks noChangeAspect="1"/>
          </p:cNvPicPr>
          <p:nvPr/>
        </p:nvPicPr>
        <p:blipFill>
          <a:blip r:embed="rId6"/>
          <a:stretch>
            <a:fillRect/>
          </a:stretch>
        </p:blipFill>
        <p:spPr>
          <a:xfrm>
            <a:off x="6309360" y="4892040"/>
            <a:ext cx="566928" cy="755904"/>
          </a:xfrm>
          <a:prstGeom prst="rect">
            <a:avLst/>
          </a:prstGeom>
        </p:spPr>
      </p:pic>
      <p:sp>
        <p:nvSpPr>
          <p:cNvPr id="23" name="Text 15"/>
          <p:cNvSpPr txBox="1"/>
          <p:nvPr/>
        </p:nvSpPr>
        <p:spPr>
          <a:xfrm>
            <a:off x="6309360" y="5164165"/>
            <a:ext cx="566928" cy="45354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16"/>
          <p:cNvSpPr txBox="1"/>
          <p:nvPr/>
        </p:nvSpPr>
        <p:spPr>
          <a:xfrm>
            <a:off x="7132320" y="4892040"/>
            <a:ext cx="2743200" cy="228600"/>
          </a:xfrm>
          <a:prstGeom prst="rect">
            <a:avLst/>
          </a:prstGeom>
          <a:noFill/>
          <a:ln/>
        </p:spPr>
        <p:txBody>
          <a:bodyPr wrap="square" lIns="0" tIns="0" rIns="0" bIns="0" rtlCol="0" anchor="t"/>
          <a:lstStyle/>
          <a:p>
            <a:pPr indent="0" marL="0">
              <a:buNone/>
            </a:pPr>
            <a:r>
              <a:rPr lang="en-US" sz="1000" b="1" spc="200" kern="0" dirty="0">
                <a:solidFill>
                  <a:srgbClr val="B08A4F"/>
                </a:solidFill>
                <a:latin typeface="Calibri" pitchFamily="34" charset="0"/>
                <a:ea typeface="Calibri" pitchFamily="34" charset="-122"/>
                <a:cs typeface="Calibri" pitchFamily="34" charset="-120"/>
              </a:rPr>
              <a:t>MÀN 4</a:t>
            </a:r>
            <a:endParaRPr lang="en-US" sz="1000" dirty="0"/>
          </a:p>
        </p:txBody>
      </p:sp>
      <p:sp>
        <p:nvSpPr>
          <p:cNvPr id="25" name="Text 17"/>
          <p:cNvSpPr txBox="1"/>
          <p:nvPr/>
        </p:nvSpPr>
        <p:spPr>
          <a:xfrm>
            <a:off x="7132320" y="5120640"/>
            <a:ext cx="4480560" cy="347472"/>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App mobile với BLE</a:t>
            </a:r>
            <a:endParaRPr lang="en-US" sz="1900" dirty="0"/>
          </a:p>
        </p:txBody>
      </p:sp>
      <p:sp>
        <p:nvSpPr>
          <p:cNvPr id="26" name="Text 18"/>
          <p:cNvSpPr txBox="1"/>
          <p:nvPr/>
        </p:nvSpPr>
        <p:spPr>
          <a:xfrm>
            <a:off x="7132320" y="5468112"/>
            <a:ext cx="4480560" cy="274320"/>
          </a:xfrm>
          <a:prstGeom prst="rect">
            <a:avLst/>
          </a:prstGeom>
          <a:noFill/>
          <a:ln/>
        </p:spPr>
        <p:txBody>
          <a:bodyPr wrap="square" lIns="0" tIns="0" rIns="0" bIns="0" rtlCol="0" anchor="t"/>
          <a:lstStyle/>
          <a:p>
            <a:pPr indent="0" marL="0">
              <a:buNone/>
            </a:pPr>
            <a:r>
              <a:rPr lang="en-US" sz="1350" dirty="0">
                <a:solidFill>
                  <a:srgbClr val="EFE6DA"/>
                </a:solidFill>
                <a:latin typeface="Calibri" pitchFamily="34" charset="0"/>
                <a:ea typeface="Calibri" pitchFamily="34" charset="-122"/>
                <a:cs typeface="Calibri" pitchFamily="34" charset="-120"/>
              </a:rPr>
              <a:t>Tự nhận ra khách đang ở khu vực nào</a:t>
            </a:r>
            <a:endParaRPr lang="en-US" sz="1350" dirty="0"/>
          </a:p>
        </p:txBody>
      </p:sp>
      <p:pic>
        <p:nvPicPr>
          <p:cNvPr id="27" name="Image 6" descr="Họa tiết vòm trang trí">    </p:cNvPr>
          <p:cNvPicPr>
            <a:picLocks noChangeAspect="1"/>
          </p:cNvPicPr>
          <p:nvPr/>
        </p:nvPicPr>
        <p:blipFill>
          <a:blip r:embed="rId7"/>
          <a:stretch>
            <a:fillRect/>
          </a:stretch>
        </p:blipFill>
        <p:spPr>
          <a:xfrm>
            <a:off x="548640" y="6419088"/>
            <a:ext cx="118872" cy="158191"/>
          </a:xfrm>
          <a:prstGeom prst="rect">
            <a:avLst/>
          </a:prstGeom>
        </p:spPr>
      </p:pic>
      <p:sp>
        <p:nvSpPr>
          <p:cNvPr id="28" name="Text 19"/>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EFE6DA"/>
                </a:solidFill>
                <a:latin typeface="Calibri" pitchFamily="34" charset="0"/>
                <a:ea typeface="Calibri" pitchFamily="34" charset="-122"/>
                <a:cs typeface="Calibri" pitchFamily="34" charset="-120"/>
              </a:rPr>
              <a:t>SMART MUSEUM GUIDE  ·  BÁO CÁO GIỮA KÌ</a:t>
            </a:r>
            <a:endParaRPr lang="en-US" sz="850" dirty="0"/>
          </a:p>
        </p:txBody>
      </p:sp>
      <p:sp>
        <p:nvSpPr>
          <p:cNvPr id="29" name="Text 20"/>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EFE6DA"/>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DEMO · MÀN 1</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Bảng điều khiển: mỗi khu vực đang hiển thị gì?</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13 / 20</a:t>
            </a:r>
            <a:endParaRPr lang="en-US" sz="900" dirty="0"/>
          </a:p>
        </p:txBody>
      </p:sp>
      <p:pic>
        <p:nvPicPr>
          <p:cNvPr id="7" name="Image 1" descr="Ảnh chụp trang quản trị Admin">    </p:cNvPr>
          <p:cNvPicPr>
            <a:picLocks noChangeAspect="1"/>
          </p:cNvPicPr>
          <p:nvPr/>
        </p:nvPicPr>
        <p:blipFill>
          <a:blip r:embed="rId2"/>
          <a:stretch>
            <a:fillRect/>
          </a:stretch>
        </p:blipFill>
        <p:spPr>
          <a:xfrm>
            <a:off x="228600" y="1261872"/>
            <a:ext cx="7315200" cy="4856048"/>
          </a:xfrm>
          <a:prstGeom prst="rect">
            <a:avLst/>
          </a:prstGeom>
        </p:spPr>
      </p:pic>
      <p:pic>
        <p:nvPicPr>
          <p:cNvPr id="8" name="Image 2" descr="Họa tiết vòm trang trí">    </p:cNvPr>
          <p:cNvPicPr>
            <a:picLocks noChangeAspect="1"/>
          </p:cNvPicPr>
          <p:nvPr/>
        </p:nvPicPr>
        <p:blipFill>
          <a:blip r:embed="rId3"/>
          <a:stretch>
            <a:fillRect/>
          </a:stretch>
        </p:blipFill>
        <p:spPr>
          <a:xfrm>
            <a:off x="8001000" y="1783080"/>
            <a:ext cx="411480" cy="548640"/>
          </a:xfrm>
          <a:prstGeom prst="rect">
            <a:avLst/>
          </a:prstGeom>
        </p:spPr>
      </p:pic>
      <p:sp>
        <p:nvSpPr>
          <p:cNvPr id="9" name="Text 4"/>
          <p:cNvSpPr txBox="1"/>
          <p:nvPr/>
        </p:nvSpPr>
        <p:spPr>
          <a:xfrm>
            <a:off x="8001000" y="1980590"/>
            <a:ext cx="411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5"/>
          <p:cNvSpPr txBox="1"/>
          <p:nvPr/>
        </p:nvSpPr>
        <p:spPr>
          <a:xfrm>
            <a:off x="8641080" y="1764792"/>
            <a:ext cx="2999232" cy="320040"/>
          </a:xfrm>
          <a:prstGeom prst="rect">
            <a:avLst/>
          </a:prstGeom>
          <a:noFill/>
          <a:ln/>
        </p:spPr>
        <p:txBody>
          <a:bodyPr wrap="square" lIns="0" tIns="0" rIns="0" bIns="0" rtlCol="0" anchor="t"/>
          <a:lstStyle/>
          <a:p>
            <a:pPr indent="0" marL="0">
              <a:buNone/>
            </a:pPr>
            <a:r>
              <a:rPr lang="en-US" sz="1500" b="1" dirty="0">
                <a:solidFill>
                  <a:srgbClr val="231D1A"/>
                </a:solidFill>
                <a:latin typeface="Calibri" pitchFamily="34" charset="0"/>
                <a:ea typeface="Calibri" pitchFamily="34" charset="-122"/>
                <a:cs typeface="Calibri" pitchFamily="34" charset="-120"/>
              </a:rPr>
              <a:t>Trạng thái trực tiếp</a:t>
            </a:r>
            <a:endParaRPr lang="en-US" sz="1500" dirty="0"/>
          </a:p>
        </p:txBody>
      </p:sp>
      <p:sp>
        <p:nvSpPr>
          <p:cNvPr id="11" name="Text 6"/>
          <p:cNvSpPr txBox="1"/>
          <p:nvPr/>
        </p:nvSpPr>
        <p:spPr>
          <a:xfrm>
            <a:off x="8641080" y="2112264"/>
            <a:ext cx="2999232" cy="822960"/>
          </a:xfrm>
          <a:prstGeom prst="rect">
            <a:avLst/>
          </a:prstGeom>
          <a:noFill/>
          <a:ln/>
        </p:spPr>
        <p:txBody>
          <a:bodyPr wrap="square" lIns="0" tIns="0" rIns="0" bIns="0" rtlCol="0" anchor="t"/>
          <a:lstStyle/>
          <a:p>
            <a:pPr indent="0" marL="0">
              <a:lnSpc>
                <a:spcPct val="105000"/>
              </a:lnSpc>
              <a:buNone/>
            </a:pPr>
            <a:r>
              <a:rPr lang="en-US" sz="1200" dirty="0">
                <a:solidFill>
                  <a:srgbClr val="6B5F58"/>
                </a:solidFill>
                <a:latin typeface="Calibri" pitchFamily="34" charset="0"/>
                <a:ea typeface="Calibri" pitchFamily="34" charset="-122"/>
                <a:cs typeface="Calibri" pitchFamily="34" charset="-120"/>
              </a:rPr>
              <a:t>Mỗi khu vực trỏ tới hiện vật nào, từ khi nào — dùng đúng quy tắc mà app khách dùng.</a:t>
            </a:r>
            <a:endParaRPr lang="en-US" sz="1200" dirty="0"/>
          </a:p>
        </p:txBody>
      </p:sp>
      <p:pic>
        <p:nvPicPr>
          <p:cNvPr id="12" name="Image 3" descr="Họa tiết vòm trang trí">    </p:cNvPr>
          <p:cNvPicPr>
            <a:picLocks noChangeAspect="1"/>
          </p:cNvPicPr>
          <p:nvPr/>
        </p:nvPicPr>
        <p:blipFill>
          <a:blip r:embed="rId4"/>
          <a:stretch>
            <a:fillRect/>
          </a:stretch>
        </p:blipFill>
        <p:spPr>
          <a:xfrm>
            <a:off x="8001000" y="3108960"/>
            <a:ext cx="411480" cy="548640"/>
          </a:xfrm>
          <a:prstGeom prst="rect">
            <a:avLst/>
          </a:prstGeom>
        </p:spPr>
      </p:pic>
      <p:sp>
        <p:nvSpPr>
          <p:cNvPr id="13" name="Text 7"/>
          <p:cNvSpPr txBox="1"/>
          <p:nvPr/>
        </p:nvSpPr>
        <p:spPr>
          <a:xfrm>
            <a:off x="8001000" y="3306470"/>
            <a:ext cx="411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8"/>
          <p:cNvSpPr txBox="1"/>
          <p:nvPr/>
        </p:nvSpPr>
        <p:spPr>
          <a:xfrm>
            <a:off x="8641080" y="3090672"/>
            <a:ext cx="2999232" cy="320040"/>
          </a:xfrm>
          <a:prstGeom prst="rect">
            <a:avLst/>
          </a:prstGeom>
          <a:noFill/>
          <a:ln/>
        </p:spPr>
        <p:txBody>
          <a:bodyPr wrap="square" lIns="0" tIns="0" rIns="0" bIns="0" rtlCol="0" anchor="t"/>
          <a:lstStyle/>
          <a:p>
            <a:pPr indent="0" marL="0">
              <a:buNone/>
            </a:pPr>
            <a:r>
              <a:rPr lang="en-US" sz="1500" b="1" dirty="0">
                <a:solidFill>
                  <a:srgbClr val="231D1A"/>
                </a:solidFill>
                <a:latin typeface="Calibri" pitchFamily="34" charset="0"/>
                <a:ea typeface="Calibri" pitchFamily="34" charset="-122"/>
                <a:cs typeface="Calibri" pitchFamily="34" charset="-120"/>
              </a:rPr>
              <a:t>Cảnh báo sớm</a:t>
            </a:r>
            <a:endParaRPr lang="en-US" sz="1500" dirty="0"/>
          </a:p>
        </p:txBody>
      </p:sp>
      <p:sp>
        <p:nvSpPr>
          <p:cNvPr id="15" name="Text 9"/>
          <p:cNvSpPr txBox="1"/>
          <p:nvPr/>
        </p:nvSpPr>
        <p:spPr>
          <a:xfrm>
            <a:off x="8641080" y="3438144"/>
            <a:ext cx="2999232" cy="822960"/>
          </a:xfrm>
          <a:prstGeom prst="rect">
            <a:avLst/>
          </a:prstGeom>
          <a:noFill/>
          <a:ln/>
        </p:spPr>
        <p:txBody>
          <a:bodyPr wrap="square" lIns="0" tIns="0" rIns="0" bIns="0" rtlCol="0" anchor="t"/>
          <a:lstStyle/>
          <a:p>
            <a:pPr indent="0" marL="0">
              <a:lnSpc>
                <a:spcPct val="105000"/>
              </a:lnSpc>
              <a:buNone/>
            </a:pPr>
            <a:r>
              <a:rPr lang="en-US" sz="1200" dirty="0">
                <a:solidFill>
                  <a:srgbClr val="6B5F58"/>
                </a:solidFill>
                <a:latin typeface="Calibri" pitchFamily="34" charset="0"/>
                <a:ea typeface="Calibri" pitchFamily="34" charset="-122"/>
                <a:cs typeface="Calibri" pitchFamily="34" charset="-120"/>
              </a:rPr>
              <a:t>Báo khi có khu vực không trả về hiện vật đã xuất bản, trước khi khách gặp lỗi.</a:t>
            </a:r>
            <a:endParaRPr lang="en-US" sz="1200" dirty="0"/>
          </a:p>
        </p:txBody>
      </p:sp>
      <p:pic>
        <p:nvPicPr>
          <p:cNvPr id="16" name="Image 4" descr="Họa tiết vòm trang trí">    </p:cNvPr>
          <p:cNvPicPr>
            <a:picLocks noChangeAspect="1"/>
          </p:cNvPicPr>
          <p:nvPr/>
        </p:nvPicPr>
        <p:blipFill>
          <a:blip r:embed="rId5"/>
          <a:stretch>
            <a:fillRect/>
          </a:stretch>
        </p:blipFill>
        <p:spPr>
          <a:xfrm>
            <a:off x="8001000" y="4434840"/>
            <a:ext cx="411480" cy="548640"/>
          </a:xfrm>
          <a:prstGeom prst="rect">
            <a:avLst/>
          </a:prstGeom>
        </p:spPr>
      </p:pic>
      <p:sp>
        <p:nvSpPr>
          <p:cNvPr id="17" name="Text 10"/>
          <p:cNvSpPr txBox="1"/>
          <p:nvPr/>
        </p:nvSpPr>
        <p:spPr>
          <a:xfrm>
            <a:off x="8001000" y="4632350"/>
            <a:ext cx="411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1"/>
          <p:cNvSpPr txBox="1"/>
          <p:nvPr/>
        </p:nvSpPr>
        <p:spPr>
          <a:xfrm>
            <a:off x="8641080" y="4416552"/>
            <a:ext cx="2999232" cy="320040"/>
          </a:xfrm>
          <a:prstGeom prst="rect">
            <a:avLst/>
          </a:prstGeom>
          <a:noFill/>
          <a:ln/>
        </p:spPr>
        <p:txBody>
          <a:bodyPr wrap="square" lIns="0" tIns="0" rIns="0" bIns="0" rtlCol="0" anchor="t"/>
          <a:lstStyle/>
          <a:p>
            <a:pPr indent="0" marL="0">
              <a:buNone/>
            </a:pPr>
            <a:r>
              <a:rPr lang="en-US" sz="1500" b="1" dirty="0">
                <a:solidFill>
                  <a:srgbClr val="231D1A"/>
                </a:solidFill>
                <a:latin typeface="Calibri" pitchFamily="34" charset="0"/>
                <a:ea typeface="Calibri" pitchFamily="34" charset="-122"/>
                <a:cs typeface="Calibri" pitchFamily="34" charset="-120"/>
              </a:rPr>
              <a:t>Song ngữ cho nhân viên</a:t>
            </a:r>
            <a:endParaRPr lang="en-US" sz="1500" dirty="0"/>
          </a:p>
        </p:txBody>
      </p:sp>
      <p:sp>
        <p:nvSpPr>
          <p:cNvPr id="19" name="Text 12"/>
          <p:cNvSpPr txBox="1"/>
          <p:nvPr/>
        </p:nvSpPr>
        <p:spPr>
          <a:xfrm>
            <a:off x="8641080" y="4764024"/>
            <a:ext cx="2999232" cy="822960"/>
          </a:xfrm>
          <a:prstGeom prst="rect">
            <a:avLst/>
          </a:prstGeom>
          <a:noFill/>
          <a:ln/>
        </p:spPr>
        <p:txBody>
          <a:bodyPr wrap="square" lIns="0" tIns="0" rIns="0" bIns="0" rtlCol="0" anchor="t"/>
          <a:lstStyle/>
          <a:p>
            <a:pPr indent="0" marL="0">
              <a:lnSpc>
                <a:spcPct val="105000"/>
              </a:lnSpc>
              <a:buNone/>
            </a:pPr>
            <a:r>
              <a:rPr lang="en-US" sz="1200" dirty="0">
                <a:solidFill>
                  <a:srgbClr val="6B5F58"/>
                </a:solidFill>
                <a:latin typeface="Calibri" pitchFamily="34" charset="0"/>
                <a:ea typeface="Calibri" pitchFamily="34" charset="-122"/>
                <a:cs typeface="Calibri" pitchFamily="34" charset="-120"/>
              </a:rPr>
              <a:t>Giao diện Admin chuyển Việt / Anh; dữ liệu mẫu nạp sẵn bằng lệnh db:seed.</a:t>
            </a:r>
            <a:endParaRPr lang="en-US" sz="1200" dirty="0"/>
          </a:p>
        </p:txBody>
      </p:sp>
      <p:sp>
        <p:nvSpPr>
          <p:cNvPr id="20" name="Shape 13"/>
          <p:cNvSpPr/>
          <p:nvPr/>
        </p:nvSpPr>
        <p:spPr>
          <a:xfrm>
            <a:off x="8001000" y="5532120"/>
            <a:ext cx="3639312" cy="548640"/>
          </a:xfrm>
          <a:prstGeom prst="roundRect">
            <a:avLst>
              <a:gd name="adj" fmla="val 13333"/>
            </a:avLst>
          </a:prstGeom>
          <a:solidFill>
            <a:srgbClr val="EFE6DA"/>
          </a:solidFill>
          <a:ln w="9525">
            <a:solidFill>
              <a:srgbClr val="EFE6DA"/>
            </a:solidFill>
            <a:prstDash val="solid"/>
          </a:ln>
        </p:spPr>
      </p:sp>
      <p:sp>
        <p:nvSpPr>
          <p:cNvPr id="21" name="Text 14"/>
          <p:cNvSpPr txBox="1"/>
          <p:nvPr/>
        </p:nvSpPr>
        <p:spPr>
          <a:xfrm>
            <a:off x="8183880" y="5532120"/>
            <a:ext cx="3383280" cy="548640"/>
          </a:xfrm>
          <a:prstGeom prst="rect">
            <a:avLst/>
          </a:prstGeom>
          <a:noFill/>
          <a:ln/>
        </p:spPr>
        <p:txBody>
          <a:bodyPr wrap="square" lIns="0" tIns="0" rIns="0" bIns="0" rtlCol="0" anchor="ctr"/>
          <a:lstStyle/>
          <a:p>
            <a:pPr indent="0" marL="0">
              <a:buNone/>
            </a:pPr>
            <a:r>
              <a:rPr lang="en-US" sz="1200" b="1" dirty="0">
                <a:solidFill>
                  <a:srgbClr val="5E2420"/>
                </a:solidFill>
                <a:latin typeface="Calibri" pitchFamily="34" charset="0"/>
                <a:ea typeface="Calibri" pitchFamily="34" charset="-122"/>
                <a:cs typeface="Calibri" pitchFamily="34" charset="-120"/>
              </a:rPr>
              <a:t>Mở: </a:t>
            </a:r>
            <a:pPr indent="0" marL="0">
              <a:buNone/>
            </a:pPr>
            <a:r>
              <a:rPr lang="en-US" sz="1100" dirty="0">
                <a:solidFill>
                  <a:srgbClr val="231D1A"/>
                </a:solidFill>
                <a:latin typeface="Courier New" pitchFamily="34" charset="0"/>
                <a:ea typeface="Courier New" pitchFamily="34" charset="-122"/>
                <a:cs typeface="Courier New" pitchFamily="34" charset="-120"/>
              </a:rPr>
              <a:t>localhost:4000  →  Tổng quan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DEMO · MÀN 2</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Một mã QR, nhiều ngôn ngữ — không cần cài đặt</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14 / 20</a:t>
            </a:r>
            <a:endParaRPr lang="en-US" sz="900" dirty="0"/>
          </a:p>
        </p:txBody>
      </p:sp>
      <p:sp>
        <p:nvSpPr>
          <p:cNvPr id="7" name="Text 4"/>
          <p:cNvSpPr txBox="1"/>
          <p:nvPr/>
        </p:nvSpPr>
        <p:spPr>
          <a:xfrm>
            <a:off x="548640" y="1572768"/>
            <a:ext cx="2743200" cy="228600"/>
          </a:xfrm>
          <a:prstGeom prst="rect">
            <a:avLst/>
          </a:prstGeom>
          <a:noFill/>
          <a:ln/>
        </p:spPr>
        <p:txBody>
          <a:bodyPr wrap="square" lIns="0" tIns="0" rIns="0" bIns="0" rtlCol="0" anchor="t"/>
          <a:lstStyle/>
          <a:p>
            <a:pPr indent="0" marL="0">
              <a:buNone/>
            </a:pPr>
            <a:r>
              <a:rPr lang="en-US" sz="1000" b="1" spc="200" kern="0" dirty="0">
                <a:solidFill>
                  <a:srgbClr val="8A6732"/>
                </a:solidFill>
                <a:latin typeface="Calibri" pitchFamily="34" charset="0"/>
                <a:ea typeface="Calibri" pitchFamily="34" charset="-122"/>
                <a:cs typeface="Calibri" pitchFamily="34" charset="-120"/>
              </a:rPr>
              <a:t>KỊCH BẢN</a:t>
            </a:r>
            <a:endParaRPr lang="en-US" sz="1000" dirty="0"/>
          </a:p>
        </p:txBody>
      </p:sp>
      <p:sp>
        <p:nvSpPr>
          <p:cNvPr id="8" name="Shape 5"/>
          <p:cNvSpPr/>
          <p:nvPr/>
        </p:nvSpPr>
        <p:spPr>
          <a:xfrm>
            <a:off x="548640" y="1892808"/>
            <a:ext cx="310896" cy="310896"/>
          </a:xfrm>
          <a:prstGeom prst="ellipse">
            <a:avLst/>
          </a:prstGeom>
          <a:solidFill>
            <a:srgbClr val="5E2420"/>
          </a:solidFill>
          <a:ln w="12700">
            <a:solidFill>
              <a:srgbClr val="5E2420"/>
            </a:solidFill>
            <a:prstDash val="solid"/>
          </a:ln>
        </p:spPr>
      </p:sp>
      <p:sp>
        <p:nvSpPr>
          <p:cNvPr id="9" name="Text 6"/>
          <p:cNvSpPr txBox="1"/>
          <p:nvPr/>
        </p:nvSpPr>
        <p:spPr>
          <a:xfrm>
            <a:off x="548640" y="18928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1005840" y="1874520"/>
            <a:ext cx="2926080" cy="658368"/>
          </a:xfrm>
          <a:prstGeom prst="rect">
            <a:avLst/>
          </a:prstGeom>
          <a:noFill/>
          <a:ln/>
        </p:spPr>
        <p:txBody>
          <a:bodyPr wrap="square" lIns="0" tIns="0" rIns="0" bIns="0" rtlCol="0" anchor="t"/>
          <a:lstStyle/>
          <a:p>
            <a:pPr indent="0" marL="0">
              <a:buNone/>
            </a:pPr>
            <a:r>
              <a:rPr lang="en-US" sz="1300" dirty="0">
                <a:solidFill>
                  <a:srgbClr val="231D1A"/>
                </a:solidFill>
                <a:latin typeface="Calibri" pitchFamily="34" charset="0"/>
                <a:ea typeface="Calibri" pitchFamily="34" charset="-122"/>
                <a:cs typeface="Calibri" pitchFamily="34" charset="-120"/>
              </a:rPr>
              <a:t>Quét QR của ZONE_A01 → trình duyệt mở /q/ZONE_A01</a:t>
            </a:r>
            <a:endParaRPr lang="en-US" sz="1300" dirty="0"/>
          </a:p>
        </p:txBody>
      </p:sp>
      <p:sp>
        <p:nvSpPr>
          <p:cNvPr id="11" name="Shape 8"/>
          <p:cNvSpPr/>
          <p:nvPr/>
        </p:nvSpPr>
        <p:spPr>
          <a:xfrm>
            <a:off x="548640" y="2670048"/>
            <a:ext cx="310896" cy="310896"/>
          </a:xfrm>
          <a:prstGeom prst="ellipse">
            <a:avLst/>
          </a:prstGeom>
          <a:solidFill>
            <a:srgbClr val="5E2420"/>
          </a:solidFill>
          <a:ln w="12700">
            <a:solidFill>
              <a:srgbClr val="5E2420"/>
            </a:solidFill>
            <a:prstDash val="solid"/>
          </a:ln>
        </p:spPr>
      </p:sp>
      <p:sp>
        <p:nvSpPr>
          <p:cNvPr id="12" name="Text 9"/>
          <p:cNvSpPr txBox="1"/>
          <p:nvPr/>
        </p:nvSpPr>
        <p:spPr>
          <a:xfrm>
            <a:off x="548640" y="26700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txBox="1"/>
          <p:nvPr/>
        </p:nvSpPr>
        <p:spPr>
          <a:xfrm>
            <a:off x="1005840" y="2651760"/>
            <a:ext cx="2926080" cy="658368"/>
          </a:xfrm>
          <a:prstGeom prst="rect">
            <a:avLst/>
          </a:prstGeom>
          <a:noFill/>
          <a:ln/>
        </p:spPr>
        <p:txBody>
          <a:bodyPr wrap="square" lIns="0" tIns="0" rIns="0" bIns="0" rtlCol="0" anchor="t"/>
          <a:lstStyle/>
          <a:p>
            <a:pPr indent="0" marL="0">
              <a:buNone/>
            </a:pPr>
            <a:r>
              <a:rPr lang="en-US" sz="1300" dirty="0">
                <a:solidFill>
                  <a:srgbClr val="231D1A"/>
                </a:solidFill>
                <a:latin typeface="Calibri" pitchFamily="34" charset="0"/>
                <a:ea typeface="Calibri" pitchFamily="34" charset="-122"/>
                <a:cs typeface="Calibri" pitchFamily="34" charset="-120"/>
              </a:rPr>
              <a:t>Đổi Tiếng Việt → English → 日本語 ngay trên trang</a:t>
            </a:r>
            <a:endParaRPr lang="en-US" sz="1300" dirty="0"/>
          </a:p>
        </p:txBody>
      </p:sp>
      <p:sp>
        <p:nvSpPr>
          <p:cNvPr id="14" name="Shape 11"/>
          <p:cNvSpPr/>
          <p:nvPr/>
        </p:nvSpPr>
        <p:spPr>
          <a:xfrm>
            <a:off x="548640" y="3447288"/>
            <a:ext cx="310896" cy="310896"/>
          </a:xfrm>
          <a:prstGeom prst="ellipse">
            <a:avLst/>
          </a:prstGeom>
          <a:solidFill>
            <a:srgbClr val="5E2420"/>
          </a:solidFill>
          <a:ln w="12700">
            <a:solidFill>
              <a:srgbClr val="5E2420"/>
            </a:solidFill>
            <a:prstDash val="solid"/>
          </a:ln>
        </p:spPr>
      </p:sp>
      <p:sp>
        <p:nvSpPr>
          <p:cNvPr id="15" name="Text 12"/>
          <p:cNvSpPr txBox="1"/>
          <p:nvPr/>
        </p:nvSpPr>
        <p:spPr>
          <a:xfrm>
            <a:off x="548640" y="3447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txBox="1"/>
          <p:nvPr/>
        </p:nvSpPr>
        <p:spPr>
          <a:xfrm>
            <a:off x="1005840" y="3429000"/>
            <a:ext cx="2926080" cy="658368"/>
          </a:xfrm>
          <a:prstGeom prst="rect">
            <a:avLst/>
          </a:prstGeom>
          <a:noFill/>
          <a:ln/>
        </p:spPr>
        <p:txBody>
          <a:bodyPr wrap="square" lIns="0" tIns="0" rIns="0" bIns="0" rtlCol="0" anchor="t"/>
          <a:lstStyle/>
          <a:p>
            <a:pPr indent="0" marL="0">
              <a:buNone/>
            </a:pPr>
            <a:r>
              <a:rPr lang="en-US" sz="1300" dirty="0">
                <a:solidFill>
                  <a:srgbClr val="231D1A"/>
                </a:solidFill>
                <a:latin typeface="Calibri" pitchFamily="34" charset="0"/>
                <a:ea typeface="Calibri" pitchFamily="34" charset="-122"/>
                <a:cs typeface="Calibri" pitchFamily="34" charset="-120"/>
              </a:rPr>
              <a:t>Ngôn ngữ chưa có audio: trang báo rõ thay vì im lặng</a:t>
            </a:r>
            <a:endParaRPr lang="en-US" sz="1300" dirty="0"/>
          </a:p>
        </p:txBody>
      </p:sp>
      <p:sp>
        <p:nvSpPr>
          <p:cNvPr id="17" name="Shape 14"/>
          <p:cNvSpPr/>
          <p:nvPr/>
        </p:nvSpPr>
        <p:spPr>
          <a:xfrm>
            <a:off x="548640" y="4343400"/>
            <a:ext cx="3474720" cy="1737360"/>
          </a:xfrm>
          <a:prstGeom prst="roundRect">
            <a:avLst>
              <a:gd name="adj" fmla="val 4211"/>
            </a:avLst>
          </a:prstGeom>
          <a:solidFill>
            <a:srgbClr val="EFE6DA"/>
          </a:solidFill>
          <a:ln w="9525">
            <a:solidFill>
              <a:srgbClr val="EFE6DA"/>
            </a:solidFill>
            <a:prstDash val="solid"/>
          </a:ln>
        </p:spPr>
      </p:sp>
      <p:sp>
        <p:nvSpPr>
          <p:cNvPr id="18" name="Text 15"/>
          <p:cNvSpPr txBox="1"/>
          <p:nvPr/>
        </p:nvSpPr>
        <p:spPr>
          <a:xfrm>
            <a:off x="777240" y="4498848"/>
            <a:ext cx="3108960" cy="274320"/>
          </a:xfrm>
          <a:prstGeom prst="rect">
            <a:avLst/>
          </a:prstGeom>
          <a:noFill/>
          <a:ln/>
        </p:spPr>
        <p:txBody>
          <a:bodyPr wrap="square" lIns="0" tIns="0" rIns="0" bIns="0" rtlCol="0" anchor="t"/>
          <a:lstStyle/>
          <a:p>
            <a:pPr indent="0" marL="0">
              <a:buNone/>
            </a:pPr>
            <a:r>
              <a:rPr lang="en-US" sz="1350" b="1" dirty="0">
                <a:solidFill>
                  <a:srgbClr val="5E2420"/>
                </a:solidFill>
                <a:latin typeface="Calibri" pitchFamily="34" charset="0"/>
                <a:ea typeface="Calibri" pitchFamily="34" charset="-122"/>
                <a:cs typeface="Calibri" pitchFamily="34" charset="-120"/>
              </a:rPr>
              <a:t>Thứ tự chọn ngôn ngữ</a:t>
            </a:r>
            <a:endParaRPr lang="en-US" sz="1350" dirty="0"/>
          </a:p>
        </p:txBody>
      </p:sp>
      <p:sp>
        <p:nvSpPr>
          <p:cNvPr id="19" name="Text 16"/>
          <p:cNvSpPr txBox="1"/>
          <p:nvPr/>
        </p:nvSpPr>
        <p:spPr>
          <a:xfrm>
            <a:off x="777240" y="4818888"/>
            <a:ext cx="3154680" cy="1188720"/>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200" dirty="0">
                <a:solidFill>
                  <a:srgbClr val="231D1A"/>
                </a:solidFill>
                <a:latin typeface="Calibri" pitchFamily="34" charset="0"/>
                <a:ea typeface="Calibri" pitchFamily="34" charset="-122"/>
                <a:cs typeface="Calibri" pitchFamily="34" charset="-120"/>
              </a:rPr>
              <a:t>?lang= trên URL</a:t>
            </a:r>
            <a:endParaRPr lang="en-US" sz="1200" dirty="0"/>
          </a:p>
          <a:p>
            <a:pPr marL="342900" indent="-342900">
              <a:spcAft>
                <a:spcPts val="200"/>
              </a:spcAft>
              <a:buSzPct val="100000"/>
              <a:buFont typeface="+mj-lt"/>
              <a:buAutoNum type="arabicPeriod" startAt="1"/>
            </a:pPr>
            <a:r>
              <a:rPr lang="en-US" sz="1200" dirty="0">
                <a:solidFill>
                  <a:srgbClr val="231D1A"/>
                </a:solidFill>
                <a:latin typeface="Calibri" pitchFamily="34" charset="0"/>
                <a:ea typeface="Calibri" pitchFamily="34" charset="-122"/>
                <a:cs typeface="Calibri" pitchFamily="34" charset="-120"/>
              </a:rPr>
              <a:t>Lựa chọn đã lưu trước đó</a:t>
            </a:r>
            <a:endParaRPr lang="en-US" sz="1200" dirty="0"/>
          </a:p>
          <a:p>
            <a:pPr marL="342900" indent="-342900">
              <a:spcAft>
                <a:spcPts val="200"/>
              </a:spcAft>
              <a:buSzPct val="100000"/>
              <a:buFont typeface="+mj-lt"/>
              <a:buAutoNum type="arabicPeriod" startAt="1"/>
            </a:pPr>
            <a:r>
              <a:rPr lang="en-US" sz="1200" dirty="0">
                <a:solidFill>
                  <a:srgbClr val="231D1A"/>
                </a:solidFill>
                <a:latin typeface="Calibri" pitchFamily="34" charset="0"/>
                <a:ea typeface="Calibri" pitchFamily="34" charset="-122"/>
                <a:cs typeface="Calibri" pitchFamily="34" charset="-120"/>
              </a:rPr>
              <a:t>Ngôn ngữ của trình duyệt</a:t>
            </a:r>
            <a:endParaRPr lang="en-US" sz="1200" dirty="0"/>
          </a:p>
          <a:p>
            <a:pPr marL="342900" indent="-342900">
              <a:spcAft>
                <a:spcPts val="200"/>
              </a:spcAft>
              <a:buSzPct val="100000"/>
              <a:buFont typeface="+mj-lt"/>
              <a:buAutoNum type="arabicPeriod" startAt="1"/>
            </a:pPr>
            <a:r>
              <a:rPr lang="en-US" sz="1200" dirty="0">
                <a:solidFill>
                  <a:srgbClr val="231D1A"/>
                </a:solidFill>
                <a:latin typeface="Calibri" pitchFamily="34" charset="0"/>
                <a:ea typeface="Calibri" pitchFamily="34" charset="-122"/>
                <a:cs typeface="Calibri" pitchFamily="34" charset="-120"/>
              </a:rPr>
              <a:t>Ngôn ngữ mặc định của bảo tàng (vi)</a:t>
            </a:r>
            <a:endParaRPr lang="en-US" sz="1200" dirty="0"/>
          </a:p>
        </p:txBody>
      </p:sp>
      <p:pic>
        <p:nvPicPr>
          <p:cNvPr id="20" name="Image 1" descr="Ảnh chụp màn hình ứng dụng khách tham quan">    </p:cNvPr>
          <p:cNvPicPr>
            <a:picLocks noChangeAspect="1"/>
          </p:cNvPicPr>
          <p:nvPr/>
        </p:nvPicPr>
        <p:blipFill>
          <a:blip r:embed="rId2"/>
          <a:stretch>
            <a:fillRect/>
          </a:stretch>
        </p:blipFill>
        <p:spPr>
          <a:xfrm>
            <a:off x="4343400" y="1371600"/>
            <a:ext cx="2324568" cy="4526280"/>
          </a:xfrm>
          <a:prstGeom prst="rect">
            <a:avLst/>
          </a:prstGeom>
        </p:spPr>
      </p:pic>
      <p:sp>
        <p:nvSpPr>
          <p:cNvPr id="21" name="Text 17"/>
          <p:cNvSpPr txBox="1"/>
          <p:nvPr/>
        </p:nvSpPr>
        <p:spPr>
          <a:xfrm>
            <a:off x="4343400" y="5806440"/>
            <a:ext cx="2324568" cy="502920"/>
          </a:xfrm>
          <a:prstGeom prst="rect">
            <a:avLst/>
          </a:prstGeom>
          <a:noFill/>
          <a:ln/>
        </p:spPr>
        <p:txBody>
          <a:bodyPr wrap="square" lIns="0" tIns="0" rIns="0" bIns="0" rtlCol="0" anchor="t"/>
          <a:lstStyle/>
          <a:p>
            <a:pPr algn="ctr" indent="0" marL="0">
              <a:buNone/>
            </a:pPr>
            <a:r>
              <a:rPr lang="en-US" sz="1300" b="1" dirty="0">
                <a:solidFill>
                  <a:srgbClr val="231D1A"/>
                </a:solidFill>
                <a:latin typeface="Calibri" pitchFamily="34" charset="0"/>
                <a:ea typeface="Calibri" pitchFamily="34" charset="-122"/>
                <a:cs typeface="Calibri" pitchFamily="34" charset="-120"/>
              </a:rPr>
              <a:t>Tiếng Việt</a:t>
            </a:r>
            <a:endParaRPr lang="en-US" sz="1300" dirty="0"/>
          </a:p>
          <a:p>
            <a:pPr algn="ctr" indent="0" marL="0">
              <a:buNone/>
            </a:pPr>
            <a:r>
              <a:rPr lang="en-US" sz="1100" dirty="0">
                <a:solidFill>
                  <a:srgbClr val="6B5F58"/>
                </a:solidFill>
                <a:latin typeface="Calibri" pitchFamily="34" charset="0"/>
                <a:ea typeface="Calibri" pitchFamily="34" charset="-122"/>
                <a:cs typeface="Calibri" pitchFamily="34" charset="-120"/>
              </a:rPr>
              <a:t>có audio thuyết minh</a:t>
            </a:r>
            <a:endParaRPr lang="en-US" sz="1300" dirty="0"/>
          </a:p>
        </p:txBody>
      </p:sp>
      <p:pic>
        <p:nvPicPr>
          <p:cNvPr id="22" name="Image 2" descr="Ảnh chụp màn hình ứng dụng khách tham quan">    </p:cNvPr>
          <p:cNvPicPr>
            <a:picLocks noChangeAspect="1"/>
          </p:cNvPicPr>
          <p:nvPr/>
        </p:nvPicPr>
        <p:blipFill>
          <a:blip r:embed="rId3"/>
          <a:stretch>
            <a:fillRect/>
          </a:stretch>
        </p:blipFill>
        <p:spPr>
          <a:xfrm>
            <a:off x="6830568" y="1371600"/>
            <a:ext cx="2324568" cy="4526280"/>
          </a:xfrm>
          <a:prstGeom prst="rect">
            <a:avLst/>
          </a:prstGeom>
        </p:spPr>
      </p:pic>
      <p:sp>
        <p:nvSpPr>
          <p:cNvPr id="23" name="Text 18"/>
          <p:cNvSpPr txBox="1"/>
          <p:nvPr/>
        </p:nvSpPr>
        <p:spPr>
          <a:xfrm>
            <a:off x="6830568" y="5806440"/>
            <a:ext cx="2324568" cy="502920"/>
          </a:xfrm>
          <a:prstGeom prst="rect">
            <a:avLst/>
          </a:prstGeom>
          <a:noFill/>
          <a:ln/>
        </p:spPr>
        <p:txBody>
          <a:bodyPr wrap="square" lIns="0" tIns="0" rIns="0" bIns="0" rtlCol="0" anchor="t"/>
          <a:lstStyle/>
          <a:p>
            <a:pPr algn="ctr" indent="0" marL="0">
              <a:buNone/>
            </a:pPr>
            <a:r>
              <a:rPr lang="en-US" sz="1300" b="1" dirty="0">
                <a:solidFill>
                  <a:srgbClr val="231D1A"/>
                </a:solidFill>
                <a:latin typeface="Calibri" pitchFamily="34" charset="0"/>
                <a:ea typeface="Calibri" pitchFamily="34" charset="-122"/>
                <a:cs typeface="Calibri" pitchFamily="34" charset="-120"/>
              </a:rPr>
              <a:t>English</a:t>
            </a:r>
            <a:endParaRPr lang="en-US" sz="1300" dirty="0"/>
          </a:p>
          <a:p>
            <a:pPr algn="ctr" indent="0" marL="0">
              <a:buNone/>
            </a:pPr>
            <a:r>
              <a:rPr lang="en-US" sz="1100" dirty="0">
                <a:solidFill>
                  <a:srgbClr val="6B5F58"/>
                </a:solidFill>
                <a:latin typeface="Calibri" pitchFamily="34" charset="0"/>
                <a:ea typeface="Calibri" pitchFamily="34" charset="-122"/>
                <a:cs typeface="Calibri" pitchFamily="34" charset="-120"/>
              </a:rPr>
              <a:t>có audio thuyết minh</a:t>
            </a:r>
            <a:endParaRPr lang="en-US" sz="1300" dirty="0"/>
          </a:p>
        </p:txBody>
      </p:sp>
      <p:pic>
        <p:nvPicPr>
          <p:cNvPr id="24" name="Image 3" descr="Ảnh chụp màn hình ứng dụng khách tham quan">    </p:cNvPr>
          <p:cNvPicPr>
            <a:picLocks noChangeAspect="1"/>
          </p:cNvPicPr>
          <p:nvPr/>
        </p:nvPicPr>
        <p:blipFill>
          <a:blip r:embed="rId4"/>
          <a:stretch>
            <a:fillRect/>
          </a:stretch>
        </p:blipFill>
        <p:spPr>
          <a:xfrm>
            <a:off x="9317736" y="1371600"/>
            <a:ext cx="2324568" cy="4526280"/>
          </a:xfrm>
          <a:prstGeom prst="rect">
            <a:avLst/>
          </a:prstGeom>
        </p:spPr>
      </p:pic>
      <p:sp>
        <p:nvSpPr>
          <p:cNvPr id="25" name="Text 19"/>
          <p:cNvSpPr txBox="1"/>
          <p:nvPr/>
        </p:nvSpPr>
        <p:spPr>
          <a:xfrm>
            <a:off x="9317736" y="5806440"/>
            <a:ext cx="2324568" cy="502920"/>
          </a:xfrm>
          <a:prstGeom prst="rect">
            <a:avLst/>
          </a:prstGeom>
          <a:noFill/>
          <a:ln/>
        </p:spPr>
        <p:txBody>
          <a:bodyPr wrap="square" lIns="0" tIns="0" rIns="0" bIns="0" rtlCol="0" anchor="t"/>
          <a:lstStyle/>
          <a:p>
            <a:pPr algn="ctr" indent="0" marL="0">
              <a:buNone/>
            </a:pPr>
            <a:r>
              <a:rPr lang="en-US" sz="1300" b="1" dirty="0">
                <a:solidFill>
                  <a:srgbClr val="231D1A"/>
                </a:solidFill>
                <a:latin typeface="Calibri" pitchFamily="34" charset="0"/>
                <a:ea typeface="Calibri" pitchFamily="34" charset="-122"/>
                <a:cs typeface="Calibri" pitchFamily="34" charset="-120"/>
              </a:rPr>
              <a:t>日本語</a:t>
            </a:r>
            <a:endParaRPr lang="en-US" sz="1300" dirty="0"/>
          </a:p>
          <a:p>
            <a:pPr algn="ctr" indent="0" marL="0">
              <a:buNone/>
            </a:pPr>
            <a:r>
              <a:rPr lang="en-US" sz="1100" dirty="0">
                <a:solidFill>
                  <a:srgbClr val="6B5F58"/>
                </a:solidFill>
                <a:latin typeface="Calibri" pitchFamily="34" charset="0"/>
                <a:ea typeface="Calibri" pitchFamily="34" charset="-122"/>
                <a:cs typeface="Calibri" pitchFamily="34" charset="-120"/>
              </a:rPr>
              <a:t>có bản dịch, chưa có audio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DEMO · MÀN 3</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Luân chuyển hiện vật: đổi nội dung, không đụng tới phần cứng</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15 / 20</a:t>
            </a:r>
            <a:endParaRPr lang="en-US" sz="900" dirty="0"/>
          </a:p>
        </p:txBody>
      </p:sp>
      <p:pic>
        <p:nvPicPr>
          <p:cNvPr id="7" name="Image 1" descr="Ảnh chụp màn hình ứng dụng khách tham quan">    </p:cNvPr>
          <p:cNvPicPr>
            <a:picLocks noChangeAspect="1"/>
          </p:cNvPicPr>
          <p:nvPr/>
        </p:nvPicPr>
        <p:blipFill>
          <a:blip r:embed="rId2"/>
          <a:stretch>
            <a:fillRect/>
          </a:stretch>
        </p:blipFill>
        <p:spPr>
          <a:xfrm>
            <a:off x="502920" y="1371600"/>
            <a:ext cx="2277607" cy="4434840"/>
          </a:xfrm>
          <a:prstGeom prst="rect">
            <a:avLst/>
          </a:prstGeom>
        </p:spPr>
      </p:pic>
      <p:pic>
        <p:nvPicPr>
          <p:cNvPr id="8" name="Image 2" descr="Ảnh chụp màn hình ứng dụng khách tham quan">    </p:cNvPr>
          <p:cNvPicPr>
            <a:picLocks noChangeAspect="1"/>
          </p:cNvPicPr>
          <p:nvPr/>
        </p:nvPicPr>
        <p:blipFill>
          <a:blip r:embed="rId3"/>
          <a:stretch>
            <a:fillRect/>
          </a:stretch>
        </p:blipFill>
        <p:spPr>
          <a:xfrm>
            <a:off x="9411168" y="1371600"/>
            <a:ext cx="2277607" cy="4434840"/>
          </a:xfrm>
          <a:prstGeom prst="rect">
            <a:avLst/>
          </a:prstGeom>
        </p:spPr>
      </p:pic>
      <p:pic>
        <p:nvPicPr>
          <p:cNvPr id="9" name="Image 3" descr="Ảnh chụp trang quản trị Admin">    </p:cNvPr>
          <p:cNvPicPr>
            <a:picLocks noChangeAspect="1"/>
          </p:cNvPicPr>
          <p:nvPr/>
        </p:nvPicPr>
        <p:blipFill>
          <a:blip r:embed="rId4"/>
          <a:stretch>
            <a:fillRect/>
          </a:stretch>
        </p:blipFill>
        <p:spPr>
          <a:xfrm>
            <a:off x="3718408" y="1280160"/>
            <a:ext cx="4754880" cy="3999982"/>
          </a:xfrm>
          <a:prstGeom prst="rect">
            <a:avLst/>
          </a:prstGeom>
        </p:spPr>
      </p:pic>
      <p:sp>
        <p:nvSpPr>
          <p:cNvPr id="10" name="Shape 4"/>
          <p:cNvSpPr/>
          <p:nvPr/>
        </p:nvSpPr>
        <p:spPr>
          <a:xfrm>
            <a:off x="2734807" y="3566160"/>
            <a:ext cx="1257920" cy="914"/>
          </a:xfrm>
          <a:prstGeom prst="line">
            <a:avLst/>
          </a:prstGeom>
          <a:noFill/>
          <a:ln w="28575">
            <a:solidFill>
              <a:srgbClr val="5E2420"/>
            </a:solidFill>
            <a:prstDash val="solid"/>
            <a:tailEnd type="triangle"/>
          </a:ln>
        </p:spPr>
      </p:sp>
      <p:sp>
        <p:nvSpPr>
          <p:cNvPr id="11" name="Shape 5"/>
          <p:cNvSpPr/>
          <p:nvPr/>
        </p:nvSpPr>
        <p:spPr>
          <a:xfrm>
            <a:off x="8198968" y="3566160"/>
            <a:ext cx="1257920" cy="914"/>
          </a:xfrm>
          <a:prstGeom prst="line">
            <a:avLst/>
          </a:prstGeom>
          <a:noFill/>
          <a:ln w="28575">
            <a:solidFill>
              <a:srgbClr val="5E2420"/>
            </a:solidFill>
            <a:prstDash val="solid"/>
            <a:tailEnd type="triangle"/>
          </a:ln>
        </p:spPr>
      </p:sp>
      <p:sp>
        <p:nvSpPr>
          <p:cNvPr id="12" name="Text 6"/>
          <p:cNvSpPr txBox="1"/>
          <p:nvPr/>
        </p:nvSpPr>
        <p:spPr>
          <a:xfrm>
            <a:off x="502920" y="5806440"/>
            <a:ext cx="2277607" cy="502920"/>
          </a:xfrm>
          <a:prstGeom prst="rect">
            <a:avLst/>
          </a:prstGeom>
          <a:noFill/>
          <a:ln/>
        </p:spPr>
        <p:txBody>
          <a:bodyPr wrap="square" lIns="0" tIns="0" rIns="0" bIns="0" rtlCol="0" anchor="t"/>
          <a:lstStyle/>
          <a:p>
            <a:pPr algn="ctr" indent="0" marL="0">
              <a:buNone/>
            </a:pPr>
            <a:r>
              <a:rPr lang="en-US" sz="1150" b="1" spc="200" kern="0" dirty="0">
                <a:solidFill>
                  <a:srgbClr val="5E2420"/>
                </a:solidFill>
                <a:latin typeface="Calibri" pitchFamily="34" charset="0"/>
                <a:ea typeface="Calibri" pitchFamily="34" charset="-122"/>
                <a:cs typeface="Calibri" pitchFamily="34" charset="-120"/>
              </a:rPr>
              <a:t>TRƯỚC</a:t>
            </a:r>
            <a:endParaRPr lang="en-US" sz="1150" dirty="0"/>
          </a:p>
          <a:p>
            <a:pPr algn="ctr" indent="0" marL="0">
              <a:buNone/>
            </a:pPr>
            <a:r>
              <a:rPr lang="en-US" sz="1100" dirty="0">
                <a:solidFill>
                  <a:srgbClr val="6B5F58"/>
                </a:solidFill>
                <a:latin typeface="Calibri" pitchFamily="34" charset="0"/>
                <a:ea typeface="Calibri" pitchFamily="34" charset="-122"/>
                <a:cs typeface="Calibri" pitchFamily="34" charset="-120"/>
              </a:rPr>
              <a:t>Tượng đá Chăm · /q/ZONE_A01</a:t>
            </a:r>
            <a:endParaRPr lang="en-US" sz="1150" dirty="0"/>
          </a:p>
        </p:txBody>
      </p:sp>
      <p:sp>
        <p:nvSpPr>
          <p:cNvPr id="13" name="Text 7"/>
          <p:cNvSpPr txBox="1"/>
          <p:nvPr/>
        </p:nvSpPr>
        <p:spPr>
          <a:xfrm>
            <a:off x="9411168" y="5806440"/>
            <a:ext cx="2277607" cy="502920"/>
          </a:xfrm>
          <a:prstGeom prst="rect">
            <a:avLst/>
          </a:prstGeom>
          <a:noFill/>
          <a:ln/>
        </p:spPr>
        <p:txBody>
          <a:bodyPr wrap="square" lIns="0" tIns="0" rIns="0" bIns="0" rtlCol="0" anchor="t"/>
          <a:lstStyle/>
          <a:p>
            <a:pPr algn="ctr" indent="0" marL="0">
              <a:buNone/>
            </a:pPr>
            <a:r>
              <a:rPr lang="en-US" sz="1150" b="1" spc="200" kern="0" dirty="0">
                <a:solidFill>
                  <a:srgbClr val="5E2420"/>
                </a:solidFill>
                <a:latin typeface="Calibri" pitchFamily="34" charset="0"/>
                <a:ea typeface="Calibri" pitchFamily="34" charset="-122"/>
                <a:cs typeface="Calibri" pitchFamily="34" charset="-120"/>
              </a:rPr>
              <a:t>SAU</a:t>
            </a:r>
            <a:endParaRPr lang="en-US" sz="1150" dirty="0"/>
          </a:p>
          <a:p>
            <a:pPr algn="ctr" indent="0" marL="0">
              <a:buNone/>
            </a:pPr>
            <a:r>
              <a:rPr lang="en-US" sz="1100" dirty="0">
                <a:solidFill>
                  <a:srgbClr val="6B5F58"/>
                </a:solidFill>
                <a:latin typeface="Calibri" pitchFamily="34" charset="0"/>
                <a:ea typeface="Calibri" pitchFamily="34" charset="-122"/>
                <a:cs typeface="Calibri" pitchFamily="34" charset="-120"/>
              </a:rPr>
              <a:t>Trống đồng Đông Sơn · cùng mã QR</a:t>
            </a:r>
            <a:endParaRPr lang="en-US" sz="1150" dirty="0"/>
          </a:p>
        </p:txBody>
      </p:sp>
      <p:sp>
        <p:nvSpPr>
          <p:cNvPr id="14" name="Shape 8"/>
          <p:cNvSpPr/>
          <p:nvPr/>
        </p:nvSpPr>
        <p:spPr>
          <a:xfrm>
            <a:off x="3626968" y="5074920"/>
            <a:ext cx="4937760" cy="1005840"/>
          </a:xfrm>
          <a:prstGeom prst="roundRect">
            <a:avLst>
              <a:gd name="adj" fmla="val 7273"/>
            </a:avLst>
          </a:prstGeom>
          <a:solidFill>
            <a:srgbClr val="EFE6DA"/>
          </a:solidFill>
          <a:ln w="9525">
            <a:solidFill>
              <a:srgbClr val="EFE6DA"/>
            </a:solidFill>
            <a:prstDash val="solid"/>
          </a:ln>
        </p:spPr>
      </p:sp>
      <p:sp>
        <p:nvSpPr>
          <p:cNvPr id="15" name="Text 9"/>
          <p:cNvSpPr txBox="1"/>
          <p:nvPr/>
        </p:nvSpPr>
        <p:spPr>
          <a:xfrm>
            <a:off x="3855568" y="5074920"/>
            <a:ext cx="4480560" cy="1005840"/>
          </a:xfrm>
          <a:prstGeom prst="rect">
            <a:avLst/>
          </a:prstGeom>
          <a:noFill/>
          <a:ln/>
        </p:spPr>
        <p:txBody>
          <a:bodyPr wrap="square" lIns="0" tIns="0" rIns="0" bIns="0" rtlCol="0" anchor="ctr"/>
          <a:lstStyle/>
          <a:p>
            <a:pPr indent="0" marL="0">
              <a:buNone/>
            </a:pPr>
            <a:r>
              <a:rPr lang="en-US" sz="1200" b="1" dirty="0">
                <a:solidFill>
                  <a:srgbClr val="5E2420"/>
                </a:solidFill>
                <a:latin typeface="Calibri" pitchFamily="34" charset="0"/>
                <a:ea typeface="Calibri" pitchFamily="34" charset="-122"/>
                <a:cs typeface="Calibri" pitchFamily="34" charset="-120"/>
              </a:rPr>
              <a:t>Thao tác của nhân viên: </a:t>
            </a:r>
            <a:pPr indent="0" marL="0">
              <a:buNone/>
            </a:pPr>
            <a:r>
              <a:rPr lang="en-US" sz="1200" dirty="0">
                <a:solidFill>
                  <a:srgbClr val="231D1A"/>
                </a:solidFill>
                <a:latin typeface="Calibri" pitchFamily="34" charset="0"/>
                <a:ea typeface="Calibri" pitchFamily="34" charset="-122"/>
                <a:cs typeface="Calibri" pitchFamily="34" charset="-120"/>
              </a:rPr>
              <a:t>chọn “Trống đồng Đông Sơn” → Đặt làm hiện tại. Bản gán “Tượng đá Chăm” được đóng lại và chuyển vào lịch sử; lần quét tiếp theo nhận ngay nội dung mới.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DEMO · MÀN 4</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App mobile: tự nhận ra khách đang ở khu vực nào</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16 / 20</a:t>
            </a:r>
            <a:endParaRPr lang="en-US" sz="900" dirty="0"/>
          </a:p>
        </p:txBody>
      </p:sp>
      <p:sp>
        <p:nvSpPr>
          <p:cNvPr id="7" name="Text 4"/>
          <p:cNvSpPr txBox="1"/>
          <p:nvPr/>
        </p:nvSpPr>
        <p:spPr>
          <a:xfrm>
            <a:off x="548640" y="1280160"/>
            <a:ext cx="11091672" cy="274320"/>
          </a:xfrm>
          <a:prstGeom prst="rect">
            <a:avLst/>
          </a:prstGeom>
          <a:noFill/>
          <a:ln/>
        </p:spPr>
        <p:txBody>
          <a:bodyPr wrap="square" lIns="0" tIns="0" rIns="0" bIns="0" rtlCol="0" anchor="t"/>
          <a:lstStyle/>
          <a:p>
            <a:pPr indent="0" marL="0">
              <a:buNone/>
            </a:pPr>
            <a:r>
              <a:rPr lang="en-US" sz="1150" i="1" dirty="0">
                <a:solidFill>
                  <a:srgbClr val="6B5F58"/>
                </a:solidFill>
                <a:latin typeface="Calibri" pitchFamily="34" charset="0"/>
                <a:ea typeface="Calibri" pitchFamily="34" charset="-122"/>
                <a:cs typeface="Calibri" pitchFamily="34" charset="-120"/>
              </a:rPr>
              <a:t>Ảnh chụp ở chế độ mô phỏng BLE (EXPO_PUBLIC_BLE_SIMULATION=true). Demo với beacon thật cần development build và beacon Minew i3.</a:t>
            </a:r>
            <a:endParaRPr lang="en-US" sz="1150" dirty="0"/>
          </a:p>
        </p:txBody>
      </p:sp>
      <p:pic>
        <p:nvPicPr>
          <p:cNvPr id="8" name="Image 1" descr="Ảnh chụp màn hình ứng dụng khách tham quan">    </p:cNvPr>
          <p:cNvPicPr>
            <a:picLocks noChangeAspect="1"/>
          </p:cNvPicPr>
          <p:nvPr/>
        </p:nvPicPr>
        <p:blipFill>
          <a:blip r:embed="rId2"/>
          <a:stretch>
            <a:fillRect/>
          </a:stretch>
        </p:blipFill>
        <p:spPr>
          <a:xfrm>
            <a:off x="902807" y="1627632"/>
            <a:ext cx="2019322" cy="3931920"/>
          </a:xfrm>
          <a:prstGeom prst="rect">
            <a:avLst/>
          </a:prstGeom>
        </p:spPr>
      </p:pic>
      <p:sp>
        <p:nvSpPr>
          <p:cNvPr id="9" name="Text 5"/>
          <p:cNvSpPr txBox="1"/>
          <p:nvPr/>
        </p:nvSpPr>
        <p:spPr>
          <a:xfrm>
            <a:off x="719927" y="5559552"/>
            <a:ext cx="2385082" cy="566928"/>
          </a:xfrm>
          <a:prstGeom prst="rect">
            <a:avLst/>
          </a:prstGeom>
          <a:noFill/>
          <a:ln/>
        </p:spPr>
        <p:txBody>
          <a:bodyPr wrap="square" lIns="0" tIns="0" rIns="0" bIns="0" rtlCol="0" anchor="t"/>
          <a:lstStyle/>
          <a:p>
            <a:pPr algn="ctr" indent="0" marL="0">
              <a:buNone/>
            </a:pPr>
            <a:r>
              <a:rPr lang="en-US" sz="1300" b="1" dirty="0">
                <a:solidFill>
                  <a:srgbClr val="231D1A"/>
                </a:solidFill>
                <a:latin typeface="Calibri" pitchFamily="34" charset="0"/>
                <a:ea typeface="Calibri" pitchFamily="34" charset="-122"/>
                <a:cs typeface="Calibri" pitchFamily="34" charset="-120"/>
              </a:rPr>
              <a:t>1. Cấp quyền</a:t>
            </a:r>
            <a:endParaRPr lang="en-US" sz="1300" dirty="0"/>
          </a:p>
          <a:p>
            <a:pPr algn="ctr" indent="0" marL="0">
              <a:buNone/>
            </a:pPr>
            <a:r>
              <a:rPr lang="en-US" sz="1100" dirty="0">
                <a:solidFill>
                  <a:srgbClr val="6B5F58"/>
                </a:solidFill>
                <a:latin typeface="Calibri" pitchFamily="34" charset="0"/>
                <a:ea typeface="Calibri" pitchFamily="34" charset="-122"/>
                <a:cs typeface="Calibri" pitchFamily="34" charset="-120"/>
              </a:rPr>
              <a:t>Giải thích rõ: tín hiệu chỉ xử lý trên máy</a:t>
            </a:r>
            <a:endParaRPr lang="en-US" sz="1300" dirty="0"/>
          </a:p>
        </p:txBody>
      </p:sp>
      <p:sp>
        <p:nvSpPr>
          <p:cNvPr id="10" name="Shape 6"/>
          <p:cNvSpPr/>
          <p:nvPr/>
        </p:nvSpPr>
        <p:spPr>
          <a:xfrm>
            <a:off x="2848976" y="3611880"/>
            <a:ext cx="915902" cy="914"/>
          </a:xfrm>
          <a:prstGeom prst="line">
            <a:avLst/>
          </a:prstGeom>
          <a:noFill/>
          <a:ln w="25400">
            <a:solidFill>
              <a:srgbClr val="5E2420"/>
            </a:solidFill>
            <a:prstDash val="solid"/>
            <a:tailEnd type="triangle"/>
          </a:ln>
        </p:spPr>
      </p:sp>
      <p:pic>
        <p:nvPicPr>
          <p:cNvPr id="11" name="Image 2" descr="Ảnh chụp màn hình ứng dụng khách tham quan">    </p:cNvPr>
          <p:cNvPicPr>
            <a:picLocks noChangeAspect="1"/>
          </p:cNvPicPr>
          <p:nvPr/>
        </p:nvPicPr>
        <p:blipFill>
          <a:blip r:embed="rId3"/>
          <a:stretch>
            <a:fillRect/>
          </a:stretch>
        </p:blipFill>
        <p:spPr>
          <a:xfrm>
            <a:off x="3691727" y="1627632"/>
            <a:ext cx="2019322" cy="3931920"/>
          </a:xfrm>
          <a:prstGeom prst="rect">
            <a:avLst/>
          </a:prstGeom>
        </p:spPr>
      </p:pic>
      <p:sp>
        <p:nvSpPr>
          <p:cNvPr id="12" name="Text 7"/>
          <p:cNvSpPr txBox="1"/>
          <p:nvPr/>
        </p:nvSpPr>
        <p:spPr>
          <a:xfrm>
            <a:off x="3508847" y="5559552"/>
            <a:ext cx="2385082" cy="566928"/>
          </a:xfrm>
          <a:prstGeom prst="rect">
            <a:avLst/>
          </a:prstGeom>
          <a:noFill/>
          <a:ln/>
        </p:spPr>
        <p:txBody>
          <a:bodyPr wrap="square" lIns="0" tIns="0" rIns="0" bIns="0" rtlCol="0" anchor="t"/>
          <a:lstStyle/>
          <a:p>
            <a:pPr algn="ctr" indent="0" marL="0">
              <a:buNone/>
            </a:pPr>
            <a:r>
              <a:rPr lang="en-US" sz="1300" b="1" dirty="0">
                <a:solidFill>
                  <a:srgbClr val="231D1A"/>
                </a:solidFill>
                <a:latin typeface="Calibri" pitchFamily="34" charset="0"/>
                <a:ea typeface="Calibri" pitchFamily="34" charset="-122"/>
                <a:cs typeface="Calibri" pitchFamily="34" charset="-120"/>
              </a:rPr>
              <a:t>2. Đang quét</a:t>
            </a:r>
            <a:endParaRPr lang="en-US" sz="1300" dirty="0"/>
          </a:p>
          <a:p>
            <a:pPr algn="ctr" indent="0" marL="0">
              <a:buNone/>
            </a:pPr>
            <a:r>
              <a:rPr lang="en-US" sz="1100" dirty="0">
                <a:solidFill>
                  <a:srgbClr val="6B5F58"/>
                </a:solidFill>
                <a:latin typeface="Calibri" pitchFamily="34" charset="0"/>
                <a:ea typeface="Calibri" pitchFamily="34" charset="-122"/>
                <a:cs typeface="Calibri" pitchFamily="34" charset="-120"/>
              </a:rPr>
              <a:t>Pipeline BLE xếp hạng beacon mỗi 500 ms</a:t>
            </a:r>
            <a:endParaRPr lang="en-US" sz="1300" dirty="0"/>
          </a:p>
        </p:txBody>
      </p:sp>
      <p:sp>
        <p:nvSpPr>
          <p:cNvPr id="13" name="Shape 8"/>
          <p:cNvSpPr/>
          <p:nvPr/>
        </p:nvSpPr>
        <p:spPr>
          <a:xfrm>
            <a:off x="5637896" y="3611880"/>
            <a:ext cx="915902" cy="914"/>
          </a:xfrm>
          <a:prstGeom prst="line">
            <a:avLst/>
          </a:prstGeom>
          <a:noFill/>
          <a:ln w="25400">
            <a:solidFill>
              <a:srgbClr val="5E2420"/>
            </a:solidFill>
            <a:prstDash val="solid"/>
            <a:tailEnd type="triangle"/>
          </a:ln>
        </p:spPr>
      </p:sp>
      <p:pic>
        <p:nvPicPr>
          <p:cNvPr id="14" name="Image 3" descr="Ảnh chụp màn hình ứng dụng khách tham quan">    </p:cNvPr>
          <p:cNvPicPr>
            <a:picLocks noChangeAspect="1"/>
          </p:cNvPicPr>
          <p:nvPr/>
        </p:nvPicPr>
        <p:blipFill>
          <a:blip r:embed="rId4"/>
          <a:stretch>
            <a:fillRect/>
          </a:stretch>
        </p:blipFill>
        <p:spPr>
          <a:xfrm>
            <a:off x="6480647" y="1627632"/>
            <a:ext cx="2019322" cy="3931920"/>
          </a:xfrm>
          <a:prstGeom prst="rect">
            <a:avLst/>
          </a:prstGeom>
        </p:spPr>
      </p:pic>
      <p:sp>
        <p:nvSpPr>
          <p:cNvPr id="15" name="Text 9"/>
          <p:cNvSpPr txBox="1"/>
          <p:nvPr/>
        </p:nvSpPr>
        <p:spPr>
          <a:xfrm>
            <a:off x="6297767" y="5559552"/>
            <a:ext cx="2385082" cy="566928"/>
          </a:xfrm>
          <a:prstGeom prst="rect">
            <a:avLst/>
          </a:prstGeom>
          <a:noFill/>
          <a:ln/>
        </p:spPr>
        <p:txBody>
          <a:bodyPr wrap="square" lIns="0" tIns="0" rIns="0" bIns="0" rtlCol="0" anchor="t"/>
          <a:lstStyle/>
          <a:p>
            <a:pPr algn="ctr" indent="0" marL="0">
              <a:buNone/>
            </a:pPr>
            <a:r>
              <a:rPr lang="en-US" sz="1300" b="1" dirty="0">
                <a:solidFill>
                  <a:srgbClr val="231D1A"/>
                </a:solidFill>
                <a:latin typeface="Calibri" pitchFamily="34" charset="0"/>
                <a:ea typeface="Calibri" pitchFamily="34" charset="-122"/>
                <a:cs typeface="Calibri" pitchFamily="34" charset="-120"/>
              </a:rPr>
              <a:t>3. Xác nhận khu vực</a:t>
            </a:r>
            <a:endParaRPr lang="en-US" sz="1300" dirty="0"/>
          </a:p>
          <a:p>
            <a:pPr algn="ctr" indent="0" marL="0">
              <a:buNone/>
            </a:pPr>
            <a:r>
              <a:rPr lang="en-US" sz="1100" dirty="0">
                <a:solidFill>
                  <a:srgbClr val="6B5F58"/>
                </a:solidFill>
                <a:latin typeface="Calibri" pitchFamily="34" charset="0"/>
                <a:ea typeface="Calibri" pitchFamily="34" charset="-122"/>
                <a:cs typeface="Calibri" pitchFamily="34" charset="-120"/>
              </a:rPr>
              <a:t>Sau dwell 3 s: gợi ý nghe thuyết minh</a:t>
            </a:r>
            <a:endParaRPr lang="en-US" sz="1300" dirty="0"/>
          </a:p>
        </p:txBody>
      </p:sp>
      <p:sp>
        <p:nvSpPr>
          <p:cNvPr id="16" name="Shape 10"/>
          <p:cNvSpPr/>
          <p:nvPr/>
        </p:nvSpPr>
        <p:spPr>
          <a:xfrm>
            <a:off x="8426816" y="3611880"/>
            <a:ext cx="915902" cy="914"/>
          </a:xfrm>
          <a:prstGeom prst="line">
            <a:avLst/>
          </a:prstGeom>
          <a:noFill/>
          <a:ln w="25400">
            <a:solidFill>
              <a:srgbClr val="5E2420"/>
            </a:solidFill>
            <a:prstDash val="solid"/>
            <a:tailEnd type="triangle"/>
          </a:ln>
        </p:spPr>
      </p:sp>
      <p:pic>
        <p:nvPicPr>
          <p:cNvPr id="17" name="Image 4" descr="Ảnh chụp màn hình ứng dụng khách tham quan">    </p:cNvPr>
          <p:cNvPicPr>
            <a:picLocks noChangeAspect="1"/>
          </p:cNvPicPr>
          <p:nvPr/>
        </p:nvPicPr>
        <p:blipFill>
          <a:blip r:embed="rId5"/>
          <a:stretch>
            <a:fillRect/>
          </a:stretch>
        </p:blipFill>
        <p:spPr>
          <a:xfrm>
            <a:off x="9269567" y="1627632"/>
            <a:ext cx="2019322" cy="3931920"/>
          </a:xfrm>
          <a:prstGeom prst="rect">
            <a:avLst/>
          </a:prstGeom>
        </p:spPr>
      </p:pic>
      <p:sp>
        <p:nvSpPr>
          <p:cNvPr id="18" name="Text 11"/>
          <p:cNvSpPr txBox="1"/>
          <p:nvPr/>
        </p:nvSpPr>
        <p:spPr>
          <a:xfrm>
            <a:off x="9086687" y="5559552"/>
            <a:ext cx="2385082" cy="566928"/>
          </a:xfrm>
          <a:prstGeom prst="rect">
            <a:avLst/>
          </a:prstGeom>
          <a:noFill/>
          <a:ln/>
        </p:spPr>
        <p:txBody>
          <a:bodyPr wrap="square" lIns="0" tIns="0" rIns="0" bIns="0" rtlCol="0" anchor="t"/>
          <a:lstStyle/>
          <a:p>
            <a:pPr algn="ctr" indent="0" marL="0">
              <a:buNone/>
            </a:pPr>
            <a:r>
              <a:rPr lang="en-US" sz="1300" b="1" dirty="0">
                <a:solidFill>
                  <a:srgbClr val="231D1A"/>
                </a:solidFill>
                <a:latin typeface="Calibri" pitchFamily="34" charset="0"/>
                <a:ea typeface="Calibri" pitchFamily="34" charset="-122"/>
                <a:cs typeface="Calibri" pitchFamily="34" charset="-120"/>
              </a:rPr>
              <a:t>4. Nội dung hiện vật</a:t>
            </a:r>
            <a:endParaRPr lang="en-US" sz="1300" dirty="0"/>
          </a:p>
          <a:p>
            <a:pPr algn="ctr" indent="0" marL="0">
              <a:buNone/>
            </a:pPr>
            <a:r>
              <a:rPr lang="en-US" sz="1100" dirty="0">
                <a:solidFill>
                  <a:srgbClr val="6B5F58"/>
                </a:solidFill>
                <a:latin typeface="Calibri" pitchFamily="34" charset="0"/>
                <a:ea typeface="Calibri" pitchFamily="34" charset="-122"/>
                <a:cs typeface="Calibri" pitchFamily="34" charset="-120"/>
              </a:rPr>
              <a:t>Mô tả, audio, đổi ngôn ngữ</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CHẤT LƯỢNG</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Kiểm thử: logic cốt lõi tách khỏi giao diện và phần cứng</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17 / 20</a:t>
            </a:r>
            <a:endParaRPr lang="en-US" sz="900" dirty="0"/>
          </a:p>
        </p:txBody>
      </p:sp>
      <p:sp>
        <p:nvSpPr>
          <p:cNvPr id="7" name="Shape 4"/>
          <p:cNvSpPr/>
          <p:nvPr/>
        </p:nvSpPr>
        <p:spPr>
          <a:xfrm>
            <a:off x="548640" y="1572768"/>
            <a:ext cx="3544824" cy="1508760"/>
          </a:xfrm>
          <a:prstGeom prst="roundRect">
            <a:avLst>
              <a:gd name="adj" fmla="val 4848"/>
            </a:avLst>
          </a:prstGeom>
          <a:solidFill>
            <a:srgbClr val="5E2420"/>
          </a:solidFill>
          <a:ln w="9525">
            <a:solidFill>
              <a:srgbClr val="5E2420"/>
            </a:solidFill>
            <a:prstDash val="solid"/>
          </a:ln>
          <a:effectLst>
            <a:outerShdw sx="100000" sy="100000" kx="0" ky="0" algn="bl" rotWithShape="0" blurRad="127000" dist="25400" dir="5400000">
              <a:srgbClr val="000000">
                <a:alpha val="8000"/>
              </a:srgbClr>
            </a:outerShdw>
          </a:effectLst>
        </p:spPr>
      </p:sp>
      <p:sp>
        <p:nvSpPr>
          <p:cNvPr id="8" name="Text 5"/>
          <p:cNvSpPr txBox="1"/>
          <p:nvPr/>
        </p:nvSpPr>
        <p:spPr>
          <a:xfrm>
            <a:off x="822960" y="1664208"/>
            <a:ext cx="2996184"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141</a:t>
            </a:r>
            <a:endParaRPr lang="en-US" sz="4400" dirty="0"/>
          </a:p>
        </p:txBody>
      </p:sp>
      <p:sp>
        <p:nvSpPr>
          <p:cNvPr id="9" name="Text 6"/>
          <p:cNvSpPr txBox="1"/>
          <p:nvPr/>
        </p:nvSpPr>
        <p:spPr>
          <a:xfrm>
            <a:off x="822960" y="2468880"/>
            <a:ext cx="2996184"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unit test đạt</a:t>
            </a:r>
            <a:endParaRPr lang="en-US" sz="1400" dirty="0"/>
          </a:p>
        </p:txBody>
      </p:sp>
      <p:sp>
        <p:nvSpPr>
          <p:cNvPr id="10" name="Text 7"/>
          <p:cNvSpPr txBox="1"/>
          <p:nvPr/>
        </p:nvSpPr>
        <p:spPr>
          <a:xfrm>
            <a:off x="822960" y="2724912"/>
            <a:ext cx="2996184" cy="274320"/>
          </a:xfrm>
          <a:prstGeom prst="rect">
            <a:avLst/>
          </a:prstGeom>
          <a:noFill/>
          <a:ln/>
        </p:spPr>
        <p:txBody>
          <a:bodyPr wrap="square" lIns="0" tIns="0" rIns="0" bIns="0" rtlCol="0" anchor="t"/>
          <a:lstStyle/>
          <a:p>
            <a:pPr indent="0" marL="0">
              <a:buNone/>
            </a:pPr>
            <a:r>
              <a:rPr lang="en-US" sz="1150" dirty="0">
                <a:solidFill>
                  <a:srgbClr val="EFE6DA"/>
                </a:solidFill>
                <a:latin typeface="Calibri" pitchFamily="34" charset="0"/>
                <a:ea typeface="Calibri" pitchFamily="34" charset="-122"/>
                <a:cs typeface="Calibri" pitchFamily="34" charset="-120"/>
              </a:rPr>
              <a:t>15 test suite, chạy bằng Jest</a:t>
            </a:r>
            <a:endParaRPr lang="en-US" sz="1150" dirty="0"/>
          </a:p>
        </p:txBody>
      </p:sp>
      <p:sp>
        <p:nvSpPr>
          <p:cNvPr id="11" name="Shape 8"/>
          <p:cNvSpPr/>
          <p:nvPr/>
        </p:nvSpPr>
        <p:spPr>
          <a:xfrm>
            <a:off x="4322064" y="1572768"/>
            <a:ext cx="3544824" cy="1508760"/>
          </a:xfrm>
          <a:prstGeom prst="roundRect">
            <a:avLst>
              <a:gd name="adj" fmla="val 4848"/>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12" name="Text 9"/>
          <p:cNvSpPr txBox="1"/>
          <p:nvPr/>
        </p:nvSpPr>
        <p:spPr>
          <a:xfrm>
            <a:off x="4596384" y="1664208"/>
            <a:ext cx="2996184" cy="822960"/>
          </a:xfrm>
          <a:prstGeom prst="rect">
            <a:avLst/>
          </a:prstGeom>
          <a:noFill/>
          <a:ln/>
        </p:spPr>
        <p:txBody>
          <a:bodyPr wrap="square" lIns="0" tIns="0" rIns="0" bIns="0" rtlCol="0" anchor="ctr"/>
          <a:lstStyle/>
          <a:p>
            <a:pPr indent="0" marL="0">
              <a:buNone/>
            </a:pPr>
            <a:r>
              <a:rPr lang="en-US" sz="4400" b="1" dirty="0">
                <a:solidFill>
                  <a:srgbClr val="5E2420"/>
                </a:solidFill>
                <a:latin typeface="Cambria" pitchFamily="34" charset="0"/>
                <a:ea typeface="Cambria" pitchFamily="34" charset="-122"/>
                <a:cs typeface="Cambria" pitchFamily="34" charset="-120"/>
              </a:rPr>
              <a:t>79 · 62</a:t>
            </a:r>
            <a:endParaRPr lang="en-US" sz="4400" dirty="0"/>
          </a:p>
        </p:txBody>
      </p:sp>
      <p:sp>
        <p:nvSpPr>
          <p:cNvPr id="13" name="Text 10"/>
          <p:cNvSpPr txBox="1"/>
          <p:nvPr/>
        </p:nvSpPr>
        <p:spPr>
          <a:xfrm>
            <a:off x="4596384" y="2468880"/>
            <a:ext cx="2996184" cy="274320"/>
          </a:xfrm>
          <a:prstGeom prst="rect">
            <a:avLst/>
          </a:prstGeom>
          <a:noFill/>
          <a:ln/>
        </p:spPr>
        <p:txBody>
          <a:bodyPr wrap="square" lIns="0" tIns="0" rIns="0" bIns="0" rtlCol="0" anchor="t"/>
          <a:lstStyle/>
          <a:p>
            <a:pPr indent="0" marL="0">
              <a:buNone/>
            </a:pPr>
            <a:r>
              <a:rPr lang="en-US" sz="1400" b="1" dirty="0">
                <a:solidFill>
                  <a:srgbClr val="231D1A"/>
                </a:solidFill>
                <a:latin typeface="Calibri" pitchFamily="34" charset="0"/>
                <a:ea typeface="Calibri" pitchFamily="34" charset="-122"/>
                <a:cs typeface="Calibri" pitchFamily="34" charset="-120"/>
              </a:rPr>
              <a:t>backend · mobile</a:t>
            </a:r>
            <a:endParaRPr lang="en-US" sz="1400" dirty="0"/>
          </a:p>
        </p:txBody>
      </p:sp>
      <p:sp>
        <p:nvSpPr>
          <p:cNvPr id="14" name="Text 11"/>
          <p:cNvSpPr txBox="1"/>
          <p:nvPr/>
        </p:nvSpPr>
        <p:spPr>
          <a:xfrm>
            <a:off x="4596384" y="2724912"/>
            <a:ext cx="2996184" cy="27432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API nghiệp vụ và pipeline BLE</a:t>
            </a:r>
            <a:endParaRPr lang="en-US" sz="1150" dirty="0"/>
          </a:p>
        </p:txBody>
      </p:sp>
      <p:sp>
        <p:nvSpPr>
          <p:cNvPr id="15" name="Shape 12"/>
          <p:cNvSpPr/>
          <p:nvPr/>
        </p:nvSpPr>
        <p:spPr>
          <a:xfrm>
            <a:off x="8095488" y="1572768"/>
            <a:ext cx="3544824" cy="1508760"/>
          </a:xfrm>
          <a:prstGeom prst="roundRect">
            <a:avLst>
              <a:gd name="adj" fmla="val 4848"/>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sp>
        <p:nvSpPr>
          <p:cNvPr id="16" name="Text 13"/>
          <p:cNvSpPr txBox="1"/>
          <p:nvPr/>
        </p:nvSpPr>
        <p:spPr>
          <a:xfrm>
            <a:off x="8369808" y="1664208"/>
            <a:ext cx="2996184" cy="822960"/>
          </a:xfrm>
          <a:prstGeom prst="rect">
            <a:avLst/>
          </a:prstGeom>
          <a:noFill/>
          <a:ln/>
        </p:spPr>
        <p:txBody>
          <a:bodyPr wrap="square" lIns="0" tIns="0" rIns="0" bIns="0" rtlCol="0" anchor="ctr"/>
          <a:lstStyle/>
          <a:p>
            <a:pPr indent="0" marL="0">
              <a:buNone/>
            </a:pPr>
            <a:r>
              <a:rPr lang="en-US" sz="4400" b="1" dirty="0">
                <a:solidFill>
                  <a:srgbClr val="5E2420"/>
                </a:solidFill>
                <a:latin typeface="Cambria" pitchFamily="34" charset="0"/>
                <a:ea typeface="Cambria" pitchFamily="34" charset="-122"/>
                <a:cs typeface="Cambria" pitchFamily="34" charset="-120"/>
              </a:rPr>
              <a:t>4</a:t>
            </a:r>
            <a:endParaRPr lang="en-US" sz="4400" dirty="0"/>
          </a:p>
        </p:txBody>
      </p:sp>
      <p:sp>
        <p:nvSpPr>
          <p:cNvPr id="17" name="Text 14"/>
          <p:cNvSpPr txBox="1"/>
          <p:nvPr/>
        </p:nvSpPr>
        <p:spPr>
          <a:xfrm>
            <a:off x="8369808" y="2468880"/>
            <a:ext cx="2996184" cy="274320"/>
          </a:xfrm>
          <a:prstGeom prst="rect">
            <a:avLst/>
          </a:prstGeom>
          <a:noFill/>
          <a:ln/>
        </p:spPr>
        <p:txBody>
          <a:bodyPr wrap="square" lIns="0" tIns="0" rIns="0" bIns="0" rtlCol="0" anchor="t"/>
          <a:lstStyle/>
          <a:p>
            <a:pPr indent="0" marL="0">
              <a:buNone/>
            </a:pPr>
            <a:r>
              <a:rPr lang="en-US" sz="1400" b="1" dirty="0">
                <a:solidFill>
                  <a:srgbClr val="231D1A"/>
                </a:solidFill>
                <a:latin typeface="Calibri" pitchFamily="34" charset="0"/>
                <a:ea typeface="Calibri" pitchFamily="34" charset="-122"/>
                <a:cs typeface="Calibri" pitchFamily="34" charset="-120"/>
              </a:rPr>
              <a:t>bước kiểm tra trước commit</a:t>
            </a:r>
            <a:endParaRPr lang="en-US" sz="1400" dirty="0"/>
          </a:p>
        </p:txBody>
      </p:sp>
      <p:sp>
        <p:nvSpPr>
          <p:cNvPr id="18" name="Text 15"/>
          <p:cNvSpPr txBox="1"/>
          <p:nvPr/>
        </p:nvSpPr>
        <p:spPr>
          <a:xfrm>
            <a:off x="8369808" y="2724912"/>
            <a:ext cx="2996184" cy="274320"/>
          </a:xfrm>
          <a:prstGeom prst="rect">
            <a:avLst/>
          </a:prstGeom>
          <a:noFill/>
          <a:ln/>
        </p:spPr>
        <p:txBody>
          <a:bodyPr wrap="square" lIns="0" tIns="0" rIns="0" bIns="0" rtlCol="0" anchor="t"/>
          <a:lstStyle/>
          <a:p>
            <a:pPr indent="0" marL="0">
              <a:buNone/>
            </a:pPr>
            <a:r>
              <a:rPr lang="en-US" sz="1150" dirty="0">
                <a:solidFill>
                  <a:srgbClr val="6B5F58"/>
                </a:solidFill>
                <a:latin typeface="Calibri" pitchFamily="34" charset="0"/>
                <a:ea typeface="Calibri" pitchFamily="34" charset="-122"/>
                <a:cs typeface="Calibri" pitchFamily="34" charset="-120"/>
              </a:rPr>
              <a:t>lint · typecheck · test · build</a:t>
            </a:r>
            <a:endParaRPr lang="en-US" sz="1150" dirty="0"/>
          </a:p>
        </p:txBody>
      </p:sp>
      <p:sp>
        <p:nvSpPr>
          <p:cNvPr id="19" name="Shape 16"/>
          <p:cNvSpPr/>
          <p:nvPr/>
        </p:nvSpPr>
        <p:spPr>
          <a:xfrm>
            <a:off x="548640" y="3310128"/>
            <a:ext cx="3544824" cy="2770632"/>
          </a:xfrm>
          <a:prstGeom prst="roundRect">
            <a:avLst>
              <a:gd name="adj" fmla="val 2640"/>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20" name="Image 1" descr="Biểu tượng">    </p:cNvPr>
          <p:cNvPicPr>
            <a:picLocks noChangeAspect="1"/>
          </p:cNvPicPr>
          <p:nvPr/>
        </p:nvPicPr>
        <p:blipFill>
          <a:blip r:embed="rId2"/>
          <a:stretch>
            <a:fillRect/>
          </a:stretch>
        </p:blipFill>
        <p:spPr>
          <a:xfrm>
            <a:off x="804672" y="3474720"/>
            <a:ext cx="292608" cy="292608"/>
          </a:xfrm>
          <a:prstGeom prst="rect">
            <a:avLst/>
          </a:prstGeom>
        </p:spPr>
      </p:pic>
      <p:sp>
        <p:nvSpPr>
          <p:cNvPr id="21" name="Text 17"/>
          <p:cNvSpPr txBox="1"/>
          <p:nvPr/>
        </p:nvSpPr>
        <p:spPr>
          <a:xfrm>
            <a:off x="1207008" y="3456432"/>
            <a:ext cx="2286000" cy="329184"/>
          </a:xfrm>
          <a:prstGeom prst="rect">
            <a:avLst/>
          </a:prstGeom>
          <a:noFill/>
          <a:ln/>
        </p:spPr>
        <p:txBody>
          <a:bodyPr wrap="square" lIns="0" tIns="0" rIns="0" bIns="0" rtlCol="0" anchor="ctr"/>
          <a:lstStyle/>
          <a:p>
            <a:pPr indent="0" marL="0">
              <a:buNone/>
            </a:pPr>
            <a:r>
              <a:rPr lang="en-US" sz="1450" b="1" dirty="0">
                <a:solidFill>
                  <a:srgbClr val="231D1A"/>
                </a:solidFill>
                <a:latin typeface="Calibri" pitchFamily="34" charset="0"/>
                <a:ea typeface="Calibri" pitchFamily="34" charset="-122"/>
                <a:cs typeface="Calibri" pitchFamily="34" charset="-120"/>
              </a:rPr>
              <a:t>Backend</a:t>
            </a:r>
            <a:endParaRPr lang="en-US" sz="1450" dirty="0"/>
          </a:p>
        </p:txBody>
      </p:sp>
      <p:sp>
        <p:nvSpPr>
          <p:cNvPr id="22" name="Text 18"/>
          <p:cNvSpPr txBox="1"/>
          <p:nvPr/>
        </p:nvSpPr>
        <p:spPr>
          <a:xfrm>
            <a:off x="804672" y="393192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advertisement.parser</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giải mã Eddystone / iBeacon</a:t>
            </a:r>
            <a:endParaRPr lang="en-US" sz="950" dirty="0"/>
          </a:p>
        </p:txBody>
      </p:sp>
      <p:sp>
        <p:nvSpPr>
          <p:cNvPr id="23" name="Text 19"/>
          <p:cNvSpPr txBox="1"/>
          <p:nvPr/>
        </p:nvSpPr>
        <p:spPr>
          <a:xfrm>
            <a:off x="804672" y="434340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exhibit-resolver</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khoảng nửa mở, chọn bản gán</a:t>
            </a:r>
            <a:endParaRPr lang="en-US" sz="950" dirty="0"/>
          </a:p>
        </p:txBody>
      </p:sp>
      <p:sp>
        <p:nvSpPr>
          <p:cNvPr id="24" name="Text 20"/>
          <p:cNvSpPr txBox="1"/>
          <p:nvPr/>
        </p:nvSpPr>
        <p:spPr>
          <a:xfrm>
            <a:off x="804672" y="475488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schedule-conflict</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chống chồng lấn lịch</a:t>
            </a:r>
            <a:endParaRPr lang="en-US" sz="950" dirty="0"/>
          </a:p>
        </p:txBody>
      </p:sp>
      <p:sp>
        <p:nvSpPr>
          <p:cNvPr id="25" name="Text 21"/>
          <p:cNvSpPr txBox="1"/>
          <p:nvPr/>
        </p:nvSpPr>
        <p:spPr>
          <a:xfrm>
            <a:off x="804672" y="516636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current-exhibit.planner</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đóng / xóa / tạo bản gán</a:t>
            </a:r>
            <a:endParaRPr lang="en-US" sz="950" dirty="0"/>
          </a:p>
        </p:txBody>
      </p:sp>
      <p:sp>
        <p:nvSpPr>
          <p:cNvPr id="26" name="Text 22"/>
          <p:cNvSpPr txBox="1"/>
          <p:nvPr/>
        </p:nvSpPr>
        <p:spPr>
          <a:xfrm>
            <a:off x="804672" y="557784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exhibit-content</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chọn bản dịch dự phòng</a:t>
            </a:r>
            <a:endParaRPr lang="en-US" sz="950" dirty="0"/>
          </a:p>
        </p:txBody>
      </p:sp>
      <p:sp>
        <p:nvSpPr>
          <p:cNvPr id="27" name="Shape 23"/>
          <p:cNvSpPr/>
          <p:nvPr/>
        </p:nvSpPr>
        <p:spPr>
          <a:xfrm>
            <a:off x="4322064" y="3310128"/>
            <a:ext cx="3544824" cy="2770632"/>
          </a:xfrm>
          <a:prstGeom prst="roundRect">
            <a:avLst>
              <a:gd name="adj" fmla="val 2640"/>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28" name="Image 2" descr="Biểu tượng">    </p:cNvPr>
          <p:cNvPicPr>
            <a:picLocks noChangeAspect="1"/>
          </p:cNvPicPr>
          <p:nvPr/>
        </p:nvPicPr>
        <p:blipFill>
          <a:blip r:embed="rId3"/>
          <a:stretch>
            <a:fillRect/>
          </a:stretch>
        </p:blipFill>
        <p:spPr>
          <a:xfrm>
            <a:off x="4578096" y="3474720"/>
            <a:ext cx="292608" cy="292608"/>
          </a:xfrm>
          <a:prstGeom prst="rect">
            <a:avLst/>
          </a:prstGeom>
        </p:spPr>
      </p:pic>
      <p:sp>
        <p:nvSpPr>
          <p:cNvPr id="29" name="Text 24"/>
          <p:cNvSpPr txBox="1"/>
          <p:nvPr/>
        </p:nvSpPr>
        <p:spPr>
          <a:xfrm>
            <a:off x="4980432" y="3456432"/>
            <a:ext cx="2286000" cy="329184"/>
          </a:xfrm>
          <a:prstGeom prst="rect">
            <a:avLst/>
          </a:prstGeom>
          <a:noFill/>
          <a:ln/>
        </p:spPr>
        <p:txBody>
          <a:bodyPr wrap="square" lIns="0" tIns="0" rIns="0" bIns="0" rtlCol="0" anchor="ctr"/>
          <a:lstStyle/>
          <a:p>
            <a:pPr indent="0" marL="0">
              <a:buNone/>
            </a:pPr>
            <a:r>
              <a:rPr lang="en-US" sz="1450" b="1" dirty="0">
                <a:solidFill>
                  <a:srgbClr val="231D1A"/>
                </a:solidFill>
                <a:latin typeface="Calibri" pitchFamily="34" charset="0"/>
                <a:ea typeface="Calibri" pitchFamily="34" charset="-122"/>
                <a:cs typeface="Calibri" pitchFamily="34" charset="-120"/>
              </a:rPr>
              <a:t>Mobile</a:t>
            </a:r>
            <a:endParaRPr lang="en-US" sz="1450" dirty="0"/>
          </a:p>
        </p:txBody>
      </p:sp>
      <p:sp>
        <p:nvSpPr>
          <p:cNvPr id="30" name="Text 25"/>
          <p:cNvSpPr txBox="1"/>
          <p:nvPr/>
        </p:nvSpPr>
        <p:spPr>
          <a:xfrm>
            <a:off x="4578096" y="393192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signal-processor</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median, outlier, trung bình có trọng số</a:t>
            </a:r>
            <a:endParaRPr lang="en-US" sz="950" dirty="0"/>
          </a:p>
        </p:txBody>
      </p:sp>
      <p:sp>
        <p:nvSpPr>
          <p:cNvPr id="31" name="Text 26"/>
          <p:cNvSpPr txBox="1"/>
          <p:nvPr/>
        </p:nvSpPr>
        <p:spPr>
          <a:xfrm>
            <a:off x="4578096" y="434340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zone-detector</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dwell, hysteresis, cooldown</a:t>
            </a:r>
            <a:endParaRPr lang="en-US" sz="950" dirty="0"/>
          </a:p>
        </p:txBody>
      </p:sp>
      <p:sp>
        <p:nvSpPr>
          <p:cNvPr id="32" name="Text 27"/>
          <p:cNvSpPr txBox="1"/>
          <p:nvPr/>
        </p:nvSpPr>
        <p:spPr>
          <a:xfrm>
            <a:off x="4578096" y="475488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eddystone · ibeacon</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phân tích payload quảng bá</a:t>
            </a:r>
            <a:endParaRPr lang="en-US" sz="950" dirty="0"/>
          </a:p>
        </p:txBody>
      </p:sp>
      <p:sp>
        <p:nvSpPr>
          <p:cNvPr id="33" name="Text 28"/>
          <p:cNvSpPr txBox="1"/>
          <p:nvPr/>
        </p:nvSpPr>
        <p:spPr>
          <a:xfrm>
            <a:off x="4578096" y="516636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beacon-registry</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so khớp beacon theo payload</a:t>
            </a:r>
            <a:endParaRPr lang="en-US" sz="950" dirty="0"/>
          </a:p>
        </p:txBody>
      </p:sp>
      <p:sp>
        <p:nvSpPr>
          <p:cNvPr id="34" name="Text 29"/>
          <p:cNvSpPr txBox="1"/>
          <p:nvPr/>
        </p:nvSpPr>
        <p:spPr>
          <a:xfrm>
            <a:off x="4578096" y="5577840"/>
            <a:ext cx="3087624" cy="402336"/>
          </a:xfrm>
          <a:prstGeom prst="rect">
            <a:avLst/>
          </a:prstGeom>
          <a:noFill/>
          <a:ln/>
        </p:spPr>
        <p:txBody>
          <a:bodyPr wrap="square" lIns="0" tIns="0" rIns="0" bIns="0" rtlCol="0" anchor="t"/>
          <a:lstStyle/>
          <a:p>
            <a:pPr indent="0" marL="0">
              <a:buNone/>
            </a:pPr>
            <a:r>
              <a:rPr lang="en-US" sz="950" b="1" dirty="0">
                <a:solidFill>
                  <a:srgbClr val="5E2420"/>
                </a:solidFill>
                <a:latin typeface="Courier New" pitchFamily="34" charset="0"/>
                <a:ea typeface="Courier New" pitchFamily="34" charset="-122"/>
                <a:cs typeface="Courier New" pitchFamily="34" charset="-120"/>
              </a:rPr>
              <a:t>qr</a:t>
            </a:r>
            <a:endParaRPr lang="en-US" sz="950" dirty="0"/>
          </a:p>
          <a:p>
            <a:pPr indent="0" marL="0">
              <a:buNone/>
            </a:pPr>
            <a:r>
              <a:rPr lang="en-US" sz="1050" dirty="0">
                <a:solidFill>
                  <a:srgbClr val="6B5F58"/>
                </a:solidFill>
                <a:latin typeface="Calibri" pitchFamily="34" charset="0"/>
                <a:ea typeface="Calibri" pitchFamily="34" charset="-122"/>
                <a:cs typeface="Calibri" pitchFamily="34" charset="-120"/>
              </a:rPr>
              <a:t>đọc mã khu vực từ QR</a:t>
            </a:r>
            <a:endParaRPr lang="en-US" sz="950" dirty="0"/>
          </a:p>
        </p:txBody>
      </p:sp>
      <p:sp>
        <p:nvSpPr>
          <p:cNvPr id="35" name="Shape 30"/>
          <p:cNvSpPr/>
          <p:nvPr/>
        </p:nvSpPr>
        <p:spPr>
          <a:xfrm>
            <a:off x="8095488" y="3310128"/>
            <a:ext cx="3544824" cy="2770632"/>
          </a:xfrm>
          <a:prstGeom prst="roundRect">
            <a:avLst>
              <a:gd name="adj" fmla="val 2640"/>
            </a:avLst>
          </a:prstGeom>
          <a:solidFill>
            <a:srgbClr val="EFE6DA"/>
          </a:solidFill>
          <a:ln w="9525">
            <a:solidFill>
              <a:srgbClr val="EFE6DA"/>
            </a:solidFill>
            <a:prstDash val="solid"/>
          </a:ln>
        </p:spPr>
      </p:sp>
      <p:pic>
        <p:nvPicPr>
          <p:cNvPr id="36" name="Image 3" descr="Biểu tượng">    </p:cNvPr>
          <p:cNvPicPr>
            <a:picLocks noChangeAspect="1"/>
          </p:cNvPicPr>
          <p:nvPr/>
        </p:nvPicPr>
        <p:blipFill>
          <a:blip r:embed="rId4"/>
          <a:stretch>
            <a:fillRect/>
          </a:stretch>
        </p:blipFill>
        <p:spPr>
          <a:xfrm>
            <a:off x="8351520" y="3474720"/>
            <a:ext cx="292608" cy="292608"/>
          </a:xfrm>
          <a:prstGeom prst="rect">
            <a:avLst/>
          </a:prstGeom>
        </p:spPr>
      </p:pic>
      <p:sp>
        <p:nvSpPr>
          <p:cNvPr id="37" name="Text 31"/>
          <p:cNvSpPr txBox="1"/>
          <p:nvPr/>
        </p:nvSpPr>
        <p:spPr>
          <a:xfrm>
            <a:off x="8753856" y="3456432"/>
            <a:ext cx="2560320" cy="329184"/>
          </a:xfrm>
          <a:prstGeom prst="rect">
            <a:avLst/>
          </a:prstGeom>
          <a:noFill/>
          <a:ln/>
        </p:spPr>
        <p:txBody>
          <a:bodyPr wrap="square" lIns="0" tIns="0" rIns="0" bIns="0" rtlCol="0" anchor="ctr"/>
          <a:lstStyle/>
          <a:p>
            <a:pPr indent="0" marL="0">
              <a:buNone/>
            </a:pPr>
            <a:r>
              <a:rPr lang="en-US" sz="1450" b="1" dirty="0">
                <a:solidFill>
                  <a:srgbClr val="5E2420"/>
                </a:solidFill>
                <a:latin typeface="Calibri" pitchFamily="34" charset="0"/>
                <a:ea typeface="Calibri" pitchFamily="34" charset="-122"/>
                <a:cs typeface="Calibri" pitchFamily="34" charset="-120"/>
              </a:rPr>
              <a:t>Nguyên tắc thiết kế</a:t>
            </a:r>
            <a:endParaRPr lang="en-US" sz="1450" dirty="0"/>
          </a:p>
        </p:txBody>
      </p:sp>
      <p:sp>
        <p:nvSpPr>
          <p:cNvPr id="38" name="Text 32"/>
          <p:cNvSpPr txBox="1"/>
          <p:nvPr/>
        </p:nvSpPr>
        <p:spPr>
          <a:xfrm>
            <a:off x="8351520" y="3931920"/>
            <a:ext cx="3087624" cy="2057400"/>
          </a:xfrm>
          <a:prstGeom prst="rect">
            <a:avLst/>
          </a:prstGeom>
          <a:noFill/>
          <a:ln/>
        </p:spPr>
        <p:txBody>
          <a:bodyPr wrap="square" lIns="0" tIns="0" rIns="0" bIns="0" rtlCol="0" anchor="t"/>
          <a:lstStyle/>
          <a:p>
            <a:pPr marL="152400" indent="-152400">
              <a:spcAft>
                <a:spcPts val="700"/>
              </a:spcAft>
              <a:buSzPct val="100000"/>
              <a:buChar char="•"/>
            </a:pPr>
            <a:r>
              <a:rPr lang="en-US" sz="1200" dirty="0">
                <a:solidFill>
                  <a:srgbClr val="231D1A"/>
                </a:solidFill>
                <a:latin typeface="Calibri" pitchFamily="34" charset="0"/>
                <a:ea typeface="Calibri" pitchFamily="34" charset="-122"/>
                <a:cs typeface="Calibri" pitchFamily="34" charset="-120"/>
              </a:rPr>
              <a:t>Quyết định là hàm thuần, nhận thời điểm now tường minh</a:t>
            </a:r>
            <a:endParaRPr lang="en-US" sz="1200" dirty="0"/>
          </a:p>
          <a:p>
            <a:pPr marL="152400" indent="-152400">
              <a:spcAft>
                <a:spcPts val="700"/>
              </a:spcAft>
              <a:buSzPct val="100000"/>
              <a:buChar char="•"/>
            </a:pPr>
            <a:r>
              <a:rPr lang="en-US" sz="1200" dirty="0">
                <a:solidFill>
                  <a:srgbClr val="231D1A"/>
                </a:solidFill>
                <a:latin typeface="Calibri" pitchFamily="34" charset="0"/>
                <a:ea typeface="Calibri" pitchFamily="34" charset="-122"/>
                <a:cs typeface="Calibri" pitchFamily="34" charset="-120"/>
              </a:rPr>
              <a:t>Kiểm thử không cần Bluetooth, cơ sở dữ liệu hay thiết bị</a:t>
            </a:r>
            <a:endParaRPr lang="en-US" sz="1200" dirty="0"/>
          </a:p>
          <a:p>
            <a:pPr marL="152400" indent="-152400">
              <a:spcAft>
                <a:spcPts val="700"/>
              </a:spcAft>
              <a:buSzPct val="100000"/>
              <a:buChar char="•"/>
            </a:pPr>
            <a:r>
              <a:rPr lang="en-US" sz="1200" dirty="0">
                <a:solidFill>
                  <a:srgbClr val="231D1A"/>
                </a:solidFill>
                <a:latin typeface="Calibri" pitchFamily="34" charset="0"/>
                <a:ea typeface="Calibri" pitchFamily="34" charset="-122"/>
                <a:cs typeface="Calibri" pitchFamily="34" charset="-120"/>
              </a:rPr>
              <a:t>Một quy tắc resolve dùng chung cho BLE, QR và Dashboard</a:t>
            </a:r>
            <a:endParaRPr lang="en-US" sz="1200" dirty="0"/>
          </a:p>
          <a:p>
            <a:pPr marL="152400" indent="-152400">
              <a:spcAft>
                <a:spcPts val="700"/>
              </a:spcAft>
              <a:buSzPct val="100000"/>
              <a:buChar char="•"/>
            </a:pPr>
            <a:r>
              <a:rPr lang="en-US" sz="1200" dirty="0">
                <a:solidFill>
                  <a:srgbClr val="231D1A"/>
                </a:solidFill>
                <a:latin typeface="Calibri" pitchFamily="34" charset="0"/>
                <a:ea typeface="Calibri" pitchFamily="34" charset="-122"/>
                <a:cs typeface="Calibri" pitchFamily="34" charset="-120"/>
              </a:rPr>
              <a:t>Backend là nơi bảo vệ dữ liệu cuối cùng; UI chỉ kiểm tra để phản hồi nhanh</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TIẾN ĐỘ</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Đã làm được gì và còn gì phía trước</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18 / 20</a:t>
            </a:r>
            <a:endParaRPr lang="en-US" sz="900" dirty="0"/>
          </a:p>
        </p:txBody>
      </p:sp>
      <p:sp>
        <p:nvSpPr>
          <p:cNvPr id="7" name="Shape 4"/>
          <p:cNvSpPr/>
          <p:nvPr/>
        </p:nvSpPr>
        <p:spPr>
          <a:xfrm>
            <a:off x="548640" y="1572768"/>
            <a:ext cx="3514344" cy="4160520"/>
          </a:xfrm>
          <a:prstGeom prst="roundRect">
            <a:avLst>
              <a:gd name="adj" fmla="val 2082"/>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8" name="Image 1" descr="Họa tiết vòm trang trí">    </p:cNvPr>
          <p:cNvPicPr>
            <a:picLocks noChangeAspect="1"/>
          </p:cNvPicPr>
          <p:nvPr/>
        </p:nvPicPr>
        <p:blipFill>
          <a:blip r:embed="rId2"/>
          <a:stretch>
            <a:fillRect/>
          </a:stretch>
        </p:blipFill>
        <p:spPr>
          <a:xfrm>
            <a:off x="822960" y="1810512"/>
            <a:ext cx="457200" cy="609600"/>
          </a:xfrm>
          <a:prstGeom prst="rect">
            <a:avLst/>
          </a:prstGeom>
        </p:spPr>
      </p:pic>
      <p:pic>
        <p:nvPicPr>
          <p:cNvPr id="9" name="Image 2" descr="Biểu tượng">    </p:cNvPr>
          <p:cNvPicPr>
            <a:picLocks noChangeAspect="1"/>
          </p:cNvPicPr>
          <p:nvPr/>
        </p:nvPicPr>
        <p:blipFill>
          <a:blip r:embed="rId3"/>
          <a:stretch>
            <a:fillRect/>
          </a:stretch>
        </p:blipFill>
        <p:spPr>
          <a:xfrm>
            <a:off x="937260" y="2066544"/>
            <a:ext cx="228600" cy="228600"/>
          </a:xfrm>
          <a:prstGeom prst="rect">
            <a:avLst/>
          </a:prstGeom>
        </p:spPr>
      </p:pic>
      <p:sp>
        <p:nvSpPr>
          <p:cNvPr id="10" name="Text 5"/>
          <p:cNvSpPr txBox="1"/>
          <p:nvPr/>
        </p:nvSpPr>
        <p:spPr>
          <a:xfrm>
            <a:off x="1463040" y="1965960"/>
            <a:ext cx="2417064" cy="320040"/>
          </a:xfrm>
          <a:prstGeom prst="rect">
            <a:avLst/>
          </a:prstGeom>
          <a:noFill/>
          <a:ln/>
        </p:spPr>
        <p:txBody>
          <a:bodyPr wrap="square" lIns="0" tIns="0" rIns="0" bIns="0" rtlCol="0" anchor="ctr"/>
          <a:lstStyle/>
          <a:p>
            <a:pPr indent="0" marL="0">
              <a:buNone/>
            </a:pPr>
            <a:r>
              <a:rPr lang="en-US" sz="1200" b="1" spc="200" kern="0" dirty="0">
                <a:solidFill>
                  <a:srgbClr val="5E2420"/>
                </a:solidFill>
                <a:latin typeface="Calibri" pitchFamily="34" charset="0"/>
                <a:ea typeface="Calibri" pitchFamily="34" charset="-122"/>
                <a:cs typeface="Calibri" pitchFamily="34" charset="-120"/>
              </a:rPr>
              <a:t>ĐÃ HOÀN THÀNH</a:t>
            </a:r>
            <a:endParaRPr lang="en-US" sz="1200" dirty="0"/>
          </a:p>
        </p:txBody>
      </p:sp>
      <p:sp>
        <p:nvSpPr>
          <p:cNvPr id="11" name="Text 6"/>
          <p:cNvSpPr txBox="1"/>
          <p:nvPr/>
        </p:nvSpPr>
        <p:spPr>
          <a:xfrm>
            <a:off x="822960" y="2697480"/>
            <a:ext cx="3011424" cy="324612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Backend API và Admin: hiện vật, khu vực, beacon, gán trưng bày, lịch sử</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Dịch tự động và tạo audio thuyết minh (OpenAI, tùy chọn)</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Visitor Web mở bằng QR, đa ngôn ngữ</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App mobile: pipeline BLE, chế độ mô phỏng, QR dự phòng</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Dữ liệu mẫu và 141 unit test</a:t>
            </a:r>
            <a:endParaRPr lang="en-US" sz="1400" dirty="0"/>
          </a:p>
        </p:txBody>
      </p:sp>
      <p:sp>
        <p:nvSpPr>
          <p:cNvPr id="12" name="Shape 7"/>
          <p:cNvSpPr/>
          <p:nvPr/>
        </p:nvSpPr>
        <p:spPr>
          <a:xfrm>
            <a:off x="4337304" y="1572768"/>
            <a:ext cx="3514344" cy="4160520"/>
          </a:xfrm>
          <a:prstGeom prst="roundRect">
            <a:avLst>
              <a:gd name="adj" fmla="val 2082"/>
            </a:avLst>
          </a:prstGeom>
          <a:solidFill>
            <a:srgbClr val="FFFFFF"/>
          </a:solidFill>
          <a:ln w="9525">
            <a:solidFill>
              <a:srgbClr val="E3D9CD"/>
            </a:solidFill>
            <a:prstDash val="solid"/>
          </a:ln>
          <a:effectLst>
            <a:outerShdw sx="100000" sy="100000" kx="0" ky="0" algn="bl" rotWithShape="0" blurRad="127000" dist="25400" dir="5400000">
              <a:srgbClr val="000000">
                <a:alpha val="8000"/>
              </a:srgbClr>
            </a:outerShdw>
          </a:effectLst>
        </p:spPr>
      </p:sp>
      <p:pic>
        <p:nvPicPr>
          <p:cNvPr id="13" name="Image 3" descr="Họa tiết vòm trang trí">    </p:cNvPr>
          <p:cNvPicPr>
            <a:picLocks noChangeAspect="1"/>
          </p:cNvPicPr>
          <p:nvPr/>
        </p:nvPicPr>
        <p:blipFill>
          <a:blip r:embed="rId4"/>
          <a:stretch>
            <a:fillRect/>
          </a:stretch>
        </p:blipFill>
        <p:spPr>
          <a:xfrm>
            <a:off x="4611624" y="1810512"/>
            <a:ext cx="457200" cy="609600"/>
          </a:xfrm>
          <a:prstGeom prst="rect">
            <a:avLst/>
          </a:prstGeom>
        </p:spPr>
      </p:pic>
      <p:pic>
        <p:nvPicPr>
          <p:cNvPr id="14" name="Image 4" descr="Biểu tượng">    </p:cNvPr>
          <p:cNvPicPr>
            <a:picLocks noChangeAspect="1"/>
          </p:cNvPicPr>
          <p:nvPr/>
        </p:nvPicPr>
        <p:blipFill>
          <a:blip r:embed="rId5"/>
          <a:stretch>
            <a:fillRect/>
          </a:stretch>
        </p:blipFill>
        <p:spPr>
          <a:xfrm>
            <a:off x="4725924" y="2066544"/>
            <a:ext cx="228600" cy="228600"/>
          </a:xfrm>
          <a:prstGeom prst="rect">
            <a:avLst/>
          </a:prstGeom>
        </p:spPr>
      </p:pic>
      <p:sp>
        <p:nvSpPr>
          <p:cNvPr id="15" name="Text 8"/>
          <p:cNvSpPr txBox="1"/>
          <p:nvPr/>
        </p:nvSpPr>
        <p:spPr>
          <a:xfrm>
            <a:off x="5251704" y="1965960"/>
            <a:ext cx="2417064" cy="320040"/>
          </a:xfrm>
          <a:prstGeom prst="rect">
            <a:avLst/>
          </a:prstGeom>
          <a:noFill/>
          <a:ln/>
        </p:spPr>
        <p:txBody>
          <a:bodyPr wrap="square" lIns="0" tIns="0" rIns="0" bIns="0" rtlCol="0" anchor="ctr"/>
          <a:lstStyle/>
          <a:p>
            <a:pPr indent="0" marL="0">
              <a:buNone/>
            </a:pPr>
            <a:r>
              <a:rPr lang="en-US" sz="1200" b="1" spc="200" kern="0" dirty="0">
                <a:solidFill>
                  <a:srgbClr val="5E2420"/>
                </a:solidFill>
                <a:latin typeface="Calibri" pitchFamily="34" charset="0"/>
                <a:ea typeface="Calibri" pitchFamily="34" charset="-122"/>
                <a:cs typeface="Calibri" pitchFamily="34" charset="-120"/>
              </a:rPr>
              <a:t>HẠN CHẾ HIỆN TẠI</a:t>
            </a:r>
            <a:endParaRPr lang="en-US" sz="1200" dirty="0"/>
          </a:p>
        </p:txBody>
      </p:sp>
      <p:sp>
        <p:nvSpPr>
          <p:cNvPr id="16" name="Text 9"/>
          <p:cNvSpPr txBox="1"/>
          <p:nvPr/>
        </p:nvSpPr>
        <p:spPr>
          <a:xfrm>
            <a:off x="4611624" y="2697480"/>
            <a:ext cx="3011424" cy="324612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Chưa thử nghiệm thực địa với nhiều phòng và đông người</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Tham số BLE mới là giá trị khởi điểm, chưa hiệu chỉnh</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Chưa phát hiện khu vực khi app chạy nền</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Quét beacon từ Admin chỉ chạy khi API đặt trên macOS</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Ảnh, audio còn là dữ liệu mẫu; media lưu cục bộ</a:t>
            </a:r>
            <a:endParaRPr lang="en-US" sz="1400" dirty="0"/>
          </a:p>
        </p:txBody>
      </p:sp>
      <p:sp>
        <p:nvSpPr>
          <p:cNvPr id="17" name="Shape 10"/>
          <p:cNvSpPr/>
          <p:nvPr/>
        </p:nvSpPr>
        <p:spPr>
          <a:xfrm>
            <a:off x="8125968" y="1572768"/>
            <a:ext cx="3514344" cy="4160520"/>
          </a:xfrm>
          <a:prstGeom prst="roundRect">
            <a:avLst>
              <a:gd name="adj" fmla="val 2082"/>
            </a:avLst>
          </a:prstGeom>
          <a:solidFill>
            <a:srgbClr val="EFE6DA"/>
          </a:solidFill>
          <a:ln w="9525">
            <a:solidFill>
              <a:srgbClr val="EFE6DA"/>
            </a:solidFill>
            <a:prstDash val="solid"/>
          </a:ln>
        </p:spPr>
      </p:sp>
      <p:pic>
        <p:nvPicPr>
          <p:cNvPr id="18" name="Image 5" descr="Họa tiết vòm trang trí">    </p:cNvPr>
          <p:cNvPicPr>
            <a:picLocks noChangeAspect="1"/>
          </p:cNvPicPr>
          <p:nvPr/>
        </p:nvPicPr>
        <p:blipFill>
          <a:blip r:embed="rId6"/>
          <a:stretch>
            <a:fillRect/>
          </a:stretch>
        </p:blipFill>
        <p:spPr>
          <a:xfrm>
            <a:off x="8400288" y="1810512"/>
            <a:ext cx="457200" cy="609600"/>
          </a:xfrm>
          <a:prstGeom prst="rect">
            <a:avLst/>
          </a:prstGeom>
        </p:spPr>
      </p:pic>
      <p:pic>
        <p:nvPicPr>
          <p:cNvPr id="19" name="Image 6" descr="Biểu tượng">    </p:cNvPr>
          <p:cNvPicPr>
            <a:picLocks noChangeAspect="1"/>
          </p:cNvPicPr>
          <p:nvPr/>
        </p:nvPicPr>
        <p:blipFill>
          <a:blip r:embed="rId7"/>
          <a:stretch>
            <a:fillRect/>
          </a:stretch>
        </p:blipFill>
        <p:spPr>
          <a:xfrm>
            <a:off x="8514588" y="2066544"/>
            <a:ext cx="228600" cy="228600"/>
          </a:xfrm>
          <a:prstGeom prst="rect">
            <a:avLst/>
          </a:prstGeom>
        </p:spPr>
      </p:pic>
      <p:sp>
        <p:nvSpPr>
          <p:cNvPr id="20" name="Text 11"/>
          <p:cNvSpPr txBox="1"/>
          <p:nvPr/>
        </p:nvSpPr>
        <p:spPr>
          <a:xfrm>
            <a:off x="9040368" y="1965960"/>
            <a:ext cx="2417064" cy="320040"/>
          </a:xfrm>
          <a:prstGeom prst="rect">
            <a:avLst/>
          </a:prstGeom>
          <a:noFill/>
          <a:ln/>
        </p:spPr>
        <p:txBody>
          <a:bodyPr wrap="square" lIns="0" tIns="0" rIns="0" bIns="0" rtlCol="0" anchor="ctr"/>
          <a:lstStyle/>
          <a:p>
            <a:pPr indent="0" marL="0">
              <a:buNone/>
            </a:pPr>
            <a:r>
              <a:rPr lang="en-US" sz="1200" b="1" spc="200" kern="0" dirty="0">
                <a:solidFill>
                  <a:srgbClr val="5E2420"/>
                </a:solidFill>
                <a:latin typeface="Calibri" pitchFamily="34" charset="0"/>
                <a:ea typeface="Calibri" pitchFamily="34" charset="-122"/>
                <a:cs typeface="Calibri" pitchFamily="34" charset="-120"/>
              </a:rPr>
              <a:t>KẾ HOẠCH CUỐI KÌ</a:t>
            </a:r>
            <a:endParaRPr lang="en-US" sz="1200" dirty="0"/>
          </a:p>
        </p:txBody>
      </p:sp>
      <p:sp>
        <p:nvSpPr>
          <p:cNvPr id="21" name="Text 12"/>
          <p:cNvSpPr txBox="1"/>
          <p:nvPr/>
        </p:nvSpPr>
        <p:spPr>
          <a:xfrm>
            <a:off x="8400288" y="2697480"/>
            <a:ext cx="3011424" cy="324612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Lắp beacon thật tại không gian thử nghiệm nhiều khu vực</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Đo và hiệu chỉnh dwell, hysteresis, minRssi theo từng phòng</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Nghiên cứu iBeacon region monitoring cho chế độ nền trên iOS</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Thay dữ liệu mẫu bằng tư liệu thật</a:t>
            </a:r>
            <a:endParaRPr lang="en-US" sz="1400" dirty="0"/>
          </a:p>
          <a:p>
            <a:pPr marL="177800" indent="-177800">
              <a:spcAft>
                <a:spcPts val="1200"/>
              </a:spcAft>
              <a:buSzPct val="100000"/>
              <a:buChar char="•"/>
            </a:pPr>
            <a:r>
              <a:rPr lang="en-US" sz="1400" dirty="0">
                <a:solidFill>
                  <a:srgbClr val="231D1A"/>
                </a:solidFill>
                <a:latin typeface="Calibri" pitchFamily="34" charset="0"/>
                <a:ea typeface="Calibri" pitchFamily="34" charset="-122"/>
                <a:cs typeface="Calibri" pitchFamily="34" charset="-120"/>
              </a:rPr>
              <a:t>Đánh giá với người dùng và hoàn thiện báo cáo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9F6"/>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56032"/>
          </a:xfrm>
          <a:prstGeom prst="rect">
            <a:avLst/>
          </a:prstGeom>
          <a:noFill/>
          <a:ln/>
        </p:spPr>
        <p:txBody>
          <a:bodyPr wrap="square" lIns="0" tIns="0" rIns="0" bIns="0" rtlCol="0" anchor="t"/>
          <a:lstStyle/>
          <a:p>
            <a:pPr indent="0" marL="0">
              <a:buNone/>
            </a:pPr>
            <a:r>
              <a:rPr lang="en-US" sz="1100" b="1" spc="200" kern="0" dirty="0">
                <a:solidFill>
                  <a:srgbClr val="8A6732"/>
                </a:solidFill>
                <a:latin typeface="Calibri" pitchFamily="34" charset="0"/>
                <a:ea typeface="Calibri" pitchFamily="34" charset="-122"/>
                <a:cs typeface="Calibri" pitchFamily="34" charset="-120"/>
              </a:rPr>
              <a:t>HƯỚNG ĐÁNH GIÁ</a:t>
            </a:r>
            <a:endParaRPr lang="en-US" sz="1100" dirty="0"/>
          </a:p>
        </p:txBody>
      </p:sp>
      <p:sp>
        <p:nvSpPr>
          <p:cNvPr id="3" name="Text 1"/>
          <p:cNvSpPr txBox="1"/>
          <p:nvPr/>
        </p:nvSpPr>
        <p:spPr>
          <a:xfrm>
            <a:off x="548640" y="640080"/>
            <a:ext cx="11091672" cy="658368"/>
          </a:xfrm>
          <a:prstGeom prst="rect">
            <a:avLst/>
          </a:prstGeom>
          <a:noFill/>
          <a:ln/>
        </p:spPr>
        <p:txBody>
          <a:bodyPr wrap="square" lIns="0" tIns="0" rIns="0" bIns="0" rtlCol="0" anchor="ctr"/>
          <a:lstStyle/>
          <a:p>
            <a:pPr indent="0" marL="0">
              <a:buNone/>
            </a:pPr>
            <a:r>
              <a:rPr lang="en-US" sz="2900" dirty="0">
                <a:solidFill>
                  <a:srgbClr val="231D1A"/>
                </a:solidFill>
                <a:latin typeface="Cambria" pitchFamily="34" charset="0"/>
                <a:ea typeface="Cambria" pitchFamily="34" charset="-122"/>
                <a:cs typeface="Cambria" pitchFamily="34" charset="-120"/>
              </a:rPr>
              <a:t>Đề xuất cách đo hiệu quả ở giai đoạn cuối kì</a:t>
            </a:r>
            <a:endParaRPr lang="en-US" sz="2900" dirty="0"/>
          </a:p>
        </p:txBody>
      </p:sp>
      <p:pic>
        <p:nvPicPr>
          <p:cNvPr id="4" name="Image 0" descr="Họa tiết vòm trang trí">    </p:cNvPr>
          <p:cNvPicPr>
            <a:picLocks noChangeAspect="1"/>
          </p:cNvPicPr>
          <p:nvPr/>
        </p:nvPicPr>
        <p:blipFill>
          <a:blip r:embed="rId1"/>
          <a:stretch>
            <a:fillRect/>
          </a:stretch>
        </p:blipFill>
        <p:spPr>
          <a:xfrm>
            <a:off x="548640" y="6419088"/>
            <a:ext cx="118872" cy="158191"/>
          </a:xfrm>
          <a:prstGeom prst="rect">
            <a:avLst/>
          </a:prstGeom>
        </p:spPr>
      </p:pic>
      <p:sp>
        <p:nvSpPr>
          <p:cNvPr id="5" name="Text 2"/>
          <p:cNvSpPr txBox="1"/>
          <p:nvPr/>
        </p:nvSpPr>
        <p:spPr>
          <a:xfrm>
            <a:off x="749808" y="6419088"/>
            <a:ext cx="5486400" cy="182880"/>
          </a:xfrm>
          <a:prstGeom prst="rect">
            <a:avLst/>
          </a:prstGeom>
          <a:noFill/>
          <a:ln/>
        </p:spPr>
        <p:txBody>
          <a:bodyPr wrap="square" lIns="0" tIns="0" rIns="0" bIns="0" rtlCol="0" anchor="ctr"/>
          <a:lstStyle/>
          <a:p>
            <a:pPr indent="0" marL="0">
              <a:buNone/>
            </a:pPr>
            <a:r>
              <a:rPr lang="en-US" sz="850" spc="100" kern="0" dirty="0">
                <a:solidFill>
                  <a:srgbClr val="6B5F58"/>
                </a:solidFill>
                <a:latin typeface="Calibri" pitchFamily="34" charset="0"/>
                <a:ea typeface="Calibri" pitchFamily="34" charset="-122"/>
                <a:cs typeface="Calibri" pitchFamily="34" charset="-120"/>
              </a:rPr>
              <a:t>SMART MUSEUM GUIDE  ·  BÁO CÁO GIỮA KÌ</a:t>
            </a:r>
            <a:endParaRPr lang="en-US" sz="850" dirty="0"/>
          </a:p>
        </p:txBody>
      </p:sp>
      <p:sp>
        <p:nvSpPr>
          <p:cNvPr id="6" name="Text 3"/>
          <p:cNvSpPr txBox="1"/>
          <p:nvPr/>
        </p:nvSpPr>
        <p:spPr>
          <a:xfrm>
            <a:off x="10241280" y="6419088"/>
            <a:ext cx="1399032" cy="182880"/>
          </a:xfrm>
          <a:prstGeom prst="rect">
            <a:avLst/>
          </a:prstGeom>
          <a:noFill/>
          <a:ln/>
        </p:spPr>
        <p:txBody>
          <a:bodyPr wrap="square" lIns="0" tIns="0" rIns="0" bIns="0" rtlCol="0" anchor="ctr"/>
          <a:lstStyle/>
          <a:p>
            <a:pPr algn="r" indent="0" marL="0">
              <a:buNone/>
            </a:pPr>
            <a:r>
              <a:rPr lang="en-US" sz="900" dirty="0">
                <a:solidFill>
                  <a:srgbClr val="6B5F58"/>
                </a:solidFill>
                <a:latin typeface="Calibri" pitchFamily="34" charset="0"/>
                <a:ea typeface="Calibri" pitchFamily="34" charset="-122"/>
                <a:cs typeface="Calibri" pitchFamily="34" charset="-120"/>
              </a:rPr>
              <a:t>19 / 20</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743200"/>
                <a:gridCol w="5486400"/>
                <a:gridCol w="2862072"/>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Chỉ số</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5E242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Cách đo</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5E2420"/>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Câu hỏi cần trả lời</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5E2420"/>
                    </a:solidFill>
                  </a:tcPr>
                </a:tc>
              </a:tr>
              <a:tr h="658368">
                <a:tc>
                  <a:txBody>
                    <a:bodyPr/>
                    <a:lstStyle/>
                    <a:p>
                      <a:pPr indent="0" marL="0">
                        <a:buNone/>
                      </a:pPr>
                      <a:r>
                        <a:rPr lang="en-US" sz="1300" b="1" dirty="0">
                          <a:solidFill>
                            <a:srgbClr val="5E2420"/>
                          </a:solidFill>
                          <a:latin typeface="Calibri" pitchFamily="34" charset="0"/>
                          <a:ea typeface="Calibri" pitchFamily="34" charset="-122"/>
                          <a:cs typeface="Calibri" pitchFamily="34" charset="-120"/>
                        </a:rPr>
                        <a:t>Độ chính xác nhận diện zone</a:t>
                      </a:r>
                      <a:endParaRPr lang="en-US" sz="130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250" dirty="0">
                          <a:solidFill>
                            <a:srgbClr val="231D1A"/>
                          </a:solidFill>
                          <a:latin typeface="Calibri" pitchFamily="34" charset="0"/>
                          <a:ea typeface="Calibri" pitchFamily="34" charset="-122"/>
                          <a:cs typeface="Calibri" pitchFamily="34" charset="-120"/>
                        </a:rPr>
                        <a:t>Đi theo lộ trình định sẵn, so zone thực tế (ground truth) với zone app xác nhận</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250" i="1" dirty="0">
                          <a:solidFill>
                            <a:srgbClr val="6B5F58"/>
                          </a:solidFill>
                          <a:latin typeface="Calibri" pitchFamily="34" charset="0"/>
                          <a:ea typeface="Calibri" pitchFamily="34" charset="-122"/>
                          <a:cs typeface="Calibri" pitchFamily="34" charset="-120"/>
                        </a:rPr>
                        <a:t>Hệ thống có đưa đúng nội dung?</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5E2420"/>
                          </a:solidFill>
                          <a:latin typeface="Calibri" pitchFamily="34" charset="0"/>
                          <a:ea typeface="Calibri" pitchFamily="34" charset="-122"/>
                          <a:cs typeface="Calibri" pitchFamily="34" charset="-120"/>
                        </a:rPr>
                        <a:t>Thời gian xác nhận</a:t>
                      </a:r>
                      <a:endParaRPr lang="en-US" sz="130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250" dirty="0">
                          <a:solidFill>
                            <a:srgbClr val="231D1A"/>
                          </a:solidFill>
                          <a:latin typeface="Calibri" pitchFamily="34" charset="0"/>
                          <a:ea typeface="Calibri" pitchFamily="34" charset="-122"/>
                          <a:cs typeface="Calibri" pitchFamily="34" charset="-120"/>
                        </a:rPr>
                        <a:t>Tính từ lúc bước qua ranh giới khu vực tới lúc hiện gợi ý (giây)</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250" i="1" dirty="0">
                          <a:solidFill>
                            <a:srgbClr val="6B5F58"/>
                          </a:solidFill>
                          <a:latin typeface="Calibri" pitchFamily="34" charset="0"/>
                          <a:ea typeface="Calibri" pitchFamily="34" charset="-122"/>
                          <a:cs typeface="Calibri" pitchFamily="34" charset="-120"/>
                        </a:rPr>
                        <a:t>Trải nghiệm có đủ nhanh?</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r>
              <a:tr h="658368">
                <a:tc>
                  <a:txBody>
                    <a:bodyPr/>
                    <a:lstStyle/>
                    <a:p>
                      <a:pPr indent="0" marL="0">
                        <a:buNone/>
                      </a:pPr>
                      <a:r>
                        <a:rPr lang="en-US" sz="1300" b="1" dirty="0">
                          <a:solidFill>
                            <a:srgbClr val="5E2420"/>
                          </a:solidFill>
                          <a:latin typeface="Calibri" pitchFamily="34" charset="0"/>
                          <a:ea typeface="Calibri" pitchFamily="34" charset="-122"/>
                          <a:cs typeface="Calibri" pitchFamily="34" charset="-120"/>
                        </a:rPr>
                        <a:t>Số lần “nhảy vùng” sai</a:t>
                      </a:r>
                      <a:endParaRPr lang="en-US" sz="130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250" dirty="0">
                          <a:solidFill>
                            <a:srgbClr val="231D1A"/>
                          </a:solidFill>
                          <a:latin typeface="Calibri" pitchFamily="34" charset="0"/>
                          <a:ea typeface="Calibri" pitchFamily="34" charset="-122"/>
                          <a:cs typeface="Calibri" pitchFamily="34" charset="-120"/>
                        </a:rPr>
                        <a:t>Đứng và đi dọc ranh giới hai khu vực, đếm số lần đổi zone không mong muốn</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250" i="1" dirty="0">
                          <a:solidFill>
                            <a:srgbClr val="6B5F58"/>
                          </a:solidFill>
                          <a:latin typeface="Calibri" pitchFamily="34" charset="0"/>
                          <a:ea typeface="Calibri" pitchFamily="34" charset="-122"/>
                          <a:cs typeface="Calibri" pitchFamily="34" charset="-120"/>
                        </a:rPr>
                        <a:t>Hysteresis và dwell có hiệu quả?</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5E2420"/>
                          </a:solidFill>
                          <a:latin typeface="Calibri" pitchFamily="34" charset="0"/>
                          <a:ea typeface="Calibri" pitchFamily="34" charset="-122"/>
                          <a:cs typeface="Calibri" pitchFamily="34" charset="-120"/>
                        </a:rPr>
                        <a:t>So sánh cấu hình</a:t>
                      </a:r>
                      <a:endParaRPr lang="en-US" sz="130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250" dirty="0">
                          <a:solidFill>
                            <a:srgbClr val="231D1A"/>
                          </a:solidFill>
                          <a:latin typeface="Calibri" pitchFamily="34" charset="0"/>
                          <a:ea typeface="Calibri" pitchFamily="34" charset="-122"/>
                          <a:cs typeface="Calibri" pitchFamily="34" charset="-120"/>
                        </a:rPr>
                        <a:t>Thay dwell (1–5 s), hysteresis (0–8 dB), kiểu làm mượt (median · mean · weighted)</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c>
                  <a:txBody>
                    <a:bodyPr/>
                    <a:lstStyle/>
                    <a:p>
                      <a:pPr indent="0" marL="0">
                        <a:buNone/>
                      </a:pPr>
                      <a:r>
                        <a:rPr lang="en-US" sz="1250" i="1" dirty="0">
                          <a:solidFill>
                            <a:srgbClr val="6B5F58"/>
                          </a:solidFill>
                          <a:latin typeface="Calibri" pitchFamily="34" charset="0"/>
                          <a:ea typeface="Calibri" pitchFamily="34" charset="-122"/>
                          <a:cs typeface="Calibri" pitchFamily="34" charset="-120"/>
                        </a:rPr>
                        <a:t>Chọn tham số dựa trên dữ liệu đo</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6F0E8"/>
                    </a:solidFill>
                  </a:tcPr>
                </a:tc>
              </a:tr>
              <a:tr h="658368">
                <a:tc>
                  <a:txBody>
                    <a:bodyPr/>
                    <a:lstStyle/>
                    <a:p>
                      <a:pPr indent="0" marL="0">
                        <a:buNone/>
                      </a:pPr>
                      <a:r>
                        <a:rPr lang="en-US" sz="1300" b="1" dirty="0">
                          <a:solidFill>
                            <a:srgbClr val="5E2420"/>
                          </a:solidFill>
                          <a:latin typeface="Calibri" pitchFamily="34" charset="0"/>
                          <a:ea typeface="Calibri" pitchFamily="34" charset="-122"/>
                          <a:cs typeface="Calibri" pitchFamily="34" charset="-120"/>
                        </a:rPr>
                        <a:t>Khả năng sử dụng</a:t>
                      </a:r>
                      <a:endParaRPr lang="en-US" sz="130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250" dirty="0">
                          <a:solidFill>
                            <a:srgbClr val="231D1A"/>
                          </a:solidFill>
                          <a:latin typeface="Calibri" pitchFamily="34" charset="0"/>
                          <a:ea typeface="Calibri" pitchFamily="34" charset="-122"/>
                          <a:cs typeface="Calibri" pitchFamily="34" charset="-120"/>
                        </a:rPr>
                        <a:t>Bảng hỏi SUS và phỏng vấn ngắn với khách tham gia thử nghiệm</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c>
                  <a:txBody>
                    <a:bodyPr/>
                    <a:lstStyle/>
                    <a:p>
                      <a:pPr indent="0" marL="0">
                        <a:buNone/>
                      </a:pPr>
                      <a:r>
                        <a:rPr lang="en-US" sz="1250" i="1" dirty="0">
                          <a:solidFill>
                            <a:srgbClr val="6B5F58"/>
                          </a:solidFill>
                          <a:latin typeface="Calibri" pitchFamily="34" charset="0"/>
                          <a:ea typeface="Calibri" pitchFamily="34" charset="-122"/>
                          <a:cs typeface="Calibri" pitchFamily="34" charset="-120"/>
                        </a:rPr>
                        <a:t>Khách có thấy hữu ích, dễ dùng?</a:t>
                      </a:r>
                      <a:endParaRPr lang="en-US" sz="1250" dirty="0">
                        <a:latin typeface="Calibri" charset="0"/>
                        <a:ea typeface="Calibri" charset="0"/>
                        <a:cs typeface="Calibri" charset="0"/>
                      </a:endParaRPr>
                    </a:p>
                  </a:txBody>
                  <a:tcPr marL="109728" marR="109728" marT="45720" marB="45720" anchor="ctr">
                    <a:lnL w="9525" cap="flat" cmpd="sng" algn="ctr">
                      <a:solidFill>
                        <a:srgbClr val="E3D9CD"/>
                      </a:solidFill>
                      <a:prstDash val="solid"/>
                      <a:round/>
                      <a:headEnd type="none" w="med" len="med"/>
                      <a:tailEnd type="none" w="med" len="med"/>
                    </a:lnL>
                    <a:lnR w="9525" cap="flat" cmpd="sng" algn="ctr">
                      <a:solidFill>
                        <a:srgbClr val="E3D9CD"/>
                      </a:solidFill>
                      <a:prstDash val="solid"/>
                      <a:round/>
                      <a:headEnd type="none" w="med" len="med"/>
                      <a:tailEnd type="none" w="med" len="med"/>
                    </a:lnR>
                    <a:lnT w="9525" cap="flat" cmpd="sng" algn="ctr">
                      <a:solidFill>
                        <a:srgbClr val="E3D9CD"/>
                      </a:solidFill>
                      <a:prstDash val="solid"/>
                      <a:round/>
                      <a:headEnd type="none" w="med" len="med"/>
                      <a:tailEnd type="none" w="med" len="med"/>
                    </a:lnT>
                    <a:lnB w="9525" cap="flat" cmpd="sng" algn="ctr">
                      <a:solidFill>
                        <a:srgbClr val="E3D9CD"/>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532120"/>
            <a:ext cx="11091672" cy="548640"/>
          </a:xfrm>
          <a:prstGeom prst="roundRect">
            <a:avLst>
              <a:gd name="adj" fmla="val 13333"/>
            </a:avLst>
          </a:prstGeom>
          <a:solidFill>
            <a:srgbClr val="EFE6DA"/>
          </a:solidFill>
          <a:ln w="9525">
            <a:solidFill>
              <a:srgbClr val="EFE6DA"/>
            </a:solidFill>
            <a:prstDash val="solid"/>
          </a:ln>
        </p:spPr>
      </p:sp>
      <p:pic>
        <p:nvPicPr>
          <p:cNvPr id="9" name="Image 1" descr="Biểu tượng">    </p:cNvPr>
          <p:cNvPicPr>
            <a:picLocks noChangeAspect="1"/>
          </p:cNvPicPr>
          <p:nvPr/>
        </p:nvPicPr>
        <p:blipFill>
          <a:blip r:embed="rId2"/>
          <a:stretch>
            <a:fillRect/>
          </a:stretch>
        </p:blipFill>
        <p:spPr>
          <a:xfrm>
            <a:off x="777240" y="5669280"/>
            <a:ext cx="274320" cy="274320"/>
          </a:xfrm>
          <a:prstGeom prst="rect">
            <a:avLst/>
          </a:prstGeom>
        </p:spPr>
      </p:pic>
      <p:sp>
        <p:nvSpPr>
          <p:cNvPr id="10" name="Text 5"/>
          <p:cNvSpPr txBox="1"/>
          <p:nvPr/>
        </p:nvSpPr>
        <p:spPr>
          <a:xfrm>
            <a:off x="1188720" y="5532120"/>
            <a:ext cx="10241280" cy="548640"/>
          </a:xfrm>
          <a:prstGeom prst="rect">
            <a:avLst/>
          </a:prstGeom>
          <a:noFill/>
          <a:ln/>
        </p:spPr>
        <p:txBody>
          <a:bodyPr wrap="square" lIns="0" tIns="0" rIns="0" bIns="0" rtlCol="0" anchor="ctr"/>
          <a:lstStyle/>
          <a:p>
            <a:pPr indent="0" marL="0">
              <a:buNone/>
            </a:pPr>
            <a:r>
              <a:rPr lang="en-US" sz="1300" i="1" dirty="0">
                <a:solidFill>
                  <a:srgbClr val="231D1A"/>
                </a:solidFill>
                <a:latin typeface="Calibri" pitchFamily="34" charset="0"/>
                <a:ea typeface="Calibri" pitchFamily="34" charset="-122"/>
                <a:cs typeface="Calibri" pitchFamily="34" charset="-120"/>
              </a:rPr>
              <a:t>Các chỉ số trên là đề xuất — nhóm rất mong nhận góp ý của Thầy/Cô để hoàn thiện phương pháp đánh giá.</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A1B17"/>
        </a:solidFill>
      </p:bgPr>
    </p:bg>
    <p:spTree>
      <p:nvGrpSpPr>
        <p:cNvPr id="1" name=""/>
        <p:cNvGrpSpPr/>
        <p:nvPr/>
      </p:nvGrpSpPr>
      <p:grpSpPr>
        <a:xfrm>
          <a:off x="0" y="0"/>
          <a:ext cx="0" cy="0"/>
          <a:chOff x="0" y="0"/>
          <a:chExt cx="0" cy="0"/>
        </a:xfrm>
      </p:grpSpPr>
      <p:pic>
        <p:nvPicPr>
          <p:cNvPr id="2" name="Image 0" descr="Họa tiết vòm trang trí">    </p:cNvPr>
          <p:cNvPicPr>
            <a:picLocks noChangeAspect="1"/>
          </p:cNvPicPr>
          <p:nvPr/>
        </p:nvPicPr>
        <p:blipFill>
          <a:blip r:embed="rId1"/>
          <a:stretch>
            <a:fillRect/>
          </a:stretch>
        </p:blipFill>
        <p:spPr>
          <a:xfrm>
            <a:off x="7406640" y="868680"/>
            <a:ext cx="4425696" cy="5989320"/>
          </a:xfrm>
          <a:prstGeom prst="rect">
            <a:avLst/>
          </a:prstGeom>
        </p:spPr>
      </p:pic>
      <p:pic>
        <p:nvPicPr>
          <p:cNvPr id="3" name="Image 1" descr="Họa tiết vòm trang trí">    </p:cNvPr>
          <p:cNvPicPr>
            <a:picLocks noChangeAspect="1"/>
          </p:cNvPicPr>
          <p:nvPr/>
        </p:nvPicPr>
        <p:blipFill>
          <a:blip r:embed="rId2"/>
          <a:stretch>
            <a:fillRect/>
          </a:stretch>
        </p:blipFill>
        <p:spPr>
          <a:xfrm>
            <a:off x="7772400" y="1417320"/>
            <a:ext cx="3703320" cy="5440680"/>
          </a:xfrm>
          <a:prstGeom prst="rect">
            <a:avLst/>
          </a:prstGeom>
        </p:spPr>
      </p:pic>
      <p:pic>
        <p:nvPicPr>
          <p:cNvPr id="4" name="Image 2" descr="Ảnh chụp màn hình ứng dụng khách tham quan">    </p:cNvPr>
          <p:cNvPicPr>
            <a:picLocks noChangeAspect="1"/>
          </p:cNvPicPr>
          <p:nvPr/>
        </p:nvPicPr>
        <p:blipFill>
          <a:blip r:embed="rId3"/>
          <a:stretch>
            <a:fillRect/>
          </a:stretch>
        </p:blipFill>
        <p:spPr>
          <a:xfrm>
            <a:off x="8403075" y="1325880"/>
            <a:ext cx="2441971" cy="4754880"/>
          </a:xfrm>
          <a:prstGeom prst="rect">
            <a:avLst/>
          </a:prstGeom>
        </p:spPr>
      </p:pic>
      <p:sp>
        <p:nvSpPr>
          <p:cNvPr id="5" name="Text 0"/>
          <p:cNvSpPr txBox="1"/>
          <p:nvPr/>
        </p:nvSpPr>
        <p:spPr>
          <a:xfrm>
            <a:off x="731520" y="1325880"/>
            <a:ext cx="4572000" cy="292608"/>
          </a:xfrm>
          <a:prstGeom prst="rect">
            <a:avLst/>
          </a:prstGeom>
          <a:noFill/>
          <a:ln/>
        </p:spPr>
        <p:txBody>
          <a:bodyPr wrap="square" lIns="0" tIns="0" rIns="0" bIns="0" rtlCol="0" anchor="t"/>
          <a:lstStyle/>
          <a:p>
            <a:pPr indent="0" marL="0">
              <a:buNone/>
            </a:pPr>
            <a:r>
              <a:rPr lang="en-US" sz="1200" b="1" spc="300" kern="0" dirty="0">
                <a:solidFill>
                  <a:srgbClr val="B08A4F"/>
                </a:solidFill>
                <a:latin typeface="Calibri" pitchFamily="34" charset="0"/>
                <a:ea typeface="Calibri" pitchFamily="34" charset="-122"/>
                <a:cs typeface="Calibri" pitchFamily="34" charset="-120"/>
              </a:rPr>
              <a:t>TỔNG KẾT</a:t>
            </a:r>
            <a:endParaRPr lang="en-US" sz="1200" dirty="0"/>
          </a:p>
        </p:txBody>
      </p:sp>
      <p:sp>
        <p:nvSpPr>
          <p:cNvPr id="6" name="Text 1"/>
          <p:cNvSpPr txBox="1"/>
          <p:nvPr/>
        </p:nvSpPr>
        <p:spPr>
          <a:xfrm>
            <a:off x="731520" y="1691640"/>
            <a:ext cx="6400800" cy="1600200"/>
          </a:xfrm>
          <a:prstGeom prst="rect">
            <a:avLst/>
          </a:prstGeom>
          <a:noFill/>
          <a:ln/>
        </p:spPr>
        <p:txBody>
          <a:bodyPr wrap="square" lIns="0" tIns="0" rIns="0" bIns="0" rtlCol="0" anchor="t"/>
          <a:lstStyle/>
          <a:p>
            <a:pPr indent="0" marL="0">
              <a:buNone/>
            </a:pPr>
            <a:r>
              <a:rPr lang="en-US" sz="3800" dirty="0">
                <a:solidFill>
                  <a:srgbClr val="FFFFFF"/>
                </a:solidFill>
                <a:latin typeface="Cambria" pitchFamily="34" charset="0"/>
                <a:ea typeface="Cambria" pitchFamily="34" charset="-122"/>
                <a:cs typeface="Cambria" pitchFamily="34" charset="-120"/>
              </a:rPr>
              <a:t>Beacon và QR đứng yên —</a:t>
            </a:r>
            <a:endParaRPr lang="en-US" sz="3800" dirty="0"/>
          </a:p>
          <a:p>
            <a:pPr indent="0" marL="0">
              <a:buNone/>
            </a:pPr>
            <a:r>
              <a:rPr lang="en-US" sz="3800" dirty="0">
                <a:solidFill>
                  <a:srgbClr val="FFFFFF"/>
                </a:solidFill>
                <a:latin typeface="Cambria" pitchFamily="34" charset="0"/>
                <a:ea typeface="Cambria" pitchFamily="34" charset="-122"/>
                <a:cs typeface="Cambria" pitchFamily="34" charset="-120"/>
              </a:rPr>
              <a:t>nội dung chuyển động.</a:t>
            </a:r>
            <a:endParaRPr lang="en-US" sz="3800" dirty="0"/>
          </a:p>
        </p:txBody>
      </p:sp>
      <p:sp>
        <p:nvSpPr>
          <p:cNvPr id="7" name="Text 2"/>
          <p:cNvSpPr txBox="1"/>
          <p:nvPr/>
        </p:nvSpPr>
        <p:spPr>
          <a:xfrm>
            <a:off x="731520" y="3383280"/>
            <a:ext cx="6035040" cy="1097280"/>
          </a:xfrm>
          <a:prstGeom prst="rect">
            <a:avLst/>
          </a:prstGeom>
          <a:noFill/>
          <a:ln/>
        </p:spPr>
        <p:txBody>
          <a:bodyPr wrap="square" lIns="0" tIns="0" rIns="0" bIns="0" rtlCol="0" anchor="t"/>
          <a:lstStyle/>
          <a:p>
            <a:pPr indent="0" marL="0">
              <a:lnSpc>
                <a:spcPct val="110000"/>
              </a:lnSpc>
              <a:buNone/>
            </a:pPr>
            <a:r>
              <a:rPr lang="en-US" sz="1700" dirty="0">
                <a:solidFill>
                  <a:srgbClr val="EFE6DA"/>
                </a:solidFill>
                <a:latin typeface="Calibri" pitchFamily="34" charset="0"/>
                <a:ea typeface="Calibri" pitchFamily="34" charset="-122"/>
                <a:cs typeface="Calibri" pitchFamily="34" charset="-120"/>
              </a:rPr>
              <a:t>Smart Museum Guide đưa nội dung đa ngôn ngữ tới đúng khu vực khách đang đứng, và cho phép bảo tàng thay đổi trưng bày chỉ bằng một thao tác.</a:t>
            </a:r>
            <a:endParaRPr lang="en-US" sz="1700" dirty="0"/>
          </a:p>
        </p:txBody>
      </p:sp>
      <p:sp>
        <p:nvSpPr>
          <p:cNvPr id="8" name="Text 3"/>
          <p:cNvSpPr txBox="1"/>
          <p:nvPr/>
        </p:nvSpPr>
        <p:spPr>
          <a:xfrm>
            <a:off x="731520" y="4754880"/>
            <a:ext cx="6217920" cy="411480"/>
          </a:xfrm>
          <a:prstGeom prst="rect">
            <a:avLst/>
          </a:prstGeom>
          <a:noFill/>
          <a:ln/>
        </p:spPr>
        <p:txBody>
          <a:bodyPr wrap="square" lIns="0" tIns="0" rIns="0" bIns="0" rtlCol="0" anchor="t"/>
          <a:lstStyle/>
          <a:p>
            <a:pPr indent="0" marL="0">
              <a:buNone/>
            </a:pPr>
            <a:r>
              <a:rPr lang="en-US" sz="2200" b="1" dirty="0">
                <a:solidFill>
                  <a:srgbClr val="B08A4F"/>
                </a:solidFill>
                <a:latin typeface="Cambria" pitchFamily="34" charset="0"/>
                <a:ea typeface="Cambria" pitchFamily="34" charset="-122"/>
                <a:cs typeface="Cambria" pitchFamily="34" charset="-120"/>
              </a:rPr>
              <a:t>Cảm ơn Thầy/Cô và các bạn đã lắng nghe</a:t>
            </a:r>
            <a:endParaRPr lang="en-US" sz="2200" dirty="0"/>
          </a:p>
        </p:txBody>
      </p:sp>
      <p:sp>
        <p:nvSpPr>
          <p:cNvPr id="9" name="Text 4"/>
          <p:cNvSpPr txBox="1"/>
          <p:nvPr/>
        </p:nvSpPr>
        <p:spPr>
          <a:xfrm>
            <a:off x="731520" y="5193792"/>
            <a:ext cx="6217920" cy="320040"/>
          </a:xfrm>
          <a:prstGeom prst="rect">
            <a:avLst/>
          </a:prstGeom>
          <a:noFill/>
          <a:ln/>
        </p:spPr>
        <p:txBody>
          <a:bodyPr wrap="square" lIns="0" tIns="0" rIns="0" bIns="0" rtlCol="0" anchor="t"/>
          <a:lstStyle/>
          <a:p>
            <a:pPr indent="0" marL="0">
              <a:buNone/>
            </a:pPr>
            <a:r>
              <a:rPr lang="en-US" sz="1500" dirty="0">
                <a:solidFill>
                  <a:srgbClr val="F6F0E8"/>
                </a:solidFill>
                <a:latin typeface="Calibri" pitchFamily="34" charset="0"/>
                <a:ea typeface="Calibri" pitchFamily="34" charset="-122"/>
                <a:cs typeface="Calibri" pitchFamily="34" charset="-120"/>
              </a:rPr>
              <a:t>Hỏi &amp; Đáp  ·  Rất mong nhận được góp ý</a:t>
            </a:r>
            <a:endParaRPr lang="en-US" sz="1500" dirty="0"/>
          </a:p>
        </p:txBody>
      </p:sp>
      <p:sp>
        <p:nvSpPr>
          <p:cNvPr id="10" name="Text 5"/>
          <p:cNvSpPr txBox="1"/>
          <p:nvPr/>
        </p:nvSpPr>
        <p:spPr>
          <a:xfrm>
            <a:off x="731520" y="5760720"/>
            <a:ext cx="6217920" cy="274320"/>
          </a:xfrm>
          <a:prstGeom prst="rect">
            <a:avLst/>
          </a:prstGeom>
          <a:noFill/>
          <a:ln/>
        </p:spPr>
        <p:txBody>
          <a:bodyPr wrap="square" lIns="0" tIns="0" rIns="0" bIns="0" rtlCol="0" anchor="t"/>
          <a:lstStyle/>
          <a:p>
            <a:pPr indent="0" marL="0">
              <a:buNone/>
            </a:pPr>
            <a:r>
              <a:rPr lang="en-US" sz="1100" dirty="0">
                <a:solidFill>
                  <a:srgbClr val="EFE6DA"/>
                </a:solidFill>
                <a:latin typeface="Courier New" pitchFamily="34" charset="0"/>
                <a:ea typeface="Courier New" pitchFamily="34" charset="-122"/>
                <a:cs typeface="Courier New" pitchFamily="34" charset="-120"/>
              </a:rPr>
              <a:t>github.com/huynhphatloi/smart-museum-guide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Museum Guide — Báo cáo giữa kì</dc:title>
  <dc:subject>PptxGenJS Presentation</dc:subject>
  <dc:creator>Nhóm Smart Museum Guide</dc:creator>
  <cp:lastModifiedBy>Nhóm Smart Museum Guide</cp:lastModifiedBy>
  <cp:revision>1</cp:revision>
  <dcterms:created xsi:type="dcterms:W3CDTF">2026-09-16T12:43:44Z</dcterms:created>
  <dcterms:modified xsi:type="dcterms:W3CDTF">2026-09-16T12:43:44Z</dcterms:modified>
</cp:coreProperties>
</file>