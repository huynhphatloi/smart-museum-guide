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82433619a5f40fd" /><Relationship Type="http://schemas.openxmlformats.org/officeDocument/2006/relationships/extended-properties" Target="/docProps/app.xml" Id="R0c6a9bed4ecb45cc" /><Relationship Type="http://schemas.openxmlformats.org/officeDocument/2006/relationships/officeDocument" Target="/ppt/presentation.xml" Id="R09c0d1555a7446be" /></Relationships>
</file>

<file path=ppt/presentation.xml><?xml version="1.0" encoding="utf-8"?>
<p:presentation xmlns:p="http://schemas.openxmlformats.org/presentationml/2006/main">
  <p:sldMasterIdLst>
    <p:sldMasterId xmlns:r="http://schemas.openxmlformats.org/officeDocument/2006/relationships" id="2147483648" r:id="R25e2315a20b940fb"/>
  </p:sldMasterIdLst>
  <p:notesMasterIdLst>
    <p:notesMasterId xmlns:r="http://schemas.openxmlformats.org/officeDocument/2006/relationships" r:id="R9fb6b555ae2d412b"/>
  </p:notesMasterIdLst>
  <p:sldIdLst>
    <p:sldId xmlns:r="http://schemas.openxmlformats.org/officeDocument/2006/relationships" id="256" r:id="R2718104f8e4644dd"/>
    <p:sldId xmlns:r="http://schemas.openxmlformats.org/officeDocument/2006/relationships" id="257" r:id="R7cfaba3c35434b84"/>
    <p:sldId xmlns:r="http://schemas.openxmlformats.org/officeDocument/2006/relationships" id="258" r:id="Ref268a5971c44e7c"/>
    <p:sldId xmlns:r="http://schemas.openxmlformats.org/officeDocument/2006/relationships" id="259" r:id="R0d49ac4330754415"/>
    <p:sldId xmlns:r="http://schemas.openxmlformats.org/officeDocument/2006/relationships" id="260" r:id="R9db6035fd8a84c70"/>
    <p:sldId xmlns:r="http://schemas.openxmlformats.org/officeDocument/2006/relationships" id="261" r:id="R0a60273d6a0641d9"/>
    <p:sldId xmlns:r="http://schemas.openxmlformats.org/officeDocument/2006/relationships" id="262" r:id="R0b526c2d9b924de8"/>
    <p:sldId xmlns:r="http://schemas.openxmlformats.org/officeDocument/2006/relationships" id="263" r:id="Rfc50037d5ad640a6"/>
    <p:sldId xmlns:r="http://schemas.openxmlformats.org/officeDocument/2006/relationships" id="264" r:id="R0a7bcf42cfbb49a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75d26e07f8c42db" /><Relationship Type="http://schemas.openxmlformats.org/officeDocument/2006/relationships/slideMaster" Target="/ppt/slideMasters/slideMaster1.xml" Id="R25e2315a20b940fb" /><Relationship Type="http://schemas.openxmlformats.org/officeDocument/2006/relationships/notesMaster" Target="/ppt/notesMasters/notesMaster1.xml" Id="R9fb6b555ae2d412b" /><Relationship Type="http://schemas.openxmlformats.org/officeDocument/2006/relationships/presProps" Target="/ppt/presProps.xml" Id="R67862a191c6e47c9" /><Relationship Type="http://schemas.openxmlformats.org/officeDocument/2006/relationships/tableStyles" Target="/ppt/tableStyles.xml" Id="R4c6396c25dfd417e" /><Relationship Type="http://schemas.openxmlformats.org/officeDocument/2006/relationships/slide" Target="/ppt/slides/slide1.xml" Id="R2718104f8e4644dd" /><Relationship Type="http://schemas.openxmlformats.org/officeDocument/2006/relationships/slide" Target="/ppt/slides/slide2.xml" Id="R7cfaba3c35434b84" /><Relationship Type="http://schemas.openxmlformats.org/officeDocument/2006/relationships/slide" Target="/ppt/slides/slide3.xml" Id="Ref268a5971c44e7c" /><Relationship Type="http://schemas.openxmlformats.org/officeDocument/2006/relationships/slide" Target="/ppt/slides/slide4.xml" Id="R0d49ac4330754415" /><Relationship Type="http://schemas.openxmlformats.org/officeDocument/2006/relationships/slide" Target="/ppt/slides/slide5.xml" Id="R9db6035fd8a84c70" /><Relationship Type="http://schemas.openxmlformats.org/officeDocument/2006/relationships/slide" Target="/ppt/slides/slide6.xml" Id="R0a60273d6a0641d9" /><Relationship Type="http://schemas.openxmlformats.org/officeDocument/2006/relationships/slide" Target="/ppt/slides/slide7.xml" Id="R0b526c2d9b924de8" /><Relationship Type="http://schemas.openxmlformats.org/officeDocument/2006/relationships/slide" Target="/ppt/slides/slide8.xml" Id="Rfc50037d5ad640a6" /><Relationship Type="http://schemas.openxmlformats.org/officeDocument/2006/relationships/slide" Target="/ppt/slides/slide9.xml" Id="R0a7bcf42cfbb49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51f063656945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26b0a4ceac47e6" /><Relationship Type="http://schemas.openxmlformats.org/officeDocument/2006/relationships/notesMaster" Target="/ppt/notesMasters/notesMaster1.xml" Id="R972fa948430e40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f3a0b9694b4b12" /><Relationship Type="http://schemas.openxmlformats.org/officeDocument/2006/relationships/notesMaster" Target="/ppt/notesMasters/notesMaster1.xml" Id="R7dc36ff2944745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fe6ba77a1d41ee" /><Relationship Type="http://schemas.openxmlformats.org/officeDocument/2006/relationships/notesMaster" Target="/ppt/notesMasters/notesMaster1.xml" Id="Rc7d1bd9269b84b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97bbae28784d3a" /><Relationship Type="http://schemas.openxmlformats.org/officeDocument/2006/relationships/notesMaster" Target="/ppt/notesMasters/notesMaster1.xml" Id="Rffcfac78ad1744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211dca227441e8" /><Relationship Type="http://schemas.openxmlformats.org/officeDocument/2006/relationships/notesMaster" Target="/ppt/notesMasters/notesMaster1.xml" Id="Rfff09017de9142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99d8d43e4b4158" /><Relationship Type="http://schemas.openxmlformats.org/officeDocument/2006/relationships/notesMaster" Target="/ppt/notesMasters/notesMaster1.xml" Id="R02e61bc5e95a4b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b6653884094340" /><Relationship Type="http://schemas.openxmlformats.org/officeDocument/2006/relationships/notesMaster" Target="/ppt/notesMasters/notesMaster1.xml" Id="Rfb0ad16355c042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c4c8c2fd344e3d" /><Relationship Type="http://schemas.openxmlformats.org/officeDocument/2006/relationships/notesMaster" Target="/ppt/notesMasters/notesMaster1.xml" Id="R28a96f8b742d4f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081d32d0044415e" /><Relationship Type="http://schemas.openxmlformats.org/officeDocument/2006/relationships/notesMaster" Target="/ppt/notesMasters/notesMaster1.xml" Id="Rb4b98344beba42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nêu ngắn gọn mục tiêu là người tham quan tiếp cận nội dung hiện vật theo khu vực. Điền tên nhóm và thành viên trên slide nếu cần. Nguồn: README.md trong repo.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README.md; backend/api/src/public-guide/public-guide.service.ts; backend/api/prisma/schema.prisma. Đây là mục tiêu thiết kế và luồng trong mã nguồn, không phải kết quả thử nghiệm tại bảo tàng.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README.md phần Repository structure và Quick start. Công nghệ: NestJS, Next.js, Prisma, PostgreSQL; React Native/Expo; React/Vite.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README.md sơ đồ luồng; PublicGuideService. Beacon và QR cùng đi qua zone rồi resolver lấy assignment hiện hành; chỉ hiện vật PUBLISHED được trả về.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visitor-mobile/src/features/tour/model/GuideContext.tsx; ExploreScreen.tsx; visitor-web/src/features/guide/ui/ZonePage.tsx và ExhibitView.tsx. Mobile BLE thực yêu cầu Expo development build trên điện thoại có BLE; Expo Go không chạy native module này.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backend/admin/src/app/(app)/zones/[id]/page.tsx; backend/admin/src/features/exhibits/ui/exhibit-editor.tsx; README.md. Trong mã nguồn hiện tại thao tác gán trực tiếp qua PUT /admin/zones/:id/current-exhibit. Seed cũng có lịch sử gán trước đó.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README.md Privacy model; schema.prisma; PublicGuideService. Sơ đồ biểu diễn ranh giới logic, không khẳng định triển khai hạ tầng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kịch bản trình diễn, chưa phải xác nhận demo chạy tại thời điểm tạo slide. Cần khởi động API, Admin, Visitor Web và seed PostgreSQL trước buổi báo cáo. README.md Quick start: API localhost:3001/api, Admin localhost:4000, Web localhost:4173. QR demo seed: http://localhost:4173/q/ZONE_A01. Mobile BLE cần development build và điện thoại có BLE; nếu chưa sẵn sàng, dùng QR làm demo chính.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README.md; seed.ts; các màn hình và API trong repo. Các mục “đã có” chỉ xác nhận hiện diện trong mã nguồn; chưa xác nhận chạy live trong lượt tạo slide. Ảnh seed là placeholder SVG và audio seed là tệp mẫu.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5214efab4f4b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e249364a2b449e" /><Relationship Type="http://schemas.openxmlformats.org/officeDocument/2006/relationships/slideLayout" Target="/ppt/slideLayouts/slideLayout1.xml" Id="R3a48c749d9ec48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48c749d9ec48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a82e4187a44730" /><Relationship Type="http://schemas.openxmlformats.org/officeDocument/2006/relationships/notesSlide" Target="/ppt/notesSlides/notesSlide1.xml" Id="R4c027fe9b9cd4e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c03ea443034752" /><Relationship Type="http://schemas.openxmlformats.org/officeDocument/2006/relationships/notesSlide" Target="/ppt/notesSlides/notesSlide2.xml" Id="R7f8a8804c10645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5c665f8bd0c40aa" /><Relationship Type="http://schemas.openxmlformats.org/officeDocument/2006/relationships/notesSlide" Target="/ppt/notesSlides/notesSlide3.xml" Id="Rce8e7ace955b4e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ccea39f58384cb1" /><Relationship Type="http://schemas.openxmlformats.org/officeDocument/2006/relationships/notesSlide" Target="/ppt/notesSlides/notesSlide4.xml" Id="R0bd51cd060ba4c6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26c0024513f4e2a" /><Relationship Type="http://schemas.openxmlformats.org/officeDocument/2006/relationships/notesSlide" Target="/ppt/notesSlides/notesSlide5.xml" Id="R6777ba347f1745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c4db97aadf54e6e" /><Relationship Type="http://schemas.openxmlformats.org/officeDocument/2006/relationships/notesSlide" Target="/ppt/notesSlides/notesSlide6.xml" Id="R46dfba3f0bcb48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adc8485b5974ec2" /><Relationship Type="http://schemas.openxmlformats.org/officeDocument/2006/relationships/notesSlide" Target="/ppt/notesSlides/notesSlide7.xml" Id="R627178535b0245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8542465e4fd4c3e" /><Relationship Type="http://schemas.openxmlformats.org/officeDocument/2006/relationships/notesSlide" Target="/ppt/notesSlides/notesSlide8.xml" Id="Rfd1b766c98fd42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7516eb1aeec4ecc" /><Relationship Type="http://schemas.openxmlformats.org/officeDocument/2006/relationships/notesSlide" Target="/ppt/notesSlides/notesSlide9.xml" Id="R04ac7369995948ce" /></Relationships>
</file>

<file path=ppt/slides/slide1.xml><?xml version="1.0" encoding="utf-8"?>
<p:sld xmlns:p="http://schemas.openxmlformats.org/presentationml/2006/main">
  <p:cSld>
    <p:bg>
      <p:bgPr>
        <a:solidFill xmlns:a="http://schemas.openxmlformats.org/drawingml/2006/main">
          <a:srgbClr val="15372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C7B73C2-690E-432D-8D13-8FD150445C1C}"/>
              </a:ext>
            </a:extLst>
          </p:cNvPr>
          <p:cNvSpPr>
            <a:spLocks xmlns:a="http://schemas.openxmlformats.org/drawingml/2006/main" noGrp="1"/>
          </p:cNvSpPr>
          <p:nvPr/>
        </p:nvSpPr>
        <p:spPr>
          <a:xfrm xmlns:a="http://schemas.openxmlformats.org/drawingml/2006/main">
            <a:off x="11391900" y="634365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D9E4D8"/>
                </a:solidFill>
                <a:latin typeface="Arial"/>
                <a:ea typeface="Arial"/>
                <a:cs typeface="Arial"/>
              </a:defRPr>
            </a:pPr>
            <a:r>
              <a:rPr sz="975" b="1">
                <a:solidFill>
                  <a:srgbClr val="D9E4D8"/>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DF7F5A88-49C8-4931-91B0-DC8609164018}"/>
              </a:ext>
            </a:extLst>
          </p:cNvPr>
          <p:cNvSpPr>
            <a:spLocks xmlns:a="http://schemas.openxmlformats.org/drawingml/2006/main" noGrp="1"/>
          </p:cNvSpPr>
          <p:nvPr/>
        </p:nvSpPr>
        <p:spPr>
          <a:xfrm xmlns:a="http://schemas.openxmlformats.org/drawingml/2006/main">
            <a:off x="685800" y="1095375"/>
            <a:ext cx="8572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400" b="1">
                <a:solidFill>
                  <a:srgbClr val="FFFFFF"/>
                </a:solidFill>
                <a:latin typeface="Arial"/>
                <a:ea typeface="Arial"/>
                <a:cs typeface="Arial"/>
              </a:defRPr>
            </a:pPr>
            <a:r>
              <a:rPr sz="5400" b="1">
                <a:solidFill>
                  <a:srgbClr val="FFFFFF"/>
                </a:solidFill>
                <a:latin typeface="Arial"/>
                <a:ea typeface="Arial"/>
                <a:cs typeface="Arial"/>
              </a:rPr>
              <a:t>SMART MUSEUM</a:t>
            </a:r>
          </a:p>
          <a:p xmlns:a="http://schemas.openxmlformats.org/drawingml/2006/main">
            <a:pPr algn="l">
              <a:defRPr sz="5400" b="1">
                <a:solidFill>
                  <a:srgbClr val="FFFFFF"/>
                </a:solidFill>
                <a:latin typeface="Arial"/>
                <a:ea typeface="Arial"/>
                <a:cs typeface="Arial"/>
              </a:defRPr>
            </a:pPr>
            <a:r>
              <a:rPr sz="5400" b="1">
                <a:solidFill>
                  <a:srgbClr val="FFFFFF"/>
                </a:solidFill>
                <a:latin typeface="Arial"/>
                <a:ea typeface="Arial"/>
                <a:cs typeface="Arial"/>
              </a:rPr>
              <a:t>GUIDE</a:t>
            </a:r>
          </a:p>
        </p:txBody>
      </p:sp>
      <p:sp>
        <p:nvSpPr>
          <p:cNvPr id="3" name="">
            <a:extLst xmlns:a="http://schemas.openxmlformats.org/drawingml/2006/main">
              <a:ext uri="{FF2B5EF4-FFF2-40B4-BE49-F238E27FC236}">
                <a16:creationId xmlns:a16="http://schemas.microsoft.com/office/drawing/2014/main" id="{AF19CBAC-80B2-49F5-B27B-5A70AABE25EF}"/>
              </a:ext>
            </a:extLst>
          </p:cNvPr>
          <p:cNvSpPr>
            <a:spLocks xmlns:a="http://schemas.openxmlformats.org/drawingml/2006/main" noGrp="1"/>
          </p:cNvSpPr>
          <p:nvPr/>
        </p:nvSpPr>
        <p:spPr>
          <a:xfrm xmlns:a="http://schemas.openxmlformats.org/drawingml/2006/main">
            <a:off x="695325" y="3219450"/>
            <a:ext cx="1238250" cy="47625"/>
          </a:xfrm>
          <a:prstGeom xmlns:a="http://schemas.openxmlformats.org/drawingml/2006/main" prst="rect">
            <a:avLst/>
          </a:prstGeom>
          <a:solidFill xmlns:a="http://schemas.openxmlformats.org/drawingml/2006/main">
            <a:srgbClr val="B9915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C7A1104-5AE1-4701-A915-696338B85F6B}"/>
              </a:ext>
            </a:extLst>
          </p:cNvPr>
          <p:cNvSpPr>
            <a:spLocks xmlns:a="http://schemas.openxmlformats.org/drawingml/2006/main" noGrp="1"/>
          </p:cNvSpPr>
          <p:nvPr/>
        </p:nvSpPr>
        <p:spPr>
          <a:xfrm xmlns:a="http://schemas.openxmlformats.org/drawingml/2006/main">
            <a:off x="685800" y="3562350"/>
            <a:ext cx="809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0">
                <a:solidFill>
                  <a:srgbClr val="F7F3E9"/>
                </a:solidFill>
                <a:latin typeface="Arial"/>
                <a:ea typeface="Arial"/>
                <a:cs typeface="Arial"/>
              </a:defRPr>
            </a:pPr>
            <a:r>
              <a:rPr sz="2550" b="0">
                <a:solidFill>
                  <a:srgbClr val="F7F3E9"/>
                </a:solidFill>
                <a:latin typeface="Arial"/>
                <a:ea typeface="Arial"/>
                <a:cs typeface="Arial"/>
              </a:rPr>
              <a:t>Báo cáo sơ bộ giữa kì</a:t>
            </a:r>
          </a:p>
        </p:txBody>
      </p:sp>
      <p:sp>
        <p:nvSpPr>
          <p:cNvPr id="5" name="">
            <a:extLst xmlns:a="http://schemas.openxmlformats.org/drawingml/2006/main">
              <a:ext uri="{FF2B5EF4-FFF2-40B4-BE49-F238E27FC236}">
                <a16:creationId xmlns:a16="http://schemas.microsoft.com/office/drawing/2014/main" id="{0E5EAAAE-BD57-44F9-A82E-827AFF3191B9}"/>
              </a:ext>
            </a:extLst>
          </p:cNvPr>
          <p:cNvSpPr>
            <a:spLocks xmlns:a="http://schemas.openxmlformats.org/drawingml/2006/main" noGrp="1"/>
          </p:cNvSpPr>
          <p:nvPr/>
        </p:nvSpPr>
        <p:spPr>
          <a:xfrm xmlns:a="http://schemas.openxmlformats.org/drawingml/2006/main">
            <a:off x="685800" y="4410075"/>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D9E4D8"/>
                </a:solidFill>
                <a:latin typeface="Arial"/>
                <a:ea typeface="Arial"/>
                <a:cs typeface="Arial"/>
              </a:defRPr>
            </a:pPr>
            <a:r>
              <a:rPr sz="1875" b="0">
                <a:solidFill>
                  <a:srgbClr val="D9E4D8"/>
                </a:solidFill>
                <a:latin typeface="Arial"/>
                <a:ea typeface="Arial"/>
                <a:cs typeface="Arial"/>
              </a:rPr>
              <a:t>Workflow sản phẩm  •  Kịch bản demo</a:t>
            </a:r>
          </a:p>
        </p:txBody>
      </p:sp>
      <p:sp>
        <p:nvSpPr>
          <p:cNvPr id="6" name="">
            <a:extLst xmlns:a="http://schemas.openxmlformats.org/drawingml/2006/main">
              <a:ext uri="{FF2B5EF4-FFF2-40B4-BE49-F238E27FC236}">
                <a16:creationId xmlns:a16="http://schemas.microsoft.com/office/drawing/2014/main" id="{7CF13779-9946-40C5-AAC5-A790B16A10AE}"/>
              </a:ext>
            </a:extLst>
          </p:cNvPr>
          <p:cNvSpPr>
            <a:spLocks xmlns:a="http://schemas.openxmlformats.org/drawingml/2006/main" noGrp="1"/>
          </p:cNvSpPr>
          <p:nvPr/>
        </p:nvSpPr>
        <p:spPr>
          <a:xfrm xmlns:a="http://schemas.openxmlformats.org/drawingml/2006/main">
            <a:off x="685800" y="5562600"/>
            <a:ext cx="933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D9E4D8"/>
                </a:solidFill>
                <a:latin typeface="Arial"/>
                <a:ea typeface="Arial"/>
                <a:cs typeface="Arial"/>
              </a:defRPr>
            </a:pPr>
            <a:r>
              <a:rPr sz="1425" b="0">
                <a:solidFill>
                  <a:srgbClr val="D9E4D8"/>
                </a:solidFill>
                <a:latin typeface="Arial"/>
                <a:ea typeface="Arial"/>
                <a:cs typeface="Arial"/>
              </a:rPr>
              <a:t>Ứng dụng hướng dẫn tham quan bảo tàng đa ngôn ngữ</a:t>
            </a:r>
          </a:p>
        </p:txBody>
      </p:sp>
    </p:spTree>
    <p:extLst>
      <p:ext uri="{BB962C8B-B14F-4D97-AF65-F5344CB8AC3E}">
        <p14:creationId xmlns:p14="http://schemas.microsoft.com/office/powerpoint/2010/main" val="79733821"/>
      </p:ext>
    </p:extLst>
  </p:cSld>
</p:sld>
</file>

<file path=ppt/slides/slide2.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A83FB3-E228-4EFD-919C-E2AD2CE40987}"/>
              </a:ext>
            </a:extLst>
          </p:cNvPr>
          <p:cNvSpPr>
            <a:spLocks xmlns:a="http://schemas.openxmlformats.org/drawingml/2006/main" noGrp="1"/>
          </p:cNvSpPr>
          <p:nvPr/>
        </p:nvSpPr>
        <p:spPr>
          <a:xfrm xmlns:a="http://schemas.openxmlformats.org/drawingml/2006/main">
            <a:off x="685800" y="476250"/>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15372F"/>
                </a:solidFill>
                <a:latin typeface="Arial"/>
                <a:ea typeface="Arial"/>
                <a:cs typeface="Arial"/>
              </a:defRPr>
            </a:pPr>
            <a:r>
              <a:rPr sz="2850" b="1">
                <a:solidFill>
                  <a:srgbClr val="15372F"/>
                </a:solidFill>
                <a:latin typeface="Arial"/>
                <a:ea typeface="Arial"/>
                <a:cs typeface="Arial"/>
              </a:rPr>
              <a:t>Bài toán và hướng giải quyết</a:t>
            </a:r>
          </a:p>
        </p:txBody>
      </p:sp>
      <p:sp>
        <p:nvSpPr>
          <p:cNvPr id="2" name="">
            <a:extLst xmlns:a="http://schemas.openxmlformats.org/drawingml/2006/main">
              <a:ext uri="{FF2B5EF4-FFF2-40B4-BE49-F238E27FC236}">
                <a16:creationId xmlns:a16="http://schemas.microsoft.com/office/drawing/2014/main" id="{2CFD2FC3-1D44-4E8A-8305-1A1FB55A392A}"/>
              </a:ext>
            </a:extLst>
          </p:cNvPr>
          <p:cNvSpPr>
            <a:spLocks xmlns:a="http://schemas.openxmlformats.org/drawingml/2006/main" noGrp="1"/>
          </p:cNvSpPr>
          <p:nvPr/>
        </p:nvSpPr>
        <p:spPr>
          <a:xfrm xmlns:a="http://schemas.openxmlformats.org/drawingml/2006/main">
            <a:off x="685800" y="1247775"/>
            <a:ext cx="781050" cy="38100"/>
          </a:xfrm>
          <a:prstGeom xmlns:a="http://schemas.openxmlformats.org/drawingml/2006/main" prst="rect">
            <a:avLst/>
          </a:prstGeom>
          <a:solidFill xmlns:a="http://schemas.openxmlformats.org/drawingml/2006/main">
            <a:srgbClr val="B9915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43B3A3B-DB05-4E95-9284-D2E01111092B}"/>
              </a:ext>
            </a:extLst>
          </p:cNvPr>
          <p:cNvSpPr>
            <a:spLocks xmlns:a="http://schemas.openxmlformats.org/drawingml/2006/main" noGrp="1"/>
          </p:cNvSpPr>
          <p:nvPr/>
        </p:nvSpPr>
        <p:spPr>
          <a:xfrm xmlns:a="http://schemas.openxmlformats.org/drawingml/2006/main">
            <a:off x="11391900" y="634365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587068"/>
                </a:solidFill>
                <a:latin typeface="Arial"/>
                <a:ea typeface="Arial"/>
                <a:cs typeface="Arial"/>
              </a:defRPr>
            </a:pPr>
            <a:r>
              <a:rPr sz="975" b="1">
                <a:solidFill>
                  <a:srgbClr val="587068"/>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A27DD9FA-92CB-4E82-A8A6-32A718F80308}"/>
              </a:ext>
            </a:extLst>
          </p:cNvPr>
          <p:cNvSpPr>
            <a:spLocks xmlns:a="http://schemas.openxmlformats.org/drawingml/2006/main" noGrp="1"/>
          </p:cNvSpPr>
          <p:nvPr/>
        </p:nvSpPr>
        <p:spPr>
          <a:xfrm xmlns:a="http://schemas.openxmlformats.org/drawingml/2006/main">
            <a:off x="685800" y="1666875"/>
            <a:ext cx="5000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15372F"/>
                </a:solidFill>
                <a:latin typeface="Arial"/>
                <a:ea typeface="Arial"/>
                <a:cs typeface="Arial"/>
              </a:defRPr>
            </a:pPr>
            <a:r>
              <a:rPr sz="2325" b="1">
                <a:solidFill>
                  <a:srgbClr val="15372F"/>
                </a:solidFill>
                <a:latin typeface="Arial"/>
                <a:ea typeface="Arial"/>
                <a:cs typeface="Arial"/>
              </a:rPr>
              <a:t>Khách đứng trước một khu trưng bày</a:t>
            </a:r>
          </a:p>
        </p:txBody>
      </p:sp>
      <p:sp>
        <p:nvSpPr>
          <p:cNvPr id="5" name="">
            <a:extLst xmlns:a="http://schemas.openxmlformats.org/drawingml/2006/main">
              <a:ext uri="{FF2B5EF4-FFF2-40B4-BE49-F238E27FC236}">
                <a16:creationId xmlns:a16="http://schemas.microsoft.com/office/drawing/2014/main" id="{FDA41A49-4AE3-4E96-B3FD-6A8CCE6CE797}"/>
              </a:ext>
            </a:extLst>
          </p:cNvPr>
          <p:cNvSpPr>
            <a:spLocks xmlns:a="http://schemas.openxmlformats.org/drawingml/2006/main" noGrp="1"/>
          </p:cNvSpPr>
          <p:nvPr/>
        </p:nvSpPr>
        <p:spPr>
          <a:xfrm xmlns:a="http://schemas.openxmlformats.org/drawingml/2006/main">
            <a:off x="685800" y="2305050"/>
            <a:ext cx="4905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87068"/>
                </a:solidFill>
                <a:latin typeface="Arial"/>
                <a:ea typeface="Arial"/>
                <a:cs typeface="Arial"/>
              </a:defRPr>
            </a:pPr>
            <a:r>
              <a:rPr sz="1875" b="0">
                <a:solidFill>
                  <a:srgbClr val="587068"/>
                </a:solidFill>
                <a:latin typeface="Arial"/>
                <a:ea typeface="Arial"/>
                <a:cs typeface="Arial"/>
              </a:rPr>
              <a:t>Cần mở đúng nội dung của hiện vật đang được trưng bày tại khu vực đó.</a:t>
            </a:r>
          </a:p>
        </p:txBody>
      </p:sp>
      <p:sp>
        <p:nvSpPr>
          <p:cNvPr id="6" name="">
            <a:extLst xmlns:a="http://schemas.openxmlformats.org/drawingml/2006/main">
              <a:ext uri="{FF2B5EF4-FFF2-40B4-BE49-F238E27FC236}">
                <a16:creationId xmlns:a16="http://schemas.microsoft.com/office/drawing/2014/main" id="{7E3E6F33-210E-4C97-BBD8-CF91AB9538F8}"/>
              </a:ext>
            </a:extLst>
          </p:cNvPr>
          <p:cNvSpPr>
            <a:spLocks xmlns:a="http://schemas.openxmlformats.org/drawingml/2006/main" noGrp="1"/>
          </p:cNvSpPr>
          <p:nvPr/>
        </p:nvSpPr>
        <p:spPr>
          <a:xfrm xmlns:a="http://schemas.openxmlformats.org/drawingml/2006/main">
            <a:off x="6029325" y="1752600"/>
            <a:ext cx="38100" cy="3257550"/>
          </a:xfrm>
          <a:prstGeom xmlns:a="http://schemas.openxmlformats.org/drawingml/2006/main" prst="rect">
            <a:avLst/>
          </a:prstGeom>
          <a:solidFill xmlns:a="http://schemas.openxmlformats.org/drawingml/2006/main">
            <a:srgbClr val="B9915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7332F94-96D9-40CE-99E5-C74926B31C4C}"/>
              </a:ext>
            </a:extLst>
          </p:cNvPr>
          <p:cNvSpPr>
            <a:spLocks xmlns:a="http://schemas.openxmlformats.org/drawingml/2006/main" noGrp="1"/>
          </p:cNvSpPr>
          <p:nvPr/>
        </p:nvSpPr>
        <p:spPr>
          <a:xfrm xmlns:a="http://schemas.openxmlformats.org/drawingml/2006/main">
            <a:off x="6534150" y="1647825"/>
            <a:ext cx="4333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B99155"/>
                </a:solidFill>
                <a:latin typeface="Arial"/>
                <a:ea typeface="Arial"/>
                <a:cs typeface="Arial"/>
              </a:defRPr>
            </a:pPr>
            <a:r>
              <a:rPr sz="1650" b="1">
                <a:solidFill>
                  <a:srgbClr val="B99155"/>
                </a:solidFill>
                <a:latin typeface="Arial"/>
                <a:ea typeface="Arial"/>
                <a:cs typeface="Arial"/>
              </a:rPr>
              <a:t>Ý tưởng chính</a:t>
            </a:r>
          </a:p>
        </p:txBody>
      </p:sp>
      <p:sp>
        <p:nvSpPr>
          <p:cNvPr id="8" name="">
            <a:extLst xmlns:a="http://schemas.openxmlformats.org/drawingml/2006/main">
              <a:ext uri="{FF2B5EF4-FFF2-40B4-BE49-F238E27FC236}">
                <a16:creationId xmlns:a16="http://schemas.microsoft.com/office/drawing/2014/main" id="{3CE66406-13F3-41E9-B29A-1821F32897EC}"/>
              </a:ext>
            </a:extLst>
          </p:cNvPr>
          <p:cNvSpPr>
            <a:spLocks xmlns:a="http://schemas.openxmlformats.org/drawingml/2006/main" noGrp="1"/>
          </p:cNvSpPr>
          <p:nvPr/>
        </p:nvSpPr>
        <p:spPr>
          <a:xfrm xmlns:a="http://schemas.openxmlformats.org/drawingml/2006/main">
            <a:off x="6534150" y="2276475"/>
            <a:ext cx="4857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5372F"/>
                </a:solidFill>
                <a:latin typeface="Arial"/>
                <a:ea typeface="Arial"/>
                <a:cs typeface="Arial"/>
              </a:defRPr>
            </a:pPr>
            <a:r>
              <a:rPr sz="2175" b="1">
                <a:solidFill>
                  <a:srgbClr val="15372F"/>
                </a:solidFill>
                <a:latin typeface="Arial"/>
                <a:ea typeface="Arial"/>
                <a:cs typeface="Arial"/>
              </a:rPr>
              <a:t>Mỗi beacon và mã QR gắn với một zone cố định.</a:t>
            </a:r>
          </a:p>
        </p:txBody>
      </p:sp>
      <p:sp>
        <p:nvSpPr>
          <p:cNvPr id="9" name="">
            <a:extLst xmlns:a="http://schemas.openxmlformats.org/drawingml/2006/main">
              <a:ext uri="{FF2B5EF4-FFF2-40B4-BE49-F238E27FC236}">
                <a16:creationId xmlns:a16="http://schemas.microsoft.com/office/drawing/2014/main" id="{78DA2684-BC51-4A4F-BEFA-5BAAA113CF51}"/>
              </a:ext>
            </a:extLst>
          </p:cNvPr>
          <p:cNvSpPr>
            <a:spLocks xmlns:a="http://schemas.openxmlformats.org/drawingml/2006/main" noGrp="1"/>
          </p:cNvSpPr>
          <p:nvPr/>
        </p:nvSpPr>
        <p:spPr>
          <a:xfrm xmlns:a="http://schemas.openxmlformats.org/drawingml/2006/main">
            <a:off x="6534150" y="3562350"/>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7068"/>
                </a:solidFill>
                <a:latin typeface="Arial"/>
                <a:ea typeface="Arial"/>
                <a:cs typeface="Arial"/>
              </a:defRPr>
            </a:pPr>
            <a:r>
              <a:rPr sz="1800" b="0">
                <a:solidFill>
                  <a:srgbClr val="587068"/>
                </a:solidFill>
                <a:latin typeface="Arial"/>
                <a:ea typeface="Arial"/>
                <a:cs typeface="Arial"/>
              </a:rPr>
              <a:t>Admin thay hiện vật đang hiển thị trong zone; khách vẫn dùng beacon hoặc QR cũ.</a:t>
            </a:r>
          </a:p>
        </p:txBody>
      </p:sp>
      <p:sp>
        <p:nvSpPr>
          <p:cNvPr id="10" name="">
            <a:extLst xmlns:a="http://schemas.openxmlformats.org/drawingml/2006/main">
              <a:ext uri="{FF2B5EF4-FFF2-40B4-BE49-F238E27FC236}">
                <a16:creationId xmlns:a16="http://schemas.microsoft.com/office/drawing/2014/main" id="{9EF1DF3E-E441-4B08-A254-CCFA050822B1}"/>
              </a:ext>
            </a:extLst>
          </p:cNvPr>
          <p:cNvSpPr>
            <a:spLocks xmlns:a="http://schemas.openxmlformats.org/drawingml/2006/main" noGrp="1"/>
          </p:cNvSpPr>
          <p:nvPr/>
        </p:nvSpPr>
        <p:spPr>
          <a:xfrm xmlns:a="http://schemas.openxmlformats.org/drawingml/2006/main">
            <a:off x="6534150" y="493395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87068"/>
                </a:solidFill>
                <a:latin typeface="Arial"/>
                <a:ea typeface="Arial"/>
                <a:cs typeface="Arial"/>
              </a:defRPr>
            </a:pPr>
            <a:r>
              <a:rPr sz="1500" b="0">
                <a:solidFill>
                  <a:srgbClr val="587068"/>
                </a:solidFill>
                <a:latin typeface="Arial"/>
                <a:ea typeface="Arial"/>
                <a:cs typeface="Arial"/>
              </a:rPr>
              <a:t>Nội dung trả về gồm bản dịch và audio khi có dữ liệu.</a:t>
            </a:r>
          </a:p>
        </p:txBody>
      </p:sp>
    </p:spTree>
    <p:extLst>
      <p:ext uri="{BB962C8B-B14F-4D97-AF65-F5344CB8AC3E}">
        <p14:creationId xmlns:p14="http://schemas.microsoft.com/office/powerpoint/2010/main" val="2027918193"/>
      </p:ext>
    </p:extLst>
  </p:cSld>
</p:sld>
</file>

<file path=ppt/slides/slide3.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2CED0CA-8AA3-4490-926E-8C4087116F40}"/>
              </a:ext>
            </a:extLst>
          </p:cNvPr>
          <p:cNvSpPr>
            <a:spLocks xmlns:a="http://schemas.openxmlformats.org/drawingml/2006/main" noGrp="1"/>
          </p:cNvSpPr>
          <p:nvPr/>
        </p:nvSpPr>
        <p:spPr>
          <a:xfrm xmlns:a="http://schemas.openxmlformats.org/drawingml/2006/main">
            <a:off x="685800" y="476250"/>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15372F"/>
                </a:solidFill>
                <a:latin typeface="Arial"/>
                <a:ea typeface="Arial"/>
                <a:cs typeface="Arial"/>
              </a:defRPr>
            </a:pPr>
            <a:r>
              <a:rPr sz="2850" b="1">
                <a:solidFill>
                  <a:srgbClr val="15372F"/>
                </a:solidFill>
                <a:latin typeface="Arial"/>
                <a:ea typeface="Arial"/>
                <a:cs typeface="Arial"/>
              </a:rPr>
              <a:t>Ba phần của hệ thống</a:t>
            </a:r>
          </a:p>
        </p:txBody>
      </p:sp>
      <p:sp>
        <p:nvSpPr>
          <p:cNvPr id="2" name="">
            <a:extLst xmlns:a="http://schemas.openxmlformats.org/drawingml/2006/main">
              <a:ext uri="{FF2B5EF4-FFF2-40B4-BE49-F238E27FC236}">
                <a16:creationId xmlns:a16="http://schemas.microsoft.com/office/drawing/2014/main" id="{40A35CA7-1B1E-48A7-859A-B09F08AF3F19}"/>
              </a:ext>
            </a:extLst>
          </p:cNvPr>
          <p:cNvSpPr>
            <a:spLocks xmlns:a="http://schemas.openxmlformats.org/drawingml/2006/main" noGrp="1"/>
          </p:cNvSpPr>
          <p:nvPr/>
        </p:nvSpPr>
        <p:spPr>
          <a:xfrm xmlns:a="http://schemas.openxmlformats.org/drawingml/2006/main">
            <a:off x="685800" y="1247775"/>
            <a:ext cx="781050" cy="38100"/>
          </a:xfrm>
          <a:prstGeom xmlns:a="http://schemas.openxmlformats.org/drawingml/2006/main" prst="rect">
            <a:avLst/>
          </a:prstGeom>
          <a:solidFill xmlns:a="http://schemas.openxmlformats.org/drawingml/2006/main">
            <a:srgbClr val="B9915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01F26CD-C48D-4A00-B8D9-D94A9B2D282E}"/>
              </a:ext>
            </a:extLst>
          </p:cNvPr>
          <p:cNvSpPr>
            <a:spLocks xmlns:a="http://schemas.openxmlformats.org/drawingml/2006/main" noGrp="1"/>
          </p:cNvSpPr>
          <p:nvPr/>
        </p:nvSpPr>
        <p:spPr>
          <a:xfrm xmlns:a="http://schemas.openxmlformats.org/drawingml/2006/main">
            <a:off x="11391900" y="634365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587068"/>
                </a:solidFill>
                <a:latin typeface="Arial"/>
                <a:ea typeface="Arial"/>
                <a:cs typeface="Arial"/>
              </a:defRPr>
            </a:pPr>
            <a:r>
              <a:rPr sz="975" b="1">
                <a:solidFill>
                  <a:srgbClr val="587068"/>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1DF8DFFC-783D-4036-916D-DE712800D0EB}"/>
              </a:ext>
            </a:extLst>
          </p:cNvPr>
          <p:cNvSpPr>
            <a:spLocks xmlns:a="http://schemas.openxmlformats.org/drawingml/2006/main" noGrp="1"/>
          </p:cNvSpPr>
          <p:nvPr/>
        </p:nvSpPr>
        <p:spPr>
          <a:xfrm xmlns:a="http://schemas.openxmlformats.org/drawingml/2006/main">
            <a:off x="685800" y="168592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B99155"/>
                </a:solidFill>
                <a:latin typeface="Arial"/>
                <a:ea typeface="Arial"/>
                <a:cs typeface="Arial"/>
              </a:defRPr>
            </a:pPr>
            <a:r>
              <a:rPr sz="2550" b="1">
                <a:solidFill>
                  <a:srgbClr val="B99155"/>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BC6F867-BB62-4582-A017-74999DD1C38F}"/>
              </a:ext>
            </a:extLst>
          </p:cNvPr>
          <p:cNvSpPr>
            <a:spLocks xmlns:a="http://schemas.openxmlformats.org/drawingml/2006/main" noGrp="1"/>
          </p:cNvSpPr>
          <p:nvPr/>
        </p:nvSpPr>
        <p:spPr>
          <a:xfrm xmlns:a="http://schemas.openxmlformats.org/drawingml/2006/main">
            <a:off x="685800" y="2295525"/>
            <a:ext cx="3000375" cy="19050"/>
          </a:xfrm>
          <a:prstGeom xmlns:a="http://schemas.openxmlformats.org/drawingml/2006/main" prst="rect">
            <a:avLst/>
          </a:prstGeom>
          <a:solidFill xmlns:a="http://schemas.openxmlformats.org/drawingml/2006/main">
            <a:srgbClr val="C9D4C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47758E0-0382-43DD-9C93-1DBDA9AFDF02}"/>
              </a:ext>
            </a:extLst>
          </p:cNvPr>
          <p:cNvSpPr>
            <a:spLocks xmlns:a="http://schemas.openxmlformats.org/drawingml/2006/main" noGrp="1"/>
          </p:cNvSpPr>
          <p:nvPr/>
        </p:nvSpPr>
        <p:spPr>
          <a:xfrm xmlns:a="http://schemas.openxmlformats.org/drawingml/2006/main">
            <a:off x="685800" y="2571750"/>
            <a:ext cx="304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5372F"/>
                </a:solidFill>
                <a:latin typeface="Arial"/>
                <a:ea typeface="Arial"/>
                <a:cs typeface="Arial"/>
              </a:defRPr>
            </a:pPr>
            <a:r>
              <a:rPr sz="2250" b="1">
                <a:solidFill>
                  <a:srgbClr val="15372F"/>
                </a:solidFill>
                <a:latin typeface="Arial"/>
                <a:ea typeface="Arial"/>
                <a:cs typeface="Arial"/>
              </a:rPr>
              <a:t>Visitor Mobile</a:t>
            </a:r>
          </a:p>
        </p:txBody>
      </p:sp>
      <p:sp>
        <p:nvSpPr>
          <p:cNvPr id="7" name="">
            <a:extLst xmlns:a="http://schemas.openxmlformats.org/drawingml/2006/main">
              <a:ext uri="{FF2B5EF4-FFF2-40B4-BE49-F238E27FC236}">
                <a16:creationId xmlns:a16="http://schemas.microsoft.com/office/drawing/2014/main" id="{928FB501-953B-4DE0-80CD-186A1F169B5B}"/>
              </a:ext>
            </a:extLst>
          </p:cNvPr>
          <p:cNvSpPr>
            <a:spLocks xmlns:a="http://schemas.openxmlformats.org/drawingml/2006/main" noGrp="1"/>
          </p:cNvSpPr>
          <p:nvPr/>
        </p:nvSpPr>
        <p:spPr>
          <a:xfrm xmlns:a="http://schemas.openxmlformats.org/drawingml/2006/main">
            <a:off x="685800" y="3400425"/>
            <a:ext cx="30670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87068"/>
                </a:solidFill>
                <a:latin typeface="Arial"/>
                <a:ea typeface="Arial"/>
                <a:cs typeface="Arial"/>
              </a:defRPr>
            </a:pPr>
            <a:r>
              <a:rPr sz="1575" b="0">
                <a:solidFill>
                  <a:srgbClr val="587068"/>
                </a:solidFill>
                <a:latin typeface="Arial"/>
                <a:ea typeface="Arial"/>
                <a:cs typeface="Arial"/>
              </a:rPr>
              <a:t>Ứng dụng Expo trên điện thoại. Tự nhận diện zone qua BLE; có quét QR dự phòng.</a:t>
            </a:r>
          </a:p>
        </p:txBody>
      </p:sp>
      <p:sp>
        <p:nvSpPr>
          <p:cNvPr id="8" name="">
            <a:extLst xmlns:a="http://schemas.openxmlformats.org/drawingml/2006/main">
              <a:ext uri="{FF2B5EF4-FFF2-40B4-BE49-F238E27FC236}">
                <a16:creationId xmlns:a16="http://schemas.microsoft.com/office/drawing/2014/main" id="{878C7D29-02E7-4DE1-AC7C-661B4D335447}"/>
              </a:ext>
            </a:extLst>
          </p:cNvPr>
          <p:cNvSpPr>
            <a:spLocks xmlns:a="http://schemas.openxmlformats.org/drawingml/2006/main" noGrp="1"/>
          </p:cNvSpPr>
          <p:nvPr/>
        </p:nvSpPr>
        <p:spPr>
          <a:xfrm xmlns:a="http://schemas.openxmlformats.org/drawingml/2006/main">
            <a:off x="4552950" y="168592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B99155"/>
                </a:solidFill>
                <a:latin typeface="Arial"/>
                <a:ea typeface="Arial"/>
                <a:cs typeface="Arial"/>
              </a:defRPr>
            </a:pPr>
            <a:r>
              <a:rPr sz="2550" b="1">
                <a:solidFill>
                  <a:srgbClr val="B99155"/>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6D461022-5D7C-42E7-A7A1-63B3AF4FC19F}"/>
              </a:ext>
            </a:extLst>
          </p:cNvPr>
          <p:cNvSpPr>
            <a:spLocks xmlns:a="http://schemas.openxmlformats.org/drawingml/2006/main" noGrp="1"/>
          </p:cNvSpPr>
          <p:nvPr/>
        </p:nvSpPr>
        <p:spPr>
          <a:xfrm xmlns:a="http://schemas.openxmlformats.org/drawingml/2006/main">
            <a:off x="4552950" y="2295525"/>
            <a:ext cx="3000375" cy="19050"/>
          </a:xfrm>
          <a:prstGeom xmlns:a="http://schemas.openxmlformats.org/drawingml/2006/main" prst="rect">
            <a:avLst/>
          </a:prstGeom>
          <a:solidFill xmlns:a="http://schemas.openxmlformats.org/drawingml/2006/main">
            <a:srgbClr val="C9D4C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D378B84-6180-4C1F-AFC1-601EDA1E34EA}"/>
              </a:ext>
            </a:extLst>
          </p:cNvPr>
          <p:cNvSpPr>
            <a:spLocks xmlns:a="http://schemas.openxmlformats.org/drawingml/2006/main" noGrp="1"/>
          </p:cNvSpPr>
          <p:nvPr/>
        </p:nvSpPr>
        <p:spPr>
          <a:xfrm xmlns:a="http://schemas.openxmlformats.org/drawingml/2006/main">
            <a:off x="4552950" y="2571750"/>
            <a:ext cx="304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5372F"/>
                </a:solidFill>
                <a:latin typeface="Arial"/>
                <a:ea typeface="Arial"/>
                <a:cs typeface="Arial"/>
              </a:defRPr>
            </a:pPr>
            <a:r>
              <a:rPr sz="2250" b="1">
                <a:solidFill>
                  <a:srgbClr val="15372F"/>
                </a:solidFill>
                <a:latin typeface="Arial"/>
                <a:ea typeface="Arial"/>
                <a:cs typeface="Arial"/>
              </a:rPr>
              <a:t>Visitor Web</a:t>
            </a:r>
          </a:p>
        </p:txBody>
      </p:sp>
      <p:sp>
        <p:nvSpPr>
          <p:cNvPr id="11" name="">
            <a:extLst xmlns:a="http://schemas.openxmlformats.org/drawingml/2006/main">
              <a:ext uri="{FF2B5EF4-FFF2-40B4-BE49-F238E27FC236}">
                <a16:creationId xmlns:a16="http://schemas.microsoft.com/office/drawing/2014/main" id="{104C4EA8-D102-4520-8B5C-DAE27D838C8B}"/>
              </a:ext>
            </a:extLst>
          </p:cNvPr>
          <p:cNvSpPr>
            <a:spLocks xmlns:a="http://schemas.openxmlformats.org/drawingml/2006/main" noGrp="1"/>
          </p:cNvSpPr>
          <p:nvPr/>
        </p:nvSpPr>
        <p:spPr>
          <a:xfrm xmlns:a="http://schemas.openxmlformats.org/drawingml/2006/main">
            <a:off x="4552950" y="3400425"/>
            <a:ext cx="30670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87068"/>
                </a:solidFill>
                <a:latin typeface="Arial"/>
                <a:ea typeface="Arial"/>
                <a:cs typeface="Arial"/>
              </a:defRPr>
            </a:pPr>
            <a:r>
              <a:rPr sz="1575" b="0">
                <a:solidFill>
                  <a:srgbClr val="587068"/>
                </a:solidFill>
                <a:latin typeface="Arial"/>
                <a:ea typeface="Arial"/>
                <a:cs typeface="Arial"/>
              </a:rPr>
              <a:t>Trang web mở bằng mã QR. Khách xem nội dung mà không cần cài ứng dụng.</a:t>
            </a:r>
          </a:p>
        </p:txBody>
      </p:sp>
      <p:sp>
        <p:nvSpPr>
          <p:cNvPr id="12" name="">
            <a:extLst xmlns:a="http://schemas.openxmlformats.org/drawingml/2006/main">
              <a:ext uri="{FF2B5EF4-FFF2-40B4-BE49-F238E27FC236}">
                <a16:creationId xmlns:a16="http://schemas.microsoft.com/office/drawing/2014/main" id="{8597040E-F6B7-4A09-A309-6F989FB9BCF9}"/>
              </a:ext>
            </a:extLst>
          </p:cNvPr>
          <p:cNvSpPr>
            <a:spLocks xmlns:a="http://schemas.openxmlformats.org/drawingml/2006/main" noGrp="1"/>
          </p:cNvSpPr>
          <p:nvPr/>
        </p:nvSpPr>
        <p:spPr>
          <a:xfrm xmlns:a="http://schemas.openxmlformats.org/drawingml/2006/main">
            <a:off x="8420100" y="168592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B99155"/>
                </a:solidFill>
                <a:latin typeface="Arial"/>
                <a:ea typeface="Arial"/>
                <a:cs typeface="Arial"/>
              </a:defRPr>
            </a:pPr>
            <a:r>
              <a:rPr sz="2550" b="1">
                <a:solidFill>
                  <a:srgbClr val="B99155"/>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BDD6E3E2-464D-4908-8569-CCA71129B1B4}"/>
              </a:ext>
            </a:extLst>
          </p:cNvPr>
          <p:cNvSpPr>
            <a:spLocks xmlns:a="http://schemas.openxmlformats.org/drawingml/2006/main" noGrp="1"/>
          </p:cNvSpPr>
          <p:nvPr/>
        </p:nvSpPr>
        <p:spPr>
          <a:xfrm xmlns:a="http://schemas.openxmlformats.org/drawingml/2006/main">
            <a:off x="8420100" y="2295525"/>
            <a:ext cx="3000375" cy="19050"/>
          </a:xfrm>
          <a:prstGeom xmlns:a="http://schemas.openxmlformats.org/drawingml/2006/main" prst="rect">
            <a:avLst/>
          </a:prstGeom>
          <a:solidFill xmlns:a="http://schemas.openxmlformats.org/drawingml/2006/main">
            <a:srgbClr val="C9D4C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C2DF5D6-C88F-42DC-92A0-2C950FA7501A}"/>
              </a:ext>
            </a:extLst>
          </p:cNvPr>
          <p:cNvSpPr>
            <a:spLocks xmlns:a="http://schemas.openxmlformats.org/drawingml/2006/main" noGrp="1"/>
          </p:cNvSpPr>
          <p:nvPr/>
        </p:nvSpPr>
        <p:spPr>
          <a:xfrm xmlns:a="http://schemas.openxmlformats.org/drawingml/2006/main">
            <a:off x="8420100" y="2571750"/>
            <a:ext cx="304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5372F"/>
                </a:solidFill>
                <a:latin typeface="Arial"/>
                <a:ea typeface="Arial"/>
                <a:cs typeface="Arial"/>
              </a:defRPr>
            </a:pPr>
            <a:r>
              <a:rPr sz="2250" b="1">
                <a:solidFill>
                  <a:srgbClr val="15372F"/>
                </a:solidFill>
                <a:latin typeface="Arial"/>
                <a:ea typeface="Arial"/>
                <a:cs typeface="Arial"/>
              </a:rPr>
              <a:t>Backend + Admin</a:t>
            </a:r>
          </a:p>
        </p:txBody>
      </p:sp>
      <p:sp>
        <p:nvSpPr>
          <p:cNvPr id="15" name="">
            <a:extLst xmlns:a="http://schemas.openxmlformats.org/drawingml/2006/main">
              <a:ext uri="{FF2B5EF4-FFF2-40B4-BE49-F238E27FC236}">
                <a16:creationId xmlns:a16="http://schemas.microsoft.com/office/drawing/2014/main" id="{4199D296-AF1D-4412-81A3-199BD7A3EAAC}"/>
              </a:ext>
            </a:extLst>
          </p:cNvPr>
          <p:cNvSpPr>
            <a:spLocks xmlns:a="http://schemas.openxmlformats.org/drawingml/2006/main" noGrp="1"/>
          </p:cNvSpPr>
          <p:nvPr/>
        </p:nvSpPr>
        <p:spPr>
          <a:xfrm xmlns:a="http://schemas.openxmlformats.org/drawingml/2006/main">
            <a:off x="8420100" y="3400425"/>
            <a:ext cx="30670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87068"/>
                </a:solidFill>
                <a:latin typeface="Arial"/>
                <a:ea typeface="Arial"/>
                <a:cs typeface="Arial"/>
              </a:defRPr>
            </a:pPr>
            <a:r>
              <a:rPr sz="1575" b="0">
                <a:solidFill>
                  <a:srgbClr val="587068"/>
                </a:solidFill>
                <a:latin typeface="Arial"/>
                <a:ea typeface="Arial"/>
                <a:cs typeface="Arial"/>
              </a:rPr>
              <a:t>API quản lý dữ liệu; trang Admin tạo hiện vật, zone, beacon và gán nội dung đang trưng bày.</a:t>
            </a:r>
          </a:p>
        </p:txBody>
      </p:sp>
      <p:sp>
        <p:nvSpPr>
          <p:cNvPr id="16" name="">
            <a:extLst xmlns:a="http://schemas.openxmlformats.org/drawingml/2006/main">
              <a:ext uri="{FF2B5EF4-FFF2-40B4-BE49-F238E27FC236}">
                <a16:creationId xmlns:a16="http://schemas.microsoft.com/office/drawing/2014/main" id="{C9C45421-0111-49C3-BD1F-5061F227C041}"/>
              </a:ext>
            </a:extLst>
          </p:cNvPr>
          <p:cNvSpPr>
            <a:spLocks xmlns:a="http://schemas.openxmlformats.org/drawingml/2006/main" noGrp="1"/>
          </p:cNvSpPr>
          <p:nvPr/>
        </p:nvSpPr>
        <p:spPr>
          <a:xfrm xmlns:a="http://schemas.openxmlformats.org/drawingml/2006/main">
            <a:off x="685800" y="5724525"/>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5372F"/>
                </a:solidFill>
                <a:latin typeface="Arial"/>
                <a:ea typeface="Arial"/>
                <a:cs typeface="Arial"/>
              </a:defRPr>
            </a:pPr>
            <a:r>
              <a:rPr sz="1575" b="1">
                <a:solidFill>
                  <a:srgbClr val="15372F"/>
                </a:solidFill>
                <a:latin typeface="Arial"/>
                <a:ea typeface="Arial"/>
                <a:cs typeface="Arial"/>
              </a:rPr>
              <a:t>Một Git repository, ba dự án chạy độc lập</a:t>
            </a:r>
          </a:p>
        </p:txBody>
      </p:sp>
    </p:spTree>
    <p:extLst>
      <p:ext uri="{BB962C8B-B14F-4D97-AF65-F5344CB8AC3E}">
        <p14:creationId xmlns:p14="http://schemas.microsoft.com/office/powerpoint/2010/main" val="178501357"/>
      </p:ext>
    </p:extLst>
  </p:cSld>
</p:sld>
</file>

<file path=ppt/slides/slide4.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3D22300-D0EF-453B-B1F6-FD2D7F106184}"/>
              </a:ext>
            </a:extLst>
          </p:cNvPr>
          <p:cNvSpPr>
            <a:spLocks xmlns:a="http://schemas.openxmlformats.org/drawingml/2006/main" noGrp="1"/>
          </p:cNvSpPr>
          <p:nvPr/>
        </p:nvSpPr>
        <p:spPr>
          <a:xfrm xmlns:a="http://schemas.openxmlformats.org/drawingml/2006/main">
            <a:off x="685800" y="476250"/>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15372F"/>
                </a:solidFill>
                <a:latin typeface="Arial"/>
                <a:ea typeface="Arial"/>
                <a:cs typeface="Arial"/>
              </a:defRPr>
            </a:pPr>
            <a:r>
              <a:rPr sz="2850" b="1">
                <a:solidFill>
                  <a:srgbClr val="15372F"/>
                </a:solidFill>
                <a:latin typeface="Arial"/>
                <a:ea typeface="Arial"/>
                <a:cs typeface="Arial"/>
              </a:rPr>
              <a:t>Workflow nội dung</a:t>
            </a:r>
          </a:p>
        </p:txBody>
      </p:sp>
      <p:sp>
        <p:nvSpPr>
          <p:cNvPr id="2" name="">
            <a:extLst xmlns:a="http://schemas.openxmlformats.org/drawingml/2006/main">
              <a:ext uri="{FF2B5EF4-FFF2-40B4-BE49-F238E27FC236}">
                <a16:creationId xmlns:a16="http://schemas.microsoft.com/office/drawing/2014/main" id="{57C93591-18BB-4BEE-B1BA-B0B3CEB5A77D}"/>
              </a:ext>
            </a:extLst>
          </p:cNvPr>
          <p:cNvSpPr>
            <a:spLocks xmlns:a="http://schemas.openxmlformats.org/drawingml/2006/main" noGrp="1"/>
          </p:cNvSpPr>
          <p:nvPr/>
        </p:nvSpPr>
        <p:spPr>
          <a:xfrm xmlns:a="http://schemas.openxmlformats.org/drawingml/2006/main">
            <a:off x="685800" y="1247775"/>
            <a:ext cx="781050" cy="38100"/>
          </a:xfrm>
          <a:prstGeom xmlns:a="http://schemas.openxmlformats.org/drawingml/2006/main" prst="rect">
            <a:avLst/>
          </a:prstGeom>
          <a:solidFill xmlns:a="http://schemas.openxmlformats.org/drawingml/2006/main">
            <a:srgbClr val="B9915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84328DF-4B57-4D33-874C-4087B470AEB4}"/>
              </a:ext>
            </a:extLst>
          </p:cNvPr>
          <p:cNvSpPr>
            <a:spLocks xmlns:a="http://schemas.openxmlformats.org/drawingml/2006/main" noGrp="1"/>
          </p:cNvSpPr>
          <p:nvPr/>
        </p:nvSpPr>
        <p:spPr>
          <a:xfrm xmlns:a="http://schemas.openxmlformats.org/drawingml/2006/main">
            <a:off x="11391900" y="634365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587068"/>
                </a:solidFill>
                <a:latin typeface="Arial"/>
                <a:ea typeface="Arial"/>
                <a:cs typeface="Arial"/>
              </a:defRPr>
            </a:pPr>
            <a:r>
              <a:rPr sz="975" b="1">
                <a:solidFill>
                  <a:srgbClr val="587068"/>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5DD465E1-6E16-4B84-AAC9-A90E21748BF4}"/>
              </a:ext>
            </a:extLst>
          </p:cNvPr>
          <p:cNvSpPr>
            <a:spLocks xmlns:a="http://schemas.openxmlformats.org/drawingml/2006/main" noGrp="1"/>
          </p:cNvSpPr>
          <p:nvPr/>
        </p:nvSpPr>
        <p:spPr>
          <a:xfrm xmlns:a="http://schemas.openxmlformats.org/drawingml/2006/main">
            <a:off x="685800" y="16002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B99155"/>
                </a:solidFill>
                <a:latin typeface="Arial"/>
                <a:ea typeface="Arial"/>
                <a:cs typeface="Arial"/>
              </a:defRPr>
            </a:pPr>
            <a:r>
              <a:rPr sz="1350" b="1">
                <a:solidFill>
                  <a:srgbClr val="B99155"/>
                </a:solidFill>
                <a:latin typeface="Arial"/>
                <a:ea typeface="Arial"/>
                <a:cs typeface="Arial"/>
              </a:rPr>
              <a:t>PHÍA QUẢN TRỊ</a:t>
            </a:r>
          </a:p>
        </p:txBody>
      </p:sp>
      <p:sp>
        <p:nvSpPr>
          <p:cNvPr id="5" name="">
            <a:extLst xmlns:a="http://schemas.openxmlformats.org/drawingml/2006/main">
              <a:ext uri="{FF2B5EF4-FFF2-40B4-BE49-F238E27FC236}">
                <a16:creationId xmlns:a16="http://schemas.microsoft.com/office/drawing/2014/main" id="{225EF3C1-FB8E-4680-8E1A-3D4D4ABBE4B6}"/>
              </a:ext>
            </a:extLst>
          </p:cNvPr>
          <p:cNvSpPr>
            <a:spLocks xmlns:a="http://schemas.openxmlformats.org/drawingml/2006/main" noGrp="1"/>
          </p:cNvSpPr>
          <p:nvPr/>
        </p:nvSpPr>
        <p:spPr>
          <a:xfrm xmlns:a="http://schemas.openxmlformats.org/drawingml/2006/main">
            <a:off x="685800" y="2152650"/>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B99155"/>
                </a:solidFill>
                <a:latin typeface="Arial"/>
                <a:ea typeface="Arial"/>
                <a:cs typeface="Arial"/>
              </a:defRPr>
            </a:pPr>
            <a:r>
              <a:rPr sz="2325" b="1">
                <a:solidFill>
                  <a:srgbClr val="B99155"/>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25D6AC83-F776-498B-814F-3C4BDFFD34ED}"/>
              </a:ext>
            </a:extLst>
          </p:cNvPr>
          <p:cNvSpPr>
            <a:spLocks xmlns:a="http://schemas.openxmlformats.org/drawingml/2006/main" noGrp="1"/>
          </p:cNvSpPr>
          <p:nvPr/>
        </p:nvSpPr>
        <p:spPr>
          <a:xfrm xmlns:a="http://schemas.openxmlformats.org/drawingml/2006/main">
            <a:off x="1323975" y="2152650"/>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5372F"/>
                </a:solidFill>
                <a:latin typeface="Arial"/>
                <a:ea typeface="Arial"/>
                <a:cs typeface="Arial"/>
              </a:defRPr>
            </a:pPr>
            <a:r>
              <a:rPr sz="2025" b="1">
                <a:solidFill>
                  <a:srgbClr val="15372F"/>
                </a:solidFill>
                <a:latin typeface="Arial"/>
                <a:ea typeface="Arial"/>
                <a:cs typeface="Arial"/>
              </a:rPr>
              <a:t>Tạo hiện vật</a:t>
            </a:r>
          </a:p>
        </p:txBody>
      </p:sp>
      <p:sp>
        <p:nvSpPr>
          <p:cNvPr id="7" name="">
            <a:extLst xmlns:a="http://schemas.openxmlformats.org/drawingml/2006/main">
              <a:ext uri="{FF2B5EF4-FFF2-40B4-BE49-F238E27FC236}">
                <a16:creationId xmlns:a16="http://schemas.microsoft.com/office/drawing/2014/main" id="{E74D36FA-E5E6-4433-B56A-6D96B18E3A82}"/>
              </a:ext>
            </a:extLst>
          </p:cNvPr>
          <p:cNvSpPr>
            <a:spLocks xmlns:a="http://schemas.openxmlformats.org/drawingml/2006/main" noGrp="1"/>
          </p:cNvSpPr>
          <p:nvPr/>
        </p:nvSpPr>
        <p:spPr>
          <a:xfrm xmlns:a="http://schemas.openxmlformats.org/drawingml/2006/main">
            <a:off x="933450" y="2752725"/>
            <a:ext cx="28575" cy="409575"/>
          </a:xfrm>
          <a:prstGeom xmlns:a="http://schemas.openxmlformats.org/drawingml/2006/main" prst="rect">
            <a:avLst/>
          </a:prstGeom>
          <a:solidFill xmlns:a="http://schemas.openxmlformats.org/drawingml/2006/main">
            <a:srgbClr val="C9D4C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D921FB5-0EBD-4CC4-9A79-C8B926F1DE6C}"/>
              </a:ext>
            </a:extLst>
          </p:cNvPr>
          <p:cNvSpPr>
            <a:spLocks xmlns:a="http://schemas.openxmlformats.org/drawingml/2006/main" noGrp="1"/>
          </p:cNvSpPr>
          <p:nvPr/>
        </p:nvSpPr>
        <p:spPr>
          <a:xfrm xmlns:a="http://schemas.openxmlformats.org/drawingml/2006/main">
            <a:off x="685800" y="3248025"/>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B99155"/>
                </a:solidFill>
                <a:latin typeface="Arial"/>
                <a:ea typeface="Arial"/>
                <a:cs typeface="Arial"/>
              </a:defRPr>
            </a:pPr>
            <a:r>
              <a:rPr sz="2325" b="1">
                <a:solidFill>
                  <a:srgbClr val="B99155"/>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34E8F5AD-903D-49D8-9A1E-B2D3254F7B0F}"/>
              </a:ext>
            </a:extLst>
          </p:cNvPr>
          <p:cNvSpPr>
            <a:spLocks xmlns:a="http://schemas.openxmlformats.org/drawingml/2006/main" noGrp="1"/>
          </p:cNvSpPr>
          <p:nvPr/>
        </p:nvSpPr>
        <p:spPr>
          <a:xfrm xmlns:a="http://schemas.openxmlformats.org/drawingml/2006/main">
            <a:off x="1323975" y="3248025"/>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5372F"/>
                </a:solidFill>
                <a:latin typeface="Arial"/>
                <a:ea typeface="Arial"/>
                <a:cs typeface="Arial"/>
              </a:defRPr>
            </a:pPr>
            <a:r>
              <a:rPr sz="2025" b="1">
                <a:solidFill>
                  <a:srgbClr val="15372F"/>
                </a:solidFill>
                <a:latin typeface="Arial"/>
                <a:ea typeface="Arial"/>
                <a:cs typeface="Arial"/>
              </a:rPr>
              <a:t>Xuất bản nội dung</a:t>
            </a:r>
          </a:p>
        </p:txBody>
      </p:sp>
      <p:sp>
        <p:nvSpPr>
          <p:cNvPr id="10" name="">
            <a:extLst xmlns:a="http://schemas.openxmlformats.org/drawingml/2006/main">
              <a:ext uri="{FF2B5EF4-FFF2-40B4-BE49-F238E27FC236}">
                <a16:creationId xmlns:a16="http://schemas.microsoft.com/office/drawing/2014/main" id="{30CB037A-EC35-4793-A9A9-77DE185D1B9C}"/>
              </a:ext>
            </a:extLst>
          </p:cNvPr>
          <p:cNvSpPr>
            <a:spLocks xmlns:a="http://schemas.openxmlformats.org/drawingml/2006/main" noGrp="1"/>
          </p:cNvSpPr>
          <p:nvPr/>
        </p:nvSpPr>
        <p:spPr>
          <a:xfrm xmlns:a="http://schemas.openxmlformats.org/drawingml/2006/main">
            <a:off x="933450" y="3848100"/>
            <a:ext cx="28575" cy="409575"/>
          </a:xfrm>
          <a:prstGeom xmlns:a="http://schemas.openxmlformats.org/drawingml/2006/main" prst="rect">
            <a:avLst/>
          </a:prstGeom>
          <a:solidFill xmlns:a="http://schemas.openxmlformats.org/drawingml/2006/main">
            <a:srgbClr val="C9D4C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CCF269B-A2BA-4E46-9514-BC2920226551}"/>
              </a:ext>
            </a:extLst>
          </p:cNvPr>
          <p:cNvSpPr>
            <a:spLocks xmlns:a="http://schemas.openxmlformats.org/drawingml/2006/main" noGrp="1"/>
          </p:cNvSpPr>
          <p:nvPr/>
        </p:nvSpPr>
        <p:spPr>
          <a:xfrm xmlns:a="http://schemas.openxmlformats.org/drawingml/2006/main">
            <a:off x="685800" y="4343400"/>
            <a:ext cx="523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B99155"/>
                </a:solidFill>
                <a:latin typeface="Arial"/>
                <a:ea typeface="Arial"/>
                <a:cs typeface="Arial"/>
              </a:defRPr>
            </a:pPr>
            <a:r>
              <a:rPr sz="2325" b="1">
                <a:solidFill>
                  <a:srgbClr val="B99155"/>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61D3ECE2-C194-4D41-A113-106A8510A484}"/>
              </a:ext>
            </a:extLst>
          </p:cNvPr>
          <p:cNvSpPr>
            <a:spLocks xmlns:a="http://schemas.openxmlformats.org/drawingml/2006/main" noGrp="1"/>
          </p:cNvSpPr>
          <p:nvPr/>
        </p:nvSpPr>
        <p:spPr>
          <a:xfrm xmlns:a="http://schemas.openxmlformats.org/drawingml/2006/main">
            <a:off x="1323975" y="4343400"/>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5372F"/>
                </a:solidFill>
                <a:latin typeface="Arial"/>
                <a:ea typeface="Arial"/>
                <a:cs typeface="Arial"/>
              </a:defRPr>
            </a:pPr>
            <a:r>
              <a:rPr sz="2025" b="1">
                <a:solidFill>
                  <a:srgbClr val="15372F"/>
                </a:solidFill>
                <a:latin typeface="Arial"/>
                <a:ea typeface="Arial"/>
                <a:cs typeface="Arial"/>
              </a:rPr>
              <a:t>Gán vào zone</a:t>
            </a:r>
          </a:p>
        </p:txBody>
      </p:sp>
      <p:sp>
        <p:nvSpPr>
          <p:cNvPr id="13" name="">
            <a:extLst xmlns:a="http://schemas.openxmlformats.org/drawingml/2006/main">
              <a:ext uri="{FF2B5EF4-FFF2-40B4-BE49-F238E27FC236}">
                <a16:creationId xmlns:a16="http://schemas.microsoft.com/office/drawing/2014/main" id="{4BC2FFD8-796C-4DCA-A566-FAE67748023D}"/>
              </a:ext>
            </a:extLst>
          </p:cNvPr>
          <p:cNvSpPr>
            <a:spLocks xmlns:a="http://schemas.openxmlformats.org/drawingml/2006/main" noGrp="1"/>
          </p:cNvSpPr>
          <p:nvPr/>
        </p:nvSpPr>
        <p:spPr>
          <a:xfrm xmlns:a="http://schemas.openxmlformats.org/drawingml/2006/main">
            <a:off x="5543550" y="1838325"/>
            <a:ext cx="38100" cy="3429000"/>
          </a:xfrm>
          <a:prstGeom xmlns:a="http://schemas.openxmlformats.org/drawingml/2006/main" prst="rect">
            <a:avLst/>
          </a:prstGeom>
          <a:solidFill xmlns:a="http://schemas.openxmlformats.org/drawingml/2006/main">
            <a:srgbClr val="B9915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2C6EA01-46EC-44E0-B13B-ACE1372E868D}"/>
              </a:ext>
            </a:extLst>
          </p:cNvPr>
          <p:cNvSpPr>
            <a:spLocks xmlns:a="http://schemas.openxmlformats.org/drawingml/2006/main" noGrp="1"/>
          </p:cNvSpPr>
          <p:nvPr/>
        </p:nvSpPr>
        <p:spPr>
          <a:xfrm xmlns:a="http://schemas.openxmlformats.org/drawingml/2006/main">
            <a:off x="6096000" y="160020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B99155"/>
                </a:solidFill>
                <a:latin typeface="Arial"/>
                <a:ea typeface="Arial"/>
                <a:cs typeface="Arial"/>
              </a:defRPr>
            </a:pPr>
            <a:r>
              <a:rPr sz="1350" b="1">
                <a:solidFill>
                  <a:srgbClr val="B99155"/>
                </a:solidFill>
                <a:latin typeface="Arial"/>
                <a:ea typeface="Arial"/>
                <a:cs typeface="Arial"/>
              </a:rPr>
              <a:t>PHÍA KHÁCH THAM QUAN</a:t>
            </a:r>
          </a:p>
        </p:txBody>
      </p:sp>
      <p:sp>
        <p:nvSpPr>
          <p:cNvPr id="15" name="">
            <a:extLst xmlns:a="http://schemas.openxmlformats.org/drawingml/2006/main">
              <a:ext uri="{FF2B5EF4-FFF2-40B4-BE49-F238E27FC236}">
                <a16:creationId xmlns:a16="http://schemas.microsoft.com/office/drawing/2014/main" id="{91994B69-B960-4C4D-876B-D5C4D11B24F0}"/>
              </a:ext>
            </a:extLst>
          </p:cNvPr>
          <p:cNvSpPr>
            <a:spLocks xmlns:a="http://schemas.openxmlformats.org/drawingml/2006/main" noGrp="1"/>
          </p:cNvSpPr>
          <p:nvPr/>
        </p:nvSpPr>
        <p:spPr>
          <a:xfrm xmlns:a="http://schemas.openxmlformats.org/drawingml/2006/main">
            <a:off x="6096000" y="2162175"/>
            <a:ext cx="4476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5372F"/>
                </a:solidFill>
                <a:latin typeface="Arial"/>
                <a:ea typeface="Arial"/>
                <a:cs typeface="Arial"/>
              </a:defRPr>
            </a:pPr>
            <a:r>
              <a:rPr sz="2175" b="1">
                <a:solidFill>
                  <a:srgbClr val="15372F"/>
                </a:solidFill>
                <a:latin typeface="Arial"/>
                <a:ea typeface="Arial"/>
                <a:cs typeface="Arial"/>
              </a:rPr>
              <a:t>BLE hoặc QR</a:t>
            </a:r>
          </a:p>
        </p:txBody>
      </p:sp>
      <p:sp>
        <p:nvSpPr>
          <p:cNvPr id="16" name="">
            <a:extLst xmlns:a="http://schemas.openxmlformats.org/drawingml/2006/main">
              <a:ext uri="{FF2B5EF4-FFF2-40B4-BE49-F238E27FC236}">
                <a16:creationId xmlns:a16="http://schemas.microsoft.com/office/drawing/2014/main" id="{7014AECF-9FEB-4D4A-A554-E7A53838E9FA}"/>
              </a:ext>
            </a:extLst>
          </p:cNvPr>
          <p:cNvSpPr>
            <a:spLocks xmlns:a="http://schemas.openxmlformats.org/drawingml/2006/main" noGrp="1"/>
          </p:cNvSpPr>
          <p:nvPr/>
        </p:nvSpPr>
        <p:spPr>
          <a:xfrm xmlns:a="http://schemas.openxmlformats.org/drawingml/2006/main">
            <a:off x="7848600" y="26765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B99155"/>
                </a:solidFill>
                <a:latin typeface="Arial"/>
                <a:ea typeface="Arial"/>
                <a:cs typeface="Arial"/>
              </a:defRPr>
            </a:pPr>
            <a:r>
              <a:rPr sz="2550" b="1">
                <a:solidFill>
                  <a:srgbClr val="B99155"/>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93AB78BB-5C71-4938-A90E-2996D52BE635}"/>
              </a:ext>
            </a:extLst>
          </p:cNvPr>
          <p:cNvSpPr>
            <a:spLocks xmlns:a="http://schemas.openxmlformats.org/drawingml/2006/main" noGrp="1"/>
          </p:cNvSpPr>
          <p:nvPr/>
        </p:nvSpPr>
        <p:spPr>
          <a:xfrm xmlns:a="http://schemas.openxmlformats.org/drawingml/2006/main">
            <a:off x="6096000" y="3152775"/>
            <a:ext cx="4476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5372F"/>
                </a:solidFill>
                <a:latin typeface="Arial"/>
                <a:ea typeface="Arial"/>
                <a:cs typeface="Arial"/>
              </a:defRPr>
            </a:pPr>
            <a:r>
              <a:rPr sz="2175" b="1">
                <a:solidFill>
                  <a:srgbClr val="15372F"/>
                </a:solidFill>
                <a:latin typeface="Arial"/>
                <a:ea typeface="Arial"/>
                <a:cs typeface="Arial"/>
              </a:rPr>
              <a:t>Zone</a:t>
            </a:r>
          </a:p>
        </p:txBody>
      </p:sp>
      <p:sp>
        <p:nvSpPr>
          <p:cNvPr id="18" name="">
            <a:extLst xmlns:a="http://schemas.openxmlformats.org/drawingml/2006/main">
              <a:ext uri="{FF2B5EF4-FFF2-40B4-BE49-F238E27FC236}">
                <a16:creationId xmlns:a16="http://schemas.microsoft.com/office/drawing/2014/main" id="{4B7FF1A4-3E54-4D15-B666-A186E19AAB90}"/>
              </a:ext>
            </a:extLst>
          </p:cNvPr>
          <p:cNvSpPr>
            <a:spLocks xmlns:a="http://schemas.openxmlformats.org/drawingml/2006/main" noGrp="1"/>
          </p:cNvSpPr>
          <p:nvPr/>
        </p:nvSpPr>
        <p:spPr>
          <a:xfrm xmlns:a="http://schemas.openxmlformats.org/drawingml/2006/main">
            <a:off x="7848600" y="3676650"/>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B99155"/>
                </a:solidFill>
                <a:latin typeface="Arial"/>
                <a:ea typeface="Arial"/>
                <a:cs typeface="Arial"/>
              </a:defRPr>
            </a:pPr>
            <a:r>
              <a:rPr sz="2550" b="1">
                <a:solidFill>
                  <a:srgbClr val="B99155"/>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73E05973-C06E-45F4-BF22-47C72B56A407}"/>
              </a:ext>
            </a:extLst>
          </p:cNvPr>
          <p:cNvSpPr>
            <a:spLocks xmlns:a="http://schemas.openxmlformats.org/drawingml/2006/main" noGrp="1"/>
          </p:cNvSpPr>
          <p:nvPr/>
        </p:nvSpPr>
        <p:spPr>
          <a:xfrm xmlns:a="http://schemas.openxmlformats.org/drawingml/2006/main">
            <a:off x="6096000" y="4152900"/>
            <a:ext cx="5143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5372F"/>
                </a:solidFill>
                <a:latin typeface="Arial"/>
                <a:ea typeface="Arial"/>
                <a:cs typeface="Arial"/>
              </a:defRPr>
            </a:pPr>
            <a:r>
              <a:rPr sz="2175" b="1">
                <a:solidFill>
                  <a:srgbClr val="15372F"/>
                </a:solidFill>
                <a:latin typeface="Arial"/>
                <a:ea typeface="Arial"/>
                <a:cs typeface="Arial"/>
              </a:rPr>
              <a:t>Hiện vật đang gán</a:t>
            </a:r>
          </a:p>
        </p:txBody>
      </p:sp>
      <p:sp>
        <p:nvSpPr>
          <p:cNvPr id="20" name="">
            <a:extLst xmlns:a="http://schemas.openxmlformats.org/drawingml/2006/main">
              <a:ext uri="{FF2B5EF4-FFF2-40B4-BE49-F238E27FC236}">
                <a16:creationId xmlns:a16="http://schemas.microsoft.com/office/drawing/2014/main" id="{D672075A-FBD4-43BC-9371-8140BC9368A8}"/>
              </a:ext>
            </a:extLst>
          </p:cNvPr>
          <p:cNvSpPr>
            <a:spLocks xmlns:a="http://schemas.openxmlformats.org/drawingml/2006/main" noGrp="1"/>
          </p:cNvSpPr>
          <p:nvPr/>
        </p:nvSpPr>
        <p:spPr>
          <a:xfrm xmlns:a="http://schemas.openxmlformats.org/drawingml/2006/main">
            <a:off x="7848600" y="4686300"/>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B99155"/>
                </a:solidFill>
                <a:latin typeface="Arial"/>
                <a:ea typeface="Arial"/>
                <a:cs typeface="Arial"/>
              </a:defRPr>
            </a:pPr>
            <a:r>
              <a:rPr sz="2550" b="1">
                <a:solidFill>
                  <a:srgbClr val="B99155"/>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89A82C9F-9714-435F-94B7-D5C7DA6ED92B}"/>
              </a:ext>
            </a:extLst>
          </p:cNvPr>
          <p:cNvSpPr>
            <a:spLocks xmlns:a="http://schemas.openxmlformats.org/drawingml/2006/main" noGrp="1"/>
          </p:cNvSpPr>
          <p:nvPr/>
        </p:nvSpPr>
        <p:spPr>
          <a:xfrm xmlns:a="http://schemas.openxmlformats.org/drawingml/2006/main">
            <a:off x="6096000" y="5162550"/>
            <a:ext cx="5143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5372F"/>
                </a:solidFill>
                <a:latin typeface="Arial"/>
                <a:ea typeface="Arial"/>
                <a:cs typeface="Arial"/>
              </a:defRPr>
            </a:pPr>
            <a:r>
              <a:rPr sz="2175" b="1">
                <a:solidFill>
                  <a:srgbClr val="15372F"/>
                </a:solidFill>
                <a:latin typeface="Arial"/>
                <a:ea typeface="Arial"/>
                <a:cs typeface="Arial"/>
              </a:rPr>
              <a:t>Bản dịch + audio</a:t>
            </a:r>
          </a:p>
        </p:txBody>
      </p:sp>
    </p:spTree>
    <p:extLst>
      <p:ext uri="{BB962C8B-B14F-4D97-AF65-F5344CB8AC3E}">
        <p14:creationId xmlns:p14="http://schemas.microsoft.com/office/powerpoint/2010/main" val="1585926489"/>
      </p:ext>
    </p:extLst>
  </p:cSld>
</p:sld>
</file>

<file path=ppt/slides/slide5.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D502529-A149-4B06-97D3-9CB48536C391}"/>
              </a:ext>
            </a:extLst>
          </p:cNvPr>
          <p:cNvSpPr>
            <a:spLocks xmlns:a="http://schemas.openxmlformats.org/drawingml/2006/main" noGrp="1"/>
          </p:cNvSpPr>
          <p:nvPr/>
        </p:nvSpPr>
        <p:spPr>
          <a:xfrm xmlns:a="http://schemas.openxmlformats.org/drawingml/2006/main">
            <a:off x="685800" y="476250"/>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15372F"/>
                </a:solidFill>
                <a:latin typeface="Arial"/>
                <a:ea typeface="Arial"/>
                <a:cs typeface="Arial"/>
              </a:defRPr>
            </a:pPr>
            <a:r>
              <a:rPr sz="2850" b="1">
                <a:solidFill>
                  <a:srgbClr val="15372F"/>
                </a:solidFill>
                <a:latin typeface="Arial"/>
                <a:ea typeface="Arial"/>
                <a:cs typeface="Arial"/>
              </a:rPr>
              <a:t>Luồng trải nghiệm của khách</a:t>
            </a:r>
          </a:p>
        </p:txBody>
      </p:sp>
      <p:sp>
        <p:nvSpPr>
          <p:cNvPr id="2" name="">
            <a:extLst xmlns:a="http://schemas.openxmlformats.org/drawingml/2006/main">
              <a:ext uri="{FF2B5EF4-FFF2-40B4-BE49-F238E27FC236}">
                <a16:creationId xmlns:a16="http://schemas.microsoft.com/office/drawing/2014/main" id="{0DB7185F-0FF4-4650-9D43-571683ED4A70}"/>
              </a:ext>
            </a:extLst>
          </p:cNvPr>
          <p:cNvSpPr>
            <a:spLocks xmlns:a="http://schemas.openxmlformats.org/drawingml/2006/main" noGrp="1"/>
          </p:cNvSpPr>
          <p:nvPr/>
        </p:nvSpPr>
        <p:spPr>
          <a:xfrm xmlns:a="http://schemas.openxmlformats.org/drawingml/2006/main">
            <a:off x="685800" y="1247775"/>
            <a:ext cx="781050" cy="38100"/>
          </a:xfrm>
          <a:prstGeom xmlns:a="http://schemas.openxmlformats.org/drawingml/2006/main" prst="rect">
            <a:avLst/>
          </a:prstGeom>
          <a:solidFill xmlns:a="http://schemas.openxmlformats.org/drawingml/2006/main">
            <a:srgbClr val="B9915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14C1E60-BE1A-4C57-8DB1-36733D2ED577}"/>
              </a:ext>
            </a:extLst>
          </p:cNvPr>
          <p:cNvSpPr>
            <a:spLocks xmlns:a="http://schemas.openxmlformats.org/drawingml/2006/main" noGrp="1"/>
          </p:cNvSpPr>
          <p:nvPr/>
        </p:nvSpPr>
        <p:spPr>
          <a:xfrm xmlns:a="http://schemas.openxmlformats.org/drawingml/2006/main">
            <a:off x="11391900" y="634365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587068"/>
                </a:solidFill>
                <a:latin typeface="Arial"/>
                <a:ea typeface="Arial"/>
                <a:cs typeface="Arial"/>
              </a:defRPr>
            </a:pPr>
            <a:r>
              <a:rPr sz="975" b="1">
                <a:solidFill>
                  <a:srgbClr val="587068"/>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433EA8FA-25A3-4412-8AF8-44B858F6B2E7}"/>
              </a:ext>
            </a:extLst>
          </p:cNvPr>
          <p:cNvSpPr>
            <a:spLocks xmlns:a="http://schemas.openxmlformats.org/drawingml/2006/main" noGrp="1"/>
          </p:cNvSpPr>
          <p:nvPr/>
        </p:nvSpPr>
        <p:spPr>
          <a:xfrm xmlns:a="http://schemas.openxmlformats.org/drawingml/2006/main">
            <a:off x="685800" y="17240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B99155"/>
                </a:solidFill>
                <a:latin typeface="Arial"/>
                <a:ea typeface="Arial"/>
                <a:cs typeface="Arial"/>
              </a:defRPr>
            </a:pPr>
            <a:r>
              <a:rPr sz="2025" b="1">
                <a:solidFill>
                  <a:srgbClr val="B99155"/>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0176706-C874-4380-8B03-803B02AE426F}"/>
              </a:ext>
            </a:extLst>
          </p:cNvPr>
          <p:cNvSpPr>
            <a:spLocks xmlns:a="http://schemas.openxmlformats.org/drawingml/2006/main" noGrp="1"/>
          </p:cNvSpPr>
          <p:nvPr/>
        </p:nvSpPr>
        <p:spPr>
          <a:xfrm xmlns:a="http://schemas.openxmlformats.org/drawingml/2006/main">
            <a:off x="1238250" y="1724025"/>
            <a:ext cx="4495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5372F"/>
                </a:solidFill>
                <a:latin typeface="Arial"/>
                <a:ea typeface="Arial"/>
                <a:cs typeface="Arial"/>
              </a:defRPr>
            </a:pPr>
            <a:r>
              <a:rPr sz="1800" b="1">
                <a:solidFill>
                  <a:srgbClr val="15372F"/>
                </a:solidFill>
                <a:latin typeface="Arial"/>
                <a:ea typeface="Arial"/>
                <a:cs typeface="Arial"/>
              </a:rPr>
              <a:t>Vào khu trưng bày</a:t>
            </a:r>
          </a:p>
        </p:txBody>
      </p:sp>
      <p:sp>
        <p:nvSpPr>
          <p:cNvPr id="6" name="">
            <a:extLst xmlns:a="http://schemas.openxmlformats.org/drawingml/2006/main">
              <a:ext uri="{FF2B5EF4-FFF2-40B4-BE49-F238E27FC236}">
                <a16:creationId xmlns:a16="http://schemas.microsoft.com/office/drawing/2014/main" id="{A2F0CDA9-D928-4147-9705-BA94F5867A3D}"/>
              </a:ext>
            </a:extLst>
          </p:cNvPr>
          <p:cNvSpPr>
            <a:spLocks xmlns:a="http://schemas.openxmlformats.org/drawingml/2006/main" noGrp="1"/>
          </p:cNvSpPr>
          <p:nvPr/>
        </p:nvSpPr>
        <p:spPr>
          <a:xfrm xmlns:a="http://schemas.openxmlformats.org/drawingml/2006/main">
            <a:off x="1238250" y="2200275"/>
            <a:ext cx="4495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87068"/>
                </a:solidFill>
                <a:latin typeface="Arial"/>
                <a:ea typeface="Arial"/>
                <a:cs typeface="Arial"/>
              </a:defRPr>
            </a:pPr>
            <a:r>
              <a:rPr sz="1350" b="0">
                <a:solidFill>
                  <a:srgbClr val="587068"/>
                </a:solidFill>
                <a:latin typeface="Arial"/>
                <a:ea typeface="Arial"/>
                <a:cs typeface="Arial"/>
              </a:rPr>
              <a:t>Mobile quét tín hiệu beacon và xác nhận zone từ tín hiệu ổn định.</a:t>
            </a:r>
          </a:p>
        </p:txBody>
      </p:sp>
      <p:sp>
        <p:nvSpPr>
          <p:cNvPr id="7" name="">
            <a:extLst xmlns:a="http://schemas.openxmlformats.org/drawingml/2006/main">
              <a:ext uri="{FF2B5EF4-FFF2-40B4-BE49-F238E27FC236}">
                <a16:creationId xmlns:a16="http://schemas.microsoft.com/office/drawing/2014/main" id="{A2D40EE1-182D-454D-89B4-8C774375E315}"/>
              </a:ext>
            </a:extLst>
          </p:cNvPr>
          <p:cNvSpPr>
            <a:spLocks xmlns:a="http://schemas.openxmlformats.org/drawingml/2006/main" noGrp="1"/>
          </p:cNvSpPr>
          <p:nvPr/>
        </p:nvSpPr>
        <p:spPr>
          <a:xfrm xmlns:a="http://schemas.openxmlformats.org/drawingml/2006/main">
            <a:off x="6191250" y="17240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B99155"/>
                </a:solidFill>
                <a:latin typeface="Arial"/>
                <a:ea typeface="Arial"/>
                <a:cs typeface="Arial"/>
              </a:defRPr>
            </a:pPr>
            <a:r>
              <a:rPr sz="2025" b="1">
                <a:solidFill>
                  <a:srgbClr val="B99155"/>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EF6DDFF5-487F-4AE2-B4B9-306A8C0C64D6}"/>
              </a:ext>
            </a:extLst>
          </p:cNvPr>
          <p:cNvSpPr>
            <a:spLocks xmlns:a="http://schemas.openxmlformats.org/drawingml/2006/main" noGrp="1"/>
          </p:cNvSpPr>
          <p:nvPr/>
        </p:nvSpPr>
        <p:spPr>
          <a:xfrm xmlns:a="http://schemas.openxmlformats.org/drawingml/2006/main">
            <a:off x="6743700" y="1724025"/>
            <a:ext cx="4495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5372F"/>
                </a:solidFill>
                <a:latin typeface="Arial"/>
                <a:ea typeface="Arial"/>
                <a:cs typeface="Arial"/>
              </a:defRPr>
            </a:pPr>
            <a:r>
              <a:rPr sz="1800" b="1">
                <a:solidFill>
                  <a:srgbClr val="15372F"/>
                </a:solidFill>
                <a:latin typeface="Arial"/>
                <a:ea typeface="Arial"/>
                <a:cs typeface="Arial"/>
              </a:rPr>
              <a:t>Mở nội dung</a:t>
            </a:r>
          </a:p>
        </p:txBody>
      </p:sp>
      <p:sp>
        <p:nvSpPr>
          <p:cNvPr id="9" name="">
            <a:extLst xmlns:a="http://schemas.openxmlformats.org/drawingml/2006/main">
              <a:ext uri="{FF2B5EF4-FFF2-40B4-BE49-F238E27FC236}">
                <a16:creationId xmlns:a16="http://schemas.microsoft.com/office/drawing/2014/main" id="{9E1EA87C-4FD2-4AA9-A81E-530932F77415}"/>
              </a:ext>
            </a:extLst>
          </p:cNvPr>
          <p:cNvSpPr>
            <a:spLocks xmlns:a="http://schemas.openxmlformats.org/drawingml/2006/main" noGrp="1"/>
          </p:cNvSpPr>
          <p:nvPr/>
        </p:nvSpPr>
        <p:spPr>
          <a:xfrm xmlns:a="http://schemas.openxmlformats.org/drawingml/2006/main">
            <a:off x="6743700" y="2200275"/>
            <a:ext cx="4495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87068"/>
                </a:solidFill>
                <a:latin typeface="Arial"/>
                <a:ea typeface="Arial"/>
                <a:cs typeface="Arial"/>
              </a:defRPr>
            </a:pPr>
            <a:r>
              <a:rPr sz="1350" b="0">
                <a:solidFill>
                  <a:srgbClr val="587068"/>
                </a:solidFill>
                <a:latin typeface="Arial"/>
                <a:ea typeface="Arial"/>
                <a:cs typeface="Arial"/>
              </a:rPr>
              <a:t>App gọi API lấy hiện vật đang trưng bày theo zone và ngôn ngữ.</a:t>
            </a:r>
          </a:p>
        </p:txBody>
      </p:sp>
      <p:sp>
        <p:nvSpPr>
          <p:cNvPr id="10" name="">
            <a:extLst xmlns:a="http://schemas.openxmlformats.org/drawingml/2006/main">
              <a:ext uri="{FF2B5EF4-FFF2-40B4-BE49-F238E27FC236}">
                <a16:creationId xmlns:a16="http://schemas.microsoft.com/office/drawing/2014/main" id="{2D2093CA-709A-446F-9B8C-CAE42D526627}"/>
              </a:ext>
            </a:extLst>
          </p:cNvPr>
          <p:cNvSpPr>
            <a:spLocks xmlns:a="http://schemas.openxmlformats.org/drawingml/2006/main" noGrp="1"/>
          </p:cNvSpPr>
          <p:nvPr/>
        </p:nvSpPr>
        <p:spPr>
          <a:xfrm xmlns:a="http://schemas.openxmlformats.org/drawingml/2006/main">
            <a:off x="685800" y="3981450"/>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B99155"/>
                </a:solidFill>
                <a:latin typeface="Arial"/>
                <a:ea typeface="Arial"/>
                <a:cs typeface="Arial"/>
              </a:defRPr>
            </a:pPr>
            <a:r>
              <a:rPr sz="2025" b="1">
                <a:solidFill>
                  <a:srgbClr val="B9915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63CBA03B-B032-4E7F-AC90-3F211D83CC07}"/>
              </a:ext>
            </a:extLst>
          </p:cNvPr>
          <p:cNvSpPr>
            <a:spLocks xmlns:a="http://schemas.openxmlformats.org/drawingml/2006/main" noGrp="1"/>
          </p:cNvSpPr>
          <p:nvPr/>
        </p:nvSpPr>
        <p:spPr>
          <a:xfrm xmlns:a="http://schemas.openxmlformats.org/drawingml/2006/main">
            <a:off x="1238250" y="3981450"/>
            <a:ext cx="4495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5372F"/>
                </a:solidFill>
                <a:latin typeface="Arial"/>
                <a:ea typeface="Arial"/>
                <a:cs typeface="Arial"/>
              </a:defRPr>
            </a:pPr>
            <a:r>
              <a:rPr sz="1800" b="1">
                <a:solidFill>
                  <a:srgbClr val="15372F"/>
                </a:solidFill>
                <a:latin typeface="Arial"/>
                <a:ea typeface="Arial"/>
                <a:cs typeface="Arial"/>
              </a:rPr>
              <a:t>Xem và nghe</a:t>
            </a:r>
          </a:p>
        </p:txBody>
      </p:sp>
      <p:sp>
        <p:nvSpPr>
          <p:cNvPr id="12" name="">
            <a:extLst xmlns:a="http://schemas.openxmlformats.org/drawingml/2006/main">
              <a:ext uri="{FF2B5EF4-FFF2-40B4-BE49-F238E27FC236}">
                <a16:creationId xmlns:a16="http://schemas.microsoft.com/office/drawing/2014/main" id="{254EED63-D21C-4DBC-843B-8A2E0215F46A}"/>
              </a:ext>
            </a:extLst>
          </p:cNvPr>
          <p:cNvSpPr>
            <a:spLocks xmlns:a="http://schemas.openxmlformats.org/drawingml/2006/main" noGrp="1"/>
          </p:cNvSpPr>
          <p:nvPr/>
        </p:nvSpPr>
        <p:spPr>
          <a:xfrm xmlns:a="http://schemas.openxmlformats.org/drawingml/2006/main">
            <a:off x="1238250" y="4457700"/>
            <a:ext cx="4495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87068"/>
                </a:solidFill>
                <a:latin typeface="Arial"/>
                <a:ea typeface="Arial"/>
                <a:cs typeface="Arial"/>
              </a:defRPr>
            </a:pPr>
            <a:r>
              <a:rPr sz="1350" b="0">
                <a:solidFill>
                  <a:srgbClr val="587068"/>
                </a:solidFill>
                <a:latin typeface="Arial"/>
                <a:ea typeface="Arial"/>
                <a:cs typeface="Arial"/>
              </a:rPr>
              <a:t>Khách đọc mô tả; phát audio nếu bản ngôn ngữ có tệp.</a:t>
            </a:r>
          </a:p>
        </p:txBody>
      </p:sp>
      <p:sp>
        <p:nvSpPr>
          <p:cNvPr id="13" name="">
            <a:extLst xmlns:a="http://schemas.openxmlformats.org/drawingml/2006/main">
              <a:ext uri="{FF2B5EF4-FFF2-40B4-BE49-F238E27FC236}">
                <a16:creationId xmlns:a16="http://schemas.microsoft.com/office/drawing/2014/main" id="{B7F00008-97AE-4335-AD03-86BB41D1C88D}"/>
              </a:ext>
            </a:extLst>
          </p:cNvPr>
          <p:cNvSpPr>
            <a:spLocks xmlns:a="http://schemas.openxmlformats.org/drawingml/2006/main" noGrp="1"/>
          </p:cNvSpPr>
          <p:nvPr/>
        </p:nvSpPr>
        <p:spPr>
          <a:xfrm xmlns:a="http://schemas.openxmlformats.org/drawingml/2006/main">
            <a:off x="6191250" y="3981450"/>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B99155"/>
                </a:solidFill>
                <a:latin typeface="Arial"/>
                <a:ea typeface="Arial"/>
                <a:cs typeface="Arial"/>
              </a:defRPr>
            </a:pPr>
            <a:r>
              <a:rPr sz="2025" b="1">
                <a:solidFill>
                  <a:srgbClr val="B99155"/>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2D627707-95C1-422E-9EC8-E9574F4EE536}"/>
              </a:ext>
            </a:extLst>
          </p:cNvPr>
          <p:cNvSpPr>
            <a:spLocks xmlns:a="http://schemas.openxmlformats.org/drawingml/2006/main" noGrp="1"/>
          </p:cNvSpPr>
          <p:nvPr/>
        </p:nvSpPr>
        <p:spPr>
          <a:xfrm xmlns:a="http://schemas.openxmlformats.org/drawingml/2006/main">
            <a:off x="6743700" y="3981450"/>
            <a:ext cx="4495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5372F"/>
                </a:solidFill>
                <a:latin typeface="Arial"/>
                <a:ea typeface="Arial"/>
                <a:cs typeface="Arial"/>
              </a:defRPr>
            </a:pPr>
            <a:r>
              <a:rPr sz="1800" b="1">
                <a:solidFill>
                  <a:srgbClr val="15372F"/>
                </a:solidFill>
                <a:latin typeface="Arial"/>
                <a:ea typeface="Arial"/>
                <a:cs typeface="Arial"/>
              </a:rPr>
              <a:t>Đường QR</a:t>
            </a:r>
          </a:p>
        </p:txBody>
      </p:sp>
      <p:sp>
        <p:nvSpPr>
          <p:cNvPr id="15" name="">
            <a:extLst xmlns:a="http://schemas.openxmlformats.org/drawingml/2006/main">
              <a:ext uri="{FF2B5EF4-FFF2-40B4-BE49-F238E27FC236}">
                <a16:creationId xmlns:a16="http://schemas.microsoft.com/office/drawing/2014/main" id="{B4882106-40A7-49BD-B701-638E209D544E}"/>
              </a:ext>
            </a:extLst>
          </p:cNvPr>
          <p:cNvSpPr>
            <a:spLocks xmlns:a="http://schemas.openxmlformats.org/drawingml/2006/main" noGrp="1"/>
          </p:cNvSpPr>
          <p:nvPr/>
        </p:nvSpPr>
        <p:spPr>
          <a:xfrm xmlns:a="http://schemas.openxmlformats.org/drawingml/2006/main">
            <a:off x="6743700" y="4457700"/>
            <a:ext cx="4495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87068"/>
                </a:solidFill>
                <a:latin typeface="Arial"/>
                <a:ea typeface="Arial"/>
                <a:cs typeface="Arial"/>
              </a:defRPr>
            </a:pPr>
            <a:r>
              <a:rPr sz="1350" b="0">
                <a:solidFill>
                  <a:srgbClr val="587068"/>
                </a:solidFill>
                <a:latin typeface="Arial"/>
                <a:ea typeface="Arial"/>
                <a:cs typeface="Arial"/>
              </a:rPr>
              <a:t>Nếu không dùng BLE, quét QR để mở trang web của cùng zone.</a:t>
            </a:r>
          </a:p>
        </p:txBody>
      </p:sp>
    </p:spTree>
    <p:extLst>
      <p:ext uri="{BB962C8B-B14F-4D97-AF65-F5344CB8AC3E}">
        <p14:creationId xmlns:p14="http://schemas.microsoft.com/office/powerpoint/2010/main" val="344873345"/>
      </p:ext>
    </p:extLst>
  </p:cSld>
</p:sld>
</file>

<file path=ppt/slides/slide6.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5D425CF-D607-4080-A61E-CADD4650A056}"/>
              </a:ext>
            </a:extLst>
          </p:cNvPr>
          <p:cNvSpPr>
            <a:spLocks xmlns:a="http://schemas.openxmlformats.org/drawingml/2006/main" noGrp="1"/>
          </p:cNvSpPr>
          <p:nvPr/>
        </p:nvSpPr>
        <p:spPr>
          <a:xfrm xmlns:a="http://schemas.openxmlformats.org/drawingml/2006/main">
            <a:off x="685800" y="476250"/>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15372F"/>
                </a:solidFill>
                <a:latin typeface="Arial"/>
                <a:ea typeface="Arial"/>
                <a:cs typeface="Arial"/>
              </a:defRPr>
            </a:pPr>
            <a:r>
              <a:rPr sz="2850" b="1">
                <a:solidFill>
                  <a:srgbClr val="15372F"/>
                </a:solidFill>
                <a:latin typeface="Arial"/>
                <a:ea typeface="Arial"/>
                <a:cs typeface="Arial"/>
              </a:rPr>
              <a:t>Luồng quản trị trưng bày</a:t>
            </a:r>
          </a:p>
        </p:txBody>
      </p:sp>
      <p:sp>
        <p:nvSpPr>
          <p:cNvPr id="2" name="">
            <a:extLst xmlns:a="http://schemas.openxmlformats.org/drawingml/2006/main">
              <a:ext uri="{FF2B5EF4-FFF2-40B4-BE49-F238E27FC236}">
                <a16:creationId xmlns:a16="http://schemas.microsoft.com/office/drawing/2014/main" id="{C3EFDD59-75D6-4FD0-916E-964DE94E949D}"/>
              </a:ext>
            </a:extLst>
          </p:cNvPr>
          <p:cNvSpPr>
            <a:spLocks xmlns:a="http://schemas.openxmlformats.org/drawingml/2006/main" noGrp="1"/>
          </p:cNvSpPr>
          <p:nvPr/>
        </p:nvSpPr>
        <p:spPr>
          <a:xfrm xmlns:a="http://schemas.openxmlformats.org/drawingml/2006/main">
            <a:off x="685800" y="1247775"/>
            <a:ext cx="781050" cy="38100"/>
          </a:xfrm>
          <a:prstGeom xmlns:a="http://schemas.openxmlformats.org/drawingml/2006/main" prst="rect">
            <a:avLst/>
          </a:prstGeom>
          <a:solidFill xmlns:a="http://schemas.openxmlformats.org/drawingml/2006/main">
            <a:srgbClr val="B9915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C84EA1B-4444-4371-A8BA-8A29DC080091}"/>
              </a:ext>
            </a:extLst>
          </p:cNvPr>
          <p:cNvSpPr>
            <a:spLocks xmlns:a="http://schemas.openxmlformats.org/drawingml/2006/main" noGrp="1"/>
          </p:cNvSpPr>
          <p:nvPr/>
        </p:nvSpPr>
        <p:spPr>
          <a:xfrm xmlns:a="http://schemas.openxmlformats.org/drawingml/2006/main">
            <a:off x="11391900" y="634365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587068"/>
                </a:solidFill>
                <a:latin typeface="Arial"/>
                <a:ea typeface="Arial"/>
                <a:cs typeface="Arial"/>
              </a:defRPr>
            </a:pPr>
            <a:r>
              <a:rPr sz="975" b="1">
                <a:solidFill>
                  <a:srgbClr val="587068"/>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CC43A709-85C6-4C3D-9B75-B062893918C6}"/>
              </a:ext>
            </a:extLst>
          </p:cNvPr>
          <p:cNvSpPr>
            <a:spLocks xmlns:a="http://schemas.openxmlformats.org/drawingml/2006/main" noGrp="1"/>
          </p:cNvSpPr>
          <p:nvPr/>
        </p:nvSpPr>
        <p:spPr>
          <a:xfrm xmlns:a="http://schemas.openxmlformats.org/drawingml/2006/main">
            <a:off x="685800" y="1695450"/>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B99155"/>
                </a:solidFill>
                <a:latin typeface="Arial"/>
                <a:ea typeface="Arial"/>
                <a:cs typeface="Arial"/>
              </a:defRPr>
            </a:pPr>
            <a:r>
              <a:rPr sz="2025" b="1">
                <a:solidFill>
                  <a:srgbClr val="B99155"/>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9F88A52-7F29-427F-8F9D-A212C91966D3}"/>
              </a:ext>
            </a:extLst>
          </p:cNvPr>
          <p:cNvSpPr>
            <a:spLocks xmlns:a="http://schemas.openxmlformats.org/drawingml/2006/main" noGrp="1"/>
          </p:cNvSpPr>
          <p:nvPr/>
        </p:nvSpPr>
        <p:spPr>
          <a:xfrm xmlns:a="http://schemas.openxmlformats.org/drawingml/2006/main">
            <a:off x="1238250" y="1695450"/>
            <a:ext cx="4591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5372F"/>
                </a:solidFill>
                <a:latin typeface="Arial"/>
                <a:ea typeface="Arial"/>
                <a:cs typeface="Arial"/>
              </a:defRPr>
            </a:pPr>
            <a:r>
              <a:rPr sz="1800" b="1">
                <a:solidFill>
                  <a:srgbClr val="15372F"/>
                </a:solidFill>
                <a:latin typeface="Arial"/>
                <a:ea typeface="Arial"/>
                <a:cs typeface="Arial"/>
              </a:rPr>
              <a:t>Chuẩn bị hiện vật</a:t>
            </a:r>
          </a:p>
        </p:txBody>
      </p:sp>
      <p:sp>
        <p:nvSpPr>
          <p:cNvPr id="6" name="">
            <a:extLst xmlns:a="http://schemas.openxmlformats.org/drawingml/2006/main">
              <a:ext uri="{FF2B5EF4-FFF2-40B4-BE49-F238E27FC236}">
                <a16:creationId xmlns:a16="http://schemas.microsoft.com/office/drawing/2014/main" id="{16DB035A-7604-427B-959E-275A5A894CC7}"/>
              </a:ext>
            </a:extLst>
          </p:cNvPr>
          <p:cNvSpPr>
            <a:spLocks xmlns:a="http://schemas.openxmlformats.org/drawingml/2006/main" noGrp="1"/>
          </p:cNvSpPr>
          <p:nvPr/>
        </p:nvSpPr>
        <p:spPr>
          <a:xfrm xmlns:a="http://schemas.openxmlformats.org/drawingml/2006/main">
            <a:off x="1238250" y="2171700"/>
            <a:ext cx="4591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87068"/>
                </a:solidFill>
                <a:latin typeface="Arial"/>
                <a:ea typeface="Arial"/>
                <a:cs typeface="Arial"/>
              </a:defRPr>
            </a:pPr>
            <a:r>
              <a:rPr sz="1350" b="0">
                <a:solidFill>
                  <a:srgbClr val="587068"/>
                </a:solidFill>
                <a:latin typeface="Arial"/>
                <a:ea typeface="Arial"/>
                <a:cs typeface="Arial"/>
              </a:rPr>
              <a:t>Nhập tiêu đề, mô tả, bản dịch, ảnh và audio; xuất bản khi sẵn sàng.</a:t>
            </a:r>
          </a:p>
        </p:txBody>
      </p:sp>
      <p:sp>
        <p:nvSpPr>
          <p:cNvPr id="7" name="">
            <a:extLst xmlns:a="http://schemas.openxmlformats.org/drawingml/2006/main">
              <a:ext uri="{FF2B5EF4-FFF2-40B4-BE49-F238E27FC236}">
                <a16:creationId xmlns:a16="http://schemas.microsoft.com/office/drawing/2014/main" id="{BA8AFADF-1ABD-41A8-B08D-59D5732AFCFC}"/>
              </a:ext>
            </a:extLst>
          </p:cNvPr>
          <p:cNvSpPr>
            <a:spLocks xmlns:a="http://schemas.openxmlformats.org/drawingml/2006/main" noGrp="1"/>
          </p:cNvSpPr>
          <p:nvPr/>
        </p:nvSpPr>
        <p:spPr>
          <a:xfrm xmlns:a="http://schemas.openxmlformats.org/drawingml/2006/main">
            <a:off x="6324600" y="1695450"/>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B99155"/>
                </a:solidFill>
                <a:latin typeface="Arial"/>
                <a:ea typeface="Arial"/>
                <a:cs typeface="Arial"/>
              </a:defRPr>
            </a:pPr>
            <a:r>
              <a:rPr sz="2025" b="1">
                <a:solidFill>
                  <a:srgbClr val="B99155"/>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63DF066F-3F06-4EED-9D9D-0B70CFECC940}"/>
              </a:ext>
            </a:extLst>
          </p:cNvPr>
          <p:cNvSpPr>
            <a:spLocks xmlns:a="http://schemas.openxmlformats.org/drawingml/2006/main" noGrp="1"/>
          </p:cNvSpPr>
          <p:nvPr/>
        </p:nvSpPr>
        <p:spPr>
          <a:xfrm xmlns:a="http://schemas.openxmlformats.org/drawingml/2006/main">
            <a:off x="6877050" y="1695450"/>
            <a:ext cx="4591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5372F"/>
                </a:solidFill>
                <a:latin typeface="Arial"/>
                <a:ea typeface="Arial"/>
                <a:cs typeface="Arial"/>
              </a:defRPr>
            </a:pPr>
            <a:r>
              <a:rPr sz="1800" b="1">
                <a:solidFill>
                  <a:srgbClr val="15372F"/>
                </a:solidFill>
                <a:latin typeface="Arial"/>
                <a:ea typeface="Arial"/>
                <a:cs typeface="Arial"/>
              </a:rPr>
              <a:t>Thiết lập khu vực</a:t>
            </a:r>
          </a:p>
        </p:txBody>
      </p:sp>
      <p:sp>
        <p:nvSpPr>
          <p:cNvPr id="9" name="">
            <a:extLst xmlns:a="http://schemas.openxmlformats.org/drawingml/2006/main">
              <a:ext uri="{FF2B5EF4-FFF2-40B4-BE49-F238E27FC236}">
                <a16:creationId xmlns:a16="http://schemas.microsoft.com/office/drawing/2014/main" id="{CC2C3490-64DD-4A70-802D-F8702CF5FB25}"/>
              </a:ext>
            </a:extLst>
          </p:cNvPr>
          <p:cNvSpPr>
            <a:spLocks xmlns:a="http://schemas.openxmlformats.org/drawingml/2006/main" noGrp="1"/>
          </p:cNvSpPr>
          <p:nvPr/>
        </p:nvSpPr>
        <p:spPr>
          <a:xfrm xmlns:a="http://schemas.openxmlformats.org/drawingml/2006/main">
            <a:off x="6877050" y="2171700"/>
            <a:ext cx="4591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87068"/>
                </a:solidFill>
                <a:latin typeface="Arial"/>
                <a:ea typeface="Arial"/>
                <a:cs typeface="Arial"/>
              </a:defRPr>
            </a:pPr>
            <a:r>
              <a:rPr sz="1350" b="0">
                <a:solidFill>
                  <a:srgbClr val="587068"/>
                </a:solidFill>
                <a:latin typeface="Arial"/>
                <a:ea typeface="Arial"/>
                <a:cs typeface="Arial"/>
              </a:rPr>
              <a:t>Tạo zone và QR; cấu hình beacon, trạng thái bật và tầm nhận diện.</a:t>
            </a:r>
          </a:p>
        </p:txBody>
      </p:sp>
      <p:sp>
        <p:nvSpPr>
          <p:cNvPr id="10" name="">
            <a:extLst xmlns:a="http://schemas.openxmlformats.org/drawingml/2006/main">
              <a:ext uri="{FF2B5EF4-FFF2-40B4-BE49-F238E27FC236}">
                <a16:creationId xmlns:a16="http://schemas.microsoft.com/office/drawing/2014/main" id="{7F7502B0-0F3A-4801-A025-80F871A3F617}"/>
              </a:ext>
            </a:extLst>
          </p:cNvPr>
          <p:cNvSpPr>
            <a:spLocks xmlns:a="http://schemas.openxmlformats.org/drawingml/2006/main" noGrp="1"/>
          </p:cNvSpPr>
          <p:nvPr/>
        </p:nvSpPr>
        <p:spPr>
          <a:xfrm xmlns:a="http://schemas.openxmlformats.org/drawingml/2006/main">
            <a:off x="685800" y="4114800"/>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B99155"/>
                </a:solidFill>
                <a:latin typeface="Arial"/>
                <a:ea typeface="Arial"/>
                <a:cs typeface="Arial"/>
              </a:defRPr>
            </a:pPr>
            <a:r>
              <a:rPr sz="2025" b="1">
                <a:solidFill>
                  <a:srgbClr val="B9915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6E5BC165-FB34-4B03-80A3-CE06FE11A3E6}"/>
              </a:ext>
            </a:extLst>
          </p:cNvPr>
          <p:cNvSpPr>
            <a:spLocks xmlns:a="http://schemas.openxmlformats.org/drawingml/2006/main" noGrp="1"/>
          </p:cNvSpPr>
          <p:nvPr/>
        </p:nvSpPr>
        <p:spPr>
          <a:xfrm xmlns:a="http://schemas.openxmlformats.org/drawingml/2006/main">
            <a:off x="1238250" y="4114800"/>
            <a:ext cx="4591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5372F"/>
                </a:solidFill>
                <a:latin typeface="Arial"/>
                <a:ea typeface="Arial"/>
                <a:cs typeface="Arial"/>
              </a:defRPr>
            </a:pPr>
            <a:r>
              <a:rPr sz="1800" b="1">
                <a:solidFill>
                  <a:srgbClr val="15372F"/>
                </a:solidFill>
                <a:latin typeface="Arial"/>
                <a:ea typeface="Arial"/>
                <a:cs typeface="Arial"/>
              </a:rPr>
              <a:t>Đổi hiện vật trưng bày</a:t>
            </a:r>
          </a:p>
        </p:txBody>
      </p:sp>
      <p:sp>
        <p:nvSpPr>
          <p:cNvPr id="12" name="">
            <a:extLst xmlns:a="http://schemas.openxmlformats.org/drawingml/2006/main">
              <a:ext uri="{FF2B5EF4-FFF2-40B4-BE49-F238E27FC236}">
                <a16:creationId xmlns:a16="http://schemas.microsoft.com/office/drawing/2014/main" id="{9B0B01DB-57C9-4423-AB31-B468CE8CE818}"/>
              </a:ext>
            </a:extLst>
          </p:cNvPr>
          <p:cNvSpPr>
            <a:spLocks xmlns:a="http://schemas.openxmlformats.org/drawingml/2006/main" noGrp="1"/>
          </p:cNvSpPr>
          <p:nvPr/>
        </p:nvSpPr>
        <p:spPr>
          <a:xfrm xmlns:a="http://schemas.openxmlformats.org/drawingml/2006/main">
            <a:off x="1238250" y="4591050"/>
            <a:ext cx="4591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87068"/>
                </a:solidFill>
                <a:latin typeface="Arial"/>
                <a:ea typeface="Arial"/>
                <a:cs typeface="Arial"/>
              </a:defRPr>
            </a:pPr>
            <a:r>
              <a:rPr sz="1350" b="0">
                <a:solidFill>
                  <a:srgbClr val="587068"/>
                </a:solidFill>
                <a:latin typeface="Arial"/>
                <a:ea typeface="Arial"/>
                <a:cs typeface="Arial"/>
              </a:rPr>
              <a:t>Chọn hiện vật đang hiển thị cho zone trong Admin.</a:t>
            </a:r>
          </a:p>
        </p:txBody>
      </p:sp>
      <p:sp>
        <p:nvSpPr>
          <p:cNvPr id="13" name="">
            <a:extLst xmlns:a="http://schemas.openxmlformats.org/drawingml/2006/main">
              <a:ext uri="{FF2B5EF4-FFF2-40B4-BE49-F238E27FC236}">
                <a16:creationId xmlns:a16="http://schemas.microsoft.com/office/drawing/2014/main" id="{90C7784F-881B-4476-BF71-5C375E04218C}"/>
              </a:ext>
            </a:extLst>
          </p:cNvPr>
          <p:cNvSpPr>
            <a:spLocks xmlns:a="http://schemas.openxmlformats.org/drawingml/2006/main" noGrp="1"/>
          </p:cNvSpPr>
          <p:nvPr/>
        </p:nvSpPr>
        <p:spPr>
          <a:xfrm xmlns:a="http://schemas.openxmlformats.org/drawingml/2006/main">
            <a:off x="6324600" y="4114800"/>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B99155"/>
                </a:solidFill>
                <a:latin typeface="Arial"/>
                <a:ea typeface="Arial"/>
                <a:cs typeface="Arial"/>
              </a:defRPr>
            </a:pPr>
            <a:r>
              <a:rPr sz="2025" b="1">
                <a:solidFill>
                  <a:srgbClr val="B99155"/>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59039686-7E20-4B3B-B5DB-9B66B764AB89}"/>
              </a:ext>
            </a:extLst>
          </p:cNvPr>
          <p:cNvSpPr>
            <a:spLocks xmlns:a="http://schemas.openxmlformats.org/drawingml/2006/main" noGrp="1"/>
          </p:cNvSpPr>
          <p:nvPr/>
        </p:nvSpPr>
        <p:spPr>
          <a:xfrm xmlns:a="http://schemas.openxmlformats.org/drawingml/2006/main">
            <a:off x="6877050" y="4114800"/>
            <a:ext cx="4591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5372F"/>
                </a:solidFill>
                <a:latin typeface="Arial"/>
                <a:ea typeface="Arial"/>
                <a:cs typeface="Arial"/>
              </a:defRPr>
            </a:pPr>
            <a:r>
              <a:rPr sz="1800" b="1">
                <a:solidFill>
                  <a:srgbClr val="15372F"/>
                </a:solidFill>
                <a:latin typeface="Arial"/>
                <a:ea typeface="Arial"/>
                <a:cs typeface="Arial"/>
              </a:rPr>
              <a:t>Khách thấy nội dung mới</a:t>
            </a:r>
          </a:p>
        </p:txBody>
      </p:sp>
      <p:sp>
        <p:nvSpPr>
          <p:cNvPr id="15" name="">
            <a:extLst xmlns:a="http://schemas.openxmlformats.org/drawingml/2006/main">
              <a:ext uri="{FF2B5EF4-FFF2-40B4-BE49-F238E27FC236}">
                <a16:creationId xmlns:a16="http://schemas.microsoft.com/office/drawing/2014/main" id="{D7388B80-0299-43EB-987F-3A7041294E80}"/>
              </a:ext>
            </a:extLst>
          </p:cNvPr>
          <p:cNvSpPr>
            <a:spLocks xmlns:a="http://schemas.openxmlformats.org/drawingml/2006/main" noGrp="1"/>
          </p:cNvSpPr>
          <p:nvPr/>
        </p:nvSpPr>
        <p:spPr>
          <a:xfrm xmlns:a="http://schemas.openxmlformats.org/drawingml/2006/main">
            <a:off x="6877050" y="4591050"/>
            <a:ext cx="4591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87068"/>
                </a:solidFill>
                <a:latin typeface="Arial"/>
                <a:ea typeface="Arial"/>
                <a:cs typeface="Arial"/>
              </a:defRPr>
            </a:pPr>
            <a:r>
              <a:rPr sz="1350" b="0">
                <a:solidFill>
                  <a:srgbClr val="587068"/>
                </a:solidFill>
                <a:latin typeface="Arial"/>
                <a:ea typeface="Arial"/>
                <a:cs typeface="Arial"/>
              </a:rPr>
              <a:t>Lần mở QR hoặc lần phát hiện zone tiếp theo lấy gán hiện hành từ API.</a:t>
            </a:r>
          </a:p>
        </p:txBody>
      </p:sp>
    </p:spTree>
    <p:extLst>
      <p:ext uri="{BB962C8B-B14F-4D97-AF65-F5344CB8AC3E}">
        <p14:creationId xmlns:p14="http://schemas.microsoft.com/office/powerpoint/2010/main" val="2034747749"/>
      </p:ext>
    </p:extLst>
  </p:cSld>
</p:sld>
</file>

<file path=ppt/slides/slide7.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7F2AFAE-816C-45AE-BCB2-1DC6FEA24836}"/>
              </a:ext>
            </a:extLst>
          </p:cNvPr>
          <p:cNvSpPr>
            <a:spLocks xmlns:a="http://schemas.openxmlformats.org/drawingml/2006/main" noGrp="1"/>
          </p:cNvSpPr>
          <p:nvPr/>
        </p:nvSpPr>
        <p:spPr>
          <a:xfrm xmlns:a="http://schemas.openxmlformats.org/drawingml/2006/main">
            <a:off x="685800" y="476250"/>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15372F"/>
                </a:solidFill>
                <a:latin typeface="Arial"/>
                <a:ea typeface="Arial"/>
                <a:cs typeface="Arial"/>
              </a:defRPr>
            </a:pPr>
            <a:r>
              <a:rPr sz="2850" b="1">
                <a:solidFill>
                  <a:srgbClr val="15372F"/>
                </a:solidFill>
                <a:latin typeface="Arial"/>
                <a:ea typeface="Arial"/>
                <a:cs typeface="Arial"/>
              </a:rPr>
              <a:t>Kiến trúc và ranh giới dữ liệu</a:t>
            </a:r>
          </a:p>
        </p:txBody>
      </p:sp>
      <p:sp>
        <p:nvSpPr>
          <p:cNvPr id="2" name="">
            <a:extLst xmlns:a="http://schemas.openxmlformats.org/drawingml/2006/main">
              <a:ext uri="{FF2B5EF4-FFF2-40B4-BE49-F238E27FC236}">
                <a16:creationId xmlns:a16="http://schemas.microsoft.com/office/drawing/2014/main" id="{8C039277-19F1-4362-B039-22459CCA365F}"/>
              </a:ext>
            </a:extLst>
          </p:cNvPr>
          <p:cNvSpPr>
            <a:spLocks xmlns:a="http://schemas.openxmlformats.org/drawingml/2006/main" noGrp="1"/>
          </p:cNvSpPr>
          <p:nvPr/>
        </p:nvSpPr>
        <p:spPr>
          <a:xfrm xmlns:a="http://schemas.openxmlformats.org/drawingml/2006/main">
            <a:off x="685800" y="1247775"/>
            <a:ext cx="781050" cy="38100"/>
          </a:xfrm>
          <a:prstGeom xmlns:a="http://schemas.openxmlformats.org/drawingml/2006/main" prst="rect">
            <a:avLst/>
          </a:prstGeom>
          <a:solidFill xmlns:a="http://schemas.openxmlformats.org/drawingml/2006/main">
            <a:srgbClr val="B9915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0F0211F-0E69-4448-86DE-ADCE0A34F3E1}"/>
              </a:ext>
            </a:extLst>
          </p:cNvPr>
          <p:cNvSpPr>
            <a:spLocks xmlns:a="http://schemas.openxmlformats.org/drawingml/2006/main" noGrp="1"/>
          </p:cNvSpPr>
          <p:nvPr/>
        </p:nvSpPr>
        <p:spPr>
          <a:xfrm xmlns:a="http://schemas.openxmlformats.org/drawingml/2006/main">
            <a:off x="11391900" y="634365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587068"/>
                </a:solidFill>
                <a:latin typeface="Arial"/>
                <a:ea typeface="Arial"/>
                <a:cs typeface="Arial"/>
              </a:defRPr>
            </a:pPr>
            <a:r>
              <a:rPr sz="975" b="1">
                <a:solidFill>
                  <a:srgbClr val="587068"/>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374C9966-455A-4FC7-8FBB-0E5AE951D547}"/>
              </a:ext>
            </a:extLst>
          </p:cNvPr>
          <p:cNvSpPr>
            <a:spLocks xmlns:a="http://schemas.openxmlformats.org/drawingml/2006/main" noGrp="1"/>
          </p:cNvSpPr>
          <p:nvPr/>
        </p:nvSpPr>
        <p:spPr>
          <a:xfrm xmlns:a="http://schemas.openxmlformats.org/drawingml/2006/main">
            <a:off x="685800" y="1752600"/>
            <a:ext cx="3257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5372F"/>
                </a:solidFill>
                <a:latin typeface="Arial"/>
                <a:ea typeface="Arial"/>
                <a:cs typeface="Arial"/>
              </a:defRPr>
            </a:pPr>
            <a:r>
              <a:rPr sz="2025" b="1">
                <a:solidFill>
                  <a:srgbClr val="15372F"/>
                </a:solidFill>
                <a:latin typeface="Arial"/>
                <a:ea typeface="Arial"/>
                <a:cs typeface="Arial"/>
              </a:rPr>
              <a:t>Điện thoại / trình duyệt</a:t>
            </a:r>
          </a:p>
        </p:txBody>
      </p:sp>
      <p:sp>
        <p:nvSpPr>
          <p:cNvPr id="5" name="">
            <a:extLst xmlns:a="http://schemas.openxmlformats.org/drawingml/2006/main">
              <a:ext uri="{FF2B5EF4-FFF2-40B4-BE49-F238E27FC236}">
                <a16:creationId xmlns:a16="http://schemas.microsoft.com/office/drawing/2014/main" id="{062FD9E2-68AB-4342-8AB2-66425E0CC31C}"/>
              </a:ext>
            </a:extLst>
          </p:cNvPr>
          <p:cNvSpPr>
            <a:spLocks xmlns:a="http://schemas.openxmlformats.org/drawingml/2006/main" noGrp="1"/>
          </p:cNvSpPr>
          <p:nvPr/>
        </p:nvSpPr>
        <p:spPr>
          <a:xfrm xmlns:a="http://schemas.openxmlformats.org/drawingml/2006/main">
            <a:off x="4486275" y="1752600"/>
            <a:ext cx="2438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5372F"/>
                </a:solidFill>
                <a:latin typeface="Arial"/>
                <a:ea typeface="Arial"/>
                <a:cs typeface="Arial"/>
              </a:defRPr>
            </a:pPr>
            <a:r>
              <a:rPr sz="2025" b="1">
                <a:solidFill>
                  <a:srgbClr val="15372F"/>
                </a:solidFill>
                <a:latin typeface="Arial"/>
                <a:ea typeface="Arial"/>
                <a:cs typeface="Arial"/>
              </a:rPr>
              <a:t>API NestJS</a:t>
            </a:r>
          </a:p>
        </p:txBody>
      </p:sp>
      <p:sp>
        <p:nvSpPr>
          <p:cNvPr id="6" name="">
            <a:extLst xmlns:a="http://schemas.openxmlformats.org/drawingml/2006/main">
              <a:ext uri="{FF2B5EF4-FFF2-40B4-BE49-F238E27FC236}">
                <a16:creationId xmlns:a16="http://schemas.microsoft.com/office/drawing/2014/main" id="{0BB0113F-6684-45D9-A093-ECCF5F84300C}"/>
              </a:ext>
            </a:extLst>
          </p:cNvPr>
          <p:cNvSpPr>
            <a:spLocks xmlns:a="http://schemas.openxmlformats.org/drawingml/2006/main" noGrp="1"/>
          </p:cNvSpPr>
          <p:nvPr/>
        </p:nvSpPr>
        <p:spPr>
          <a:xfrm xmlns:a="http://schemas.openxmlformats.org/drawingml/2006/main">
            <a:off x="8096250" y="1752600"/>
            <a:ext cx="2647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5372F"/>
                </a:solidFill>
                <a:latin typeface="Arial"/>
                <a:ea typeface="Arial"/>
                <a:cs typeface="Arial"/>
              </a:defRPr>
            </a:pPr>
            <a:r>
              <a:rPr sz="2025" b="1">
                <a:solidFill>
                  <a:srgbClr val="15372F"/>
                </a:solidFill>
                <a:latin typeface="Arial"/>
                <a:ea typeface="Arial"/>
                <a:cs typeface="Arial"/>
              </a:rPr>
              <a:t>PostgreSQL</a:t>
            </a:r>
          </a:p>
        </p:txBody>
      </p:sp>
      <p:sp>
        <p:nvSpPr>
          <p:cNvPr id="7" name="">
            <a:extLst xmlns:a="http://schemas.openxmlformats.org/drawingml/2006/main">
              <a:ext uri="{FF2B5EF4-FFF2-40B4-BE49-F238E27FC236}">
                <a16:creationId xmlns:a16="http://schemas.microsoft.com/office/drawing/2014/main" id="{C80BCAAE-FDB3-496E-85BE-49B623B5B2E2}"/>
              </a:ext>
            </a:extLst>
          </p:cNvPr>
          <p:cNvSpPr>
            <a:spLocks xmlns:a="http://schemas.openxmlformats.org/drawingml/2006/main" noGrp="1"/>
          </p:cNvSpPr>
          <p:nvPr/>
        </p:nvSpPr>
        <p:spPr>
          <a:xfrm xmlns:a="http://schemas.openxmlformats.org/drawingml/2006/main">
            <a:off x="3267075" y="2466975"/>
            <a:ext cx="1504950" cy="38100"/>
          </a:xfrm>
          <a:prstGeom xmlns:a="http://schemas.openxmlformats.org/drawingml/2006/main" prst="rect">
            <a:avLst/>
          </a:prstGeom>
          <a:solidFill xmlns:a="http://schemas.openxmlformats.org/drawingml/2006/main">
            <a:srgbClr val="B9915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52A579E-B71A-404A-9FFA-C6ED56963E8E}"/>
              </a:ext>
            </a:extLst>
          </p:cNvPr>
          <p:cNvSpPr>
            <a:spLocks xmlns:a="http://schemas.openxmlformats.org/drawingml/2006/main" noGrp="1"/>
          </p:cNvSpPr>
          <p:nvPr/>
        </p:nvSpPr>
        <p:spPr>
          <a:xfrm xmlns:a="http://schemas.openxmlformats.org/drawingml/2006/main">
            <a:off x="6772275" y="2466975"/>
            <a:ext cx="1638300" cy="38100"/>
          </a:xfrm>
          <a:prstGeom xmlns:a="http://schemas.openxmlformats.org/drawingml/2006/main" prst="rect">
            <a:avLst/>
          </a:prstGeom>
          <a:solidFill xmlns:a="http://schemas.openxmlformats.org/drawingml/2006/main">
            <a:srgbClr val="B9915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2667246-5E76-4A5F-846E-48E1D20F6168}"/>
              </a:ext>
            </a:extLst>
          </p:cNvPr>
          <p:cNvSpPr>
            <a:spLocks xmlns:a="http://schemas.openxmlformats.org/drawingml/2006/main" noGrp="1"/>
          </p:cNvSpPr>
          <p:nvPr/>
        </p:nvSpPr>
        <p:spPr>
          <a:xfrm xmlns:a="http://schemas.openxmlformats.org/drawingml/2006/main">
            <a:off x="685800" y="3000375"/>
            <a:ext cx="32956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587068"/>
                </a:solidFill>
                <a:latin typeface="Arial"/>
                <a:ea typeface="Arial"/>
                <a:cs typeface="Arial"/>
              </a:defRPr>
            </a:pPr>
            <a:r>
              <a:rPr sz="1650" b="0">
                <a:solidFill>
                  <a:srgbClr val="587068"/>
                </a:solidFill>
                <a:latin typeface="Arial"/>
                <a:ea typeface="Arial"/>
                <a:cs typeface="Arial"/>
              </a:rPr>
              <a:t>BLE xử lý trên thiết bị</a:t>
            </a:r>
          </a:p>
        </p:txBody>
      </p:sp>
      <p:sp>
        <p:nvSpPr>
          <p:cNvPr id="10" name="">
            <a:extLst xmlns:a="http://schemas.openxmlformats.org/drawingml/2006/main">
              <a:ext uri="{FF2B5EF4-FFF2-40B4-BE49-F238E27FC236}">
                <a16:creationId xmlns:a16="http://schemas.microsoft.com/office/drawing/2014/main" id="{DABB096D-7978-4ED4-BB78-83954E9B91E0}"/>
              </a:ext>
            </a:extLst>
          </p:cNvPr>
          <p:cNvSpPr>
            <a:spLocks xmlns:a="http://schemas.openxmlformats.org/drawingml/2006/main" noGrp="1"/>
          </p:cNvSpPr>
          <p:nvPr/>
        </p:nvSpPr>
        <p:spPr>
          <a:xfrm xmlns:a="http://schemas.openxmlformats.org/drawingml/2006/main">
            <a:off x="4467225" y="3000375"/>
            <a:ext cx="28479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587068"/>
                </a:solidFill>
                <a:latin typeface="Arial"/>
                <a:ea typeface="Arial"/>
                <a:cs typeface="Arial"/>
              </a:defRPr>
            </a:pPr>
            <a:r>
              <a:rPr sz="1650" b="0">
                <a:solidFill>
                  <a:srgbClr val="587068"/>
                </a:solidFill>
                <a:latin typeface="Arial"/>
                <a:ea typeface="Arial"/>
                <a:cs typeface="Arial"/>
              </a:rPr>
              <a:t>Tìm zone, assignment, bản dịch</a:t>
            </a:r>
          </a:p>
        </p:txBody>
      </p:sp>
      <p:sp>
        <p:nvSpPr>
          <p:cNvPr id="11" name="">
            <a:extLst xmlns:a="http://schemas.openxmlformats.org/drawingml/2006/main">
              <a:ext uri="{FF2B5EF4-FFF2-40B4-BE49-F238E27FC236}">
                <a16:creationId xmlns:a16="http://schemas.microsoft.com/office/drawing/2014/main" id="{BB7F272F-D2F1-4F41-8B06-FFCD1F445D5B}"/>
              </a:ext>
            </a:extLst>
          </p:cNvPr>
          <p:cNvSpPr>
            <a:spLocks xmlns:a="http://schemas.openxmlformats.org/drawingml/2006/main" noGrp="1"/>
          </p:cNvSpPr>
          <p:nvPr/>
        </p:nvSpPr>
        <p:spPr>
          <a:xfrm xmlns:a="http://schemas.openxmlformats.org/drawingml/2006/main">
            <a:off x="8096250" y="3000375"/>
            <a:ext cx="31432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587068"/>
                </a:solidFill>
                <a:latin typeface="Arial"/>
                <a:ea typeface="Arial"/>
                <a:cs typeface="Arial"/>
              </a:defRPr>
            </a:pPr>
            <a:r>
              <a:rPr sz="1650" b="0">
                <a:solidFill>
                  <a:srgbClr val="587068"/>
                </a:solidFill>
                <a:latin typeface="Arial"/>
                <a:ea typeface="Arial"/>
                <a:cs typeface="Arial"/>
              </a:rPr>
              <a:t>Zone • Beacon • Exhibit</a:t>
            </a:r>
          </a:p>
          <a:p xmlns:a="http://schemas.openxmlformats.org/drawingml/2006/main">
            <a:pPr algn="l">
              <a:defRPr sz="1650" b="0">
                <a:solidFill>
                  <a:srgbClr val="587068"/>
                </a:solidFill>
                <a:latin typeface="Arial"/>
                <a:ea typeface="Arial"/>
                <a:cs typeface="Arial"/>
              </a:defRPr>
            </a:pPr>
            <a:r>
              <a:rPr sz="1650" b="0">
                <a:solidFill>
                  <a:srgbClr val="587068"/>
                </a:solidFill>
                <a:latin typeface="Arial"/>
                <a:ea typeface="Arial"/>
                <a:cs typeface="Arial"/>
              </a:rPr>
              <a:t>Translation • Assignment</a:t>
            </a:r>
          </a:p>
        </p:txBody>
      </p:sp>
      <p:sp>
        <p:nvSpPr>
          <p:cNvPr id="12" name="">
            <a:extLst xmlns:a="http://schemas.openxmlformats.org/drawingml/2006/main">
              <a:ext uri="{FF2B5EF4-FFF2-40B4-BE49-F238E27FC236}">
                <a16:creationId xmlns:a16="http://schemas.microsoft.com/office/drawing/2014/main" id="{D1D5A125-DF2C-426E-9FCA-40858233CCD9}"/>
              </a:ext>
            </a:extLst>
          </p:cNvPr>
          <p:cNvSpPr>
            <a:spLocks xmlns:a="http://schemas.openxmlformats.org/drawingml/2006/main" noGrp="1"/>
          </p:cNvSpPr>
          <p:nvPr/>
        </p:nvSpPr>
        <p:spPr>
          <a:xfrm xmlns:a="http://schemas.openxmlformats.org/drawingml/2006/main">
            <a:off x="685800" y="4791075"/>
            <a:ext cx="10287000" cy="19050"/>
          </a:xfrm>
          <a:prstGeom xmlns:a="http://schemas.openxmlformats.org/drawingml/2006/main" prst="rect">
            <a:avLst/>
          </a:prstGeom>
          <a:solidFill xmlns:a="http://schemas.openxmlformats.org/drawingml/2006/main">
            <a:srgbClr val="C9D4C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060A18B-A366-497B-A542-64D253471CC0}"/>
              </a:ext>
            </a:extLst>
          </p:cNvPr>
          <p:cNvSpPr>
            <a:spLocks xmlns:a="http://schemas.openxmlformats.org/drawingml/2006/main" noGrp="1"/>
          </p:cNvSpPr>
          <p:nvPr/>
        </p:nvSpPr>
        <p:spPr>
          <a:xfrm xmlns:a="http://schemas.openxmlformats.org/drawingml/2006/main">
            <a:off x="685800" y="5038725"/>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B99155"/>
                </a:solidFill>
                <a:latin typeface="Arial"/>
                <a:ea typeface="Arial"/>
                <a:cs typeface="Arial"/>
              </a:defRPr>
            </a:pPr>
            <a:r>
              <a:rPr sz="1650" b="1">
                <a:solidFill>
                  <a:srgbClr val="B99155"/>
                </a:solidFill>
                <a:latin typeface="Arial"/>
                <a:ea typeface="Arial"/>
                <a:cs typeface="Arial"/>
              </a:rPr>
              <a:t>Quy tắc quan trọng</a:t>
            </a:r>
          </a:p>
        </p:txBody>
      </p:sp>
      <p:sp>
        <p:nvSpPr>
          <p:cNvPr id="14" name="">
            <a:extLst xmlns:a="http://schemas.openxmlformats.org/drawingml/2006/main">
              <a:ext uri="{FF2B5EF4-FFF2-40B4-BE49-F238E27FC236}">
                <a16:creationId xmlns:a16="http://schemas.microsoft.com/office/drawing/2014/main" id="{49299A2E-6730-4D55-A994-8748A59EE7F9}"/>
              </a:ext>
            </a:extLst>
          </p:cNvPr>
          <p:cNvSpPr>
            <a:spLocks xmlns:a="http://schemas.openxmlformats.org/drawingml/2006/main" noGrp="1"/>
          </p:cNvSpPr>
          <p:nvPr/>
        </p:nvSpPr>
        <p:spPr>
          <a:xfrm xmlns:a="http://schemas.openxmlformats.org/drawingml/2006/main">
            <a:off x="685800" y="5514975"/>
            <a:ext cx="10334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5372F"/>
                </a:solidFill>
                <a:latin typeface="Arial"/>
                <a:ea typeface="Arial"/>
                <a:cs typeface="Arial"/>
              </a:defRPr>
            </a:pPr>
            <a:r>
              <a:rPr sz="1650" b="0">
                <a:solidFill>
                  <a:srgbClr val="15372F"/>
                </a:solidFill>
                <a:latin typeface="Arial"/>
                <a:ea typeface="Arial"/>
                <a:cs typeface="Arial"/>
              </a:rPr>
              <a:t>Dữ liệu BLE thô và lịch sử di chuyển nằm trên thiết bị; API chỉ được gọi khi cần lấy nội dung zone.</a:t>
            </a:r>
          </a:p>
        </p:txBody>
      </p:sp>
    </p:spTree>
    <p:extLst>
      <p:ext uri="{BB962C8B-B14F-4D97-AF65-F5344CB8AC3E}">
        <p14:creationId xmlns:p14="http://schemas.microsoft.com/office/powerpoint/2010/main" val="462268652"/>
      </p:ext>
    </p:extLst>
  </p:cSld>
</p:sld>
</file>

<file path=ppt/slides/slide8.xml><?xml version="1.0" encoding="utf-8"?>
<p:sld xmlns:p="http://schemas.openxmlformats.org/presentationml/2006/main">
  <p:cSld>
    <p:bg>
      <p:bgPr>
        <a:solidFill xmlns:a="http://schemas.openxmlformats.org/drawingml/2006/main">
          <a:srgbClr val="15372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40FFF88-9A1B-4216-B89D-F8965BD5D351}"/>
              </a:ext>
            </a:extLst>
          </p:cNvPr>
          <p:cNvSpPr>
            <a:spLocks xmlns:a="http://schemas.openxmlformats.org/drawingml/2006/main" noGrp="1"/>
          </p:cNvSpPr>
          <p:nvPr/>
        </p:nvSpPr>
        <p:spPr>
          <a:xfrm xmlns:a="http://schemas.openxmlformats.org/drawingml/2006/main">
            <a:off x="685800" y="476250"/>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Kịch bản demo trực tiếp</a:t>
            </a:r>
          </a:p>
        </p:txBody>
      </p:sp>
      <p:sp>
        <p:nvSpPr>
          <p:cNvPr id="2" name="">
            <a:extLst xmlns:a="http://schemas.openxmlformats.org/drawingml/2006/main">
              <a:ext uri="{FF2B5EF4-FFF2-40B4-BE49-F238E27FC236}">
                <a16:creationId xmlns:a16="http://schemas.microsoft.com/office/drawing/2014/main" id="{5DAB56A8-C38B-4E05-BB09-7ECA35788CAF}"/>
              </a:ext>
            </a:extLst>
          </p:cNvPr>
          <p:cNvSpPr>
            <a:spLocks xmlns:a="http://schemas.openxmlformats.org/drawingml/2006/main" noGrp="1"/>
          </p:cNvSpPr>
          <p:nvPr/>
        </p:nvSpPr>
        <p:spPr>
          <a:xfrm xmlns:a="http://schemas.openxmlformats.org/drawingml/2006/main">
            <a:off x="685800" y="1247775"/>
            <a:ext cx="781050" cy="38100"/>
          </a:xfrm>
          <a:prstGeom xmlns:a="http://schemas.openxmlformats.org/drawingml/2006/main" prst="rect">
            <a:avLst/>
          </a:prstGeom>
          <a:solidFill xmlns:a="http://schemas.openxmlformats.org/drawingml/2006/main">
            <a:srgbClr val="B9915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31E6905-4F73-4126-A0EE-37B60F0A6FA6}"/>
              </a:ext>
            </a:extLst>
          </p:cNvPr>
          <p:cNvSpPr>
            <a:spLocks xmlns:a="http://schemas.openxmlformats.org/drawingml/2006/main" noGrp="1"/>
          </p:cNvSpPr>
          <p:nvPr/>
        </p:nvSpPr>
        <p:spPr>
          <a:xfrm xmlns:a="http://schemas.openxmlformats.org/drawingml/2006/main">
            <a:off x="11391900" y="634365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D9E4D8"/>
                </a:solidFill>
                <a:latin typeface="Arial"/>
                <a:ea typeface="Arial"/>
                <a:cs typeface="Arial"/>
              </a:defRPr>
            </a:pPr>
            <a:r>
              <a:rPr sz="975" b="1">
                <a:solidFill>
                  <a:srgbClr val="D9E4D8"/>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E19BD975-D27B-4798-B047-861F2F75B7F5}"/>
              </a:ext>
            </a:extLst>
          </p:cNvPr>
          <p:cNvSpPr>
            <a:spLocks xmlns:a="http://schemas.openxmlformats.org/drawingml/2006/main" noGrp="1"/>
          </p:cNvSpPr>
          <p:nvPr/>
        </p:nvSpPr>
        <p:spPr>
          <a:xfrm xmlns:a="http://schemas.openxmlformats.org/drawingml/2006/main">
            <a:off x="685800" y="15811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B99155"/>
                </a:solidFill>
                <a:latin typeface="Arial"/>
                <a:ea typeface="Arial"/>
                <a:cs typeface="Arial"/>
              </a:defRPr>
            </a:pPr>
            <a:r>
              <a:rPr sz="2100" b="1">
                <a:solidFill>
                  <a:srgbClr val="B99155"/>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BFD87A8-9A1E-4A4D-93DA-19F79366F4DA}"/>
              </a:ext>
            </a:extLst>
          </p:cNvPr>
          <p:cNvSpPr>
            <a:spLocks xmlns:a="http://schemas.openxmlformats.org/drawingml/2006/main" noGrp="1"/>
          </p:cNvSpPr>
          <p:nvPr/>
        </p:nvSpPr>
        <p:spPr>
          <a:xfrm xmlns:a="http://schemas.openxmlformats.org/drawingml/2006/main">
            <a:off x="1514475" y="1581150"/>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Admin</a:t>
            </a:r>
          </a:p>
        </p:txBody>
      </p:sp>
      <p:sp>
        <p:nvSpPr>
          <p:cNvPr id="6" name="">
            <a:extLst xmlns:a="http://schemas.openxmlformats.org/drawingml/2006/main">
              <a:ext uri="{FF2B5EF4-FFF2-40B4-BE49-F238E27FC236}">
                <a16:creationId xmlns:a16="http://schemas.microsoft.com/office/drawing/2014/main" id="{5A703308-2318-44E4-9D9E-A6E51B010345}"/>
              </a:ext>
            </a:extLst>
          </p:cNvPr>
          <p:cNvSpPr>
            <a:spLocks xmlns:a="http://schemas.openxmlformats.org/drawingml/2006/main" noGrp="1"/>
          </p:cNvSpPr>
          <p:nvPr/>
        </p:nvSpPr>
        <p:spPr>
          <a:xfrm xmlns:a="http://schemas.openxmlformats.org/drawingml/2006/main">
            <a:off x="3895725" y="1581150"/>
            <a:ext cx="7620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D9E4D8"/>
                </a:solidFill>
                <a:latin typeface="Arial"/>
                <a:ea typeface="Arial"/>
                <a:cs typeface="Arial"/>
              </a:defRPr>
            </a:pPr>
            <a:r>
              <a:rPr sz="1650" b="0">
                <a:solidFill>
                  <a:srgbClr val="D9E4D8"/>
                </a:solidFill>
                <a:latin typeface="Arial"/>
                <a:ea typeface="Arial"/>
                <a:cs typeface="Arial"/>
              </a:rPr>
              <a:t>Mở zone ZONE_A01 và hiện vật đang gán</a:t>
            </a:r>
          </a:p>
        </p:txBody>
      </p:sp>
      <p:sp>
        <p:nvSpPr>
          <p:cNvPr id="7" name="">
            <a:extLst xmlns:a="http://schemas.openxmlformats.org/drawingml/2006/main">
              <a:ext uri="{FF2B5EF4-FFF2-40B4-BE49-F238E27FC236}">
                <a16:creationId xmlns:a16="http://schemas.microsoft.com/office/drawing/2014/main" id="{6D50DEFF-AD8B-4472-B8AE-C1CC1CD70B40}"/>
              </a:ext>
            </a:extLst>
          </p:cNvPr>
          <p:cNvSpPr>
            <a:spLocks xmlns:a="http://schemas.openxmlformats.org/drawingml/2006/main" noGrp="1"/>
          </p:cNvSpPr>
          <p:nvPr/>
        </p:nvSpPr>
        <p:spPr>
          <a:xfrm xmlns:a="http://schemas.openxmlformats.org/drawingml/2006/main">
            <a:off x="685800" y="24860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B99155"/>
                </a:solidFill>
                <a:latin typeface="Arial"/>
                <a:ea typeface="Arial"/>
                <a:cs typeface="Arial"/>
              </a:defRPr>
            </a:pPr>
            <a:r>
              <a:rPr sz="2100" b="1">
                <a:solidFill>
                  <a:srgbClr val="B99155"/>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0F1178B1-EB4C-4D35-ADD8-4CC88761B4C2}"/>
              </a:ext>
            </a:extLst>
          </p:cNvPr>
          <p:cNvSpPr>
            <a:spLocks xmlns:a="http://schemas.openxmlformats.org/drawingml/2006/main" noGrp="1"/>
          </p:cNvSpPr>
          <p:nvPr/>
        </p:nvSpPr>
        <p:spPr>
          <a:xfrm xmlns:a="http://schemas.openxmlformats.org/drawingml/2006/main">
            <a:off x="1514475" y="2486025"/>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QR web</a:t>
            </a:r>
          </a:p>
        </p:txBody>
      </p:sp>
      <p:sp>
        <p:nvSpPr>
          <p:cNvPr id="9" name="">
            <a:extLst xmlns:a="http://schemas.openxmlformats.org/drawingml/2006/main">
              <a:ext uri="{FF2B5EF4-FFF2-40B4-BE49-F238E27FC236}">
                <a16:creationId xmlns:a16="http://schemas.microsoft.com/office/drawing/2014/main" id="{1D500319-9131-47F1-A775-4CEE4C67F7AF}"/>
              </a:ext>
            </a:extLst>
          </p:cNvPr>
          <p:cNvSpPr>
            <a:spLocks xmlns:a="http://schemas.openxmlformats.org/drawingml/2006/main" noGrp="1"/>
          </p:cNvSpPr>
          <p:nvPr/>
        </p:nvSpPr>
        <p:spPr>
          <a:xfrm xmlns:a="http://schemas.openxmlformats.org/drawingml/2006/main">
            <a:off x="3895725" y="2486025"/>
            <a:ext cx="7620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D9E4D8"/>
                </a:solidFill>
                <a:latin typeface="Arial"/>
                <a:ea typeface="Arial"/>
                <a:cs typeface="Arial"/>
              </a:defRPr>
            </a:pPr>
            <a:r>
              <a:rPr sz="1650" b="0">
                <a:solidFill>
                  <a:srgbClr val="D9E4D8"/>
                </a:solidFill>
                <a:latin typeface="Arial"/>
                <a:ea typeface="Arial"/>
                <a:cs typeface="Arial"/>
              </a:rPr>
              <a:t>Mở /q/ZONE_A01; xem hiện vật và audio</a:t>
            </a:r>
          </a:p>
        </p:txBody>
      </p:sp>
      <p:sp>
        <p:nvSpPr>
          <p:cNvPr id="10" name="">
            <a:extLst xmlns:a="http://schemas.openxmlformats.org/drawingml/2006/main">
              <a:ext uri="{FF2B5EF4-FFF2-40B4-BE49-F238E27FC236}">
                <a16:creationId xmlns:a16="http://schemas.microsoft.com/office/drawing/2014/main" id="{9A6D1CB1-5458-409E-A84A-E246508E65FF}"/>
              </a:ext>
            </a:extLst>
          </p:cNvPr>
          <p:cNvSpPr>
            <a:spLocks xmlns:a="http://schemas.openxmlformats.org/drawingml/2006/main" noGrp="1"/>
          </p:cNvSpPr>
          <p:nvPr/>
        </p:nvSpPr>
        <p:spPr>
          <a:xfrm xmlns:a="http://schemas.openxmlformats.org/drawingml/2006/main">
            <a:off x="685800" y="339090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B99155"/>
                </a:solidFill>
                <a:latin typeface="Arial"/>
                <a:ea typeface="Arial"/>
                <a:cs typeface="Arial"/>
              </a:defRPr>
            </a:pPr>
            <a:r>
              <a:rPr sz="2100" b="1">
                <a:solidFill>
                  <a:srgbClr val="B9915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0C841485-6503-4A68-8931-95F191EC3F22}"/>
              </a:ext>
            </a:extLst>
          </p:cNvPr>
          <p:cNvSpPr>
            <a:spLocks xmlns:a="http://schemas.openxmlformats.org/drawingml/2006/main" noGrp="1"/>
          </p:cNvSpPr>
          <p:nvPr/>
        </p:nvSpPr>
        <p:spPr>
          <a:xfrm xmlns:a="http://schemas.openxmlformats.org/drawingml/2006/main">
            <a:off x="1514475" y="3390900"/>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Đổi ngôn ngữ</a:t>
            </a:r>
          </a:p>
        </p:txBody>
      </p:sp>
      <p:sp>
        <p:nvSpPr>
          <p:cNvPr id="12" name="">
            <a:extLst xmlns:a="http://schemas.openxmlformats.org/drawingml/2006/main">
              <a:ext uri="{FF2B5EF4-FFF2-40B4-BE49-F238E27FC236}">
                <a16:creationId xmlns:a16="http://schemas.microsoft.com/office/drawing/2014/main" id="{7C70085A-DF17-49E0-B5C8-43C6DA439B0F}"/>
              </a:ext>
            </a:extLst>
          </p:cNvPr>
          <p:cNvSpPr>
            <a:spLocks xmlns:a="http://schemas.openxmlformats.org/drawingml/2006/main" noGrp="1"/>
          </p:cNvSpPr>
          <p:nvPr/>
        </p:nvSpPr>
        <p:spPr>
          <a:xfrm xmlns:a="http://schemas.openxmlformats.org/drawingml/2006/main">
            <a:off x="3895725" y="3390900"/>
            <a:ext cx="7620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D9E4D8"/>
                </a:solidFill>
                <a:latin typeface="Arial"/>
                <a:ea typeface="Arial"/>
                <a:cs typeface="Arial"/>
              </a:defRPr>
            </a:pPr>
            <a:r>
              <a:rPr sz="1650" b="0">
                <a:solidFill>
                  <a:srgbClr val="D9E4D8"/>
                </a:solidFill>
                <a:latin typeface="Arial"/>
                <a:ea typeface="Arial"/>
                <a:cs typeface="Arial"/>
              </a:rPr>
              <a:t>Chuyển Việt ↔ Anh để thấy nội dung tương ứng</a:t>
            </a:r>
          </a:p>
        </p:txBody>
      </p:sp>
      <p:sp>
        <p:nvSpPr>
          <p:cNvPr id="13" name="">
            <a:extLst xmlns:a="http://schemas.openxmlformats.org/drawingml/2006/main">
              <a:ext uri="{FF2B5EF4-FFF2-40B4-BE49-F238E27FC236}">
                <a16:creationId xmlns:a16="http://schemas.microsoft.com/office/drawing/2014/main" id="{3111014A-DE2E-40E9-81F0-3BA48162F2CA}"/>
              </a:ext>
            </a:extLst>
          </p:cNvPr>
          <p:cNvSpPr>
            <a:spLocks xmlns:a="http://schemas.openxmlformats.org/drawingml/2006/main" noGrp="1"/>
          </p:cNvSpPr>
          <p:nvPr/>
        </p:nvSpPr>
        <p:spPr>
          <a:xfrm xmlns:a="http://schemas.openxmlformats.org/drawingml/2006/main">
            <a:off x="685800" y="42957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B99155"/>
                </a:solidFill>
                <a:latin typeface="Arial"/>
                <a:ea typeface="Arial"/>
                <a:cs typeface="Arial"/>
              </a:defRPr>
            </a:pPr>
            <a:r>
              <a:rPr sz="2100" b="1">
                <a:solidFill>
                  <a:srgbClr val="B99155"/>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6DAFE0CA-ECF1-49F5-B57C-5676761AB512}"/>
              </a:ext>
            </a:extLst>
          </p:cNvPr>
          <p:cNvSpPr>
            <a:spLocks xmlns:a="http://schemas.openxmlformats.org/drawingml/2006/main" noGrp="1"/>
          </p:cNvSpPr>
          <p:nvPr/>
        </p:nvSpPr>
        <p:spPr>
          <a:xfrm xmlns:a="http://schemas.openxmlformats.org/drawingml/2006/main">
            <a:off x="1514475" y="4295775"/>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Đổi nội dung</a:t>
            </a:r>
          </a:p>
        </p:txBody>
      </p:sp>
      <p:sp>
        <p:nvSpPr>
          <p:cNvPr id="15" name="">
            <a:extLst xmlns:a="http://schemas.openxmlformats.org/drawingml/2006/main">
              <a:ext uri="{FF2B5EF4-FFF2-40B4-BE49-F238E27FC236}">
                <a16:creationId xmlns:a16="http://schemas.microsoft.com/office/drawing/2014/main" id="{8EB89169-01D0-48B5-8040-B494FBB37D00}"/>
              </a:ext>
            </a:extLst>
          </p:cNvPr>
          <p:cNvSpPr>
            <a:spLocks xmlns:a="http://schemas.openxmlformats.org/drawingml/2006/main" noGrp="1"/>
          </p:cNvSpPr>
          <p:nvPr/>
        </p:nvSpPr>
        <p:spPr>
          <a:xfrm xmlns:a="http://schemas.openxmlformats.org/drawingml/2006/main">
            <a:off x="3895725" y="4295775"/>
            <a:ext cx="7620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D9E4D8"/>
                </a:solidFill>
                <a:latin typeface="Arial"/>
                <a:ea typeface="Arial"/>
                <a:cs typeface="Arial"/>
              </a:defRPr>
            </a:pPr>
            <a:r>
              <a:rPr sz="1650" b="0">
                <a:solidFill>
                  <a:srgbClr val="D9E4D8"/>
                </a:solidFill>
                <a:latin typeface="Arial"/>
                <a:ea typeface="Arial"/>
                <a:cs typeface="Arial"/>
              </a:rPr>
              <a:t>Admin gán hiện vật khác; tải lại cùng QR</a:t>
            </a:r>
          </a:p>
        </p:txBody>
      </p:sp>
      <p:sp>
        <p:nvSpPr>
          <p:cNvPr id="16" name="">
            <a:extLst xmlns:a="http://schemas.openxmlformats.org/drawingml/2006/main">
              <a:ext uri="{FF2B5EF4-FFF2-40B4-BE49-F238E27FC236}">
                <a16:creationId xmlns:a16="http://schemas.microsoft.com/office/drawing/2014/main" id="{E6E50AFC-F35D-4F44-8DE0-51DCCB004738}"/>
              </a:ext>
            </a:extLst>
          </p:cNvPr>
          <p:cNvSpPr>
            <a:spLocks xmlns:a="http://schemas.openxmlformats.org/drawingml/2006/main" noGrp="1"/>
          </p:cNvSpPr>
          <p:nvPr/>
        </p:nvSpPr>
        <p:spPr>
          <a:xfrm xmlns:a="http://schemas.openxmlformats.org/drawingml/2006/main">
            <a:off x="685800" y="52006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B99155"/>
                </a:solidFill>
                <a:latin typeface="Arial"/>
                <a:ea typeface="Arial"/>
                <a:cs typeface="Arial"/>
              </a:defRPr>
            </a:pPr>
            <a:r>
              <a:rPr sz="2100" b="1">
                <a:solidFill>
                  <a:srgbClr val="B99155"/>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F948EDF2-C4F5-4FFA-9A97-AE38594C6113}"/>
              </a:ext>
            </a:extLst>
          </p:cNvPr>
          <p:cNvSpPr>
            <a:spLocks xmlns:a="http://schemas.openxmlformats.org/drawingml/2006/main" noGrp="1"/>
          </p:cNvSpPr>
          <p:nvPr/>
        </p:nvSpPr>
        <p:spPr>
          <a:xfrm xmlns:a="http://schemas.openxmlformats.org/drawingml/2006/main">
            <a:off x="1514475" y="5200650"/>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Mobile BLE</a:t>
            </a:r>
          </a:p>
        </p:txBody>
      </p:sp>
      <p:sp>
        <p:nvSpPr>
          <p:cNvPr id="18" name="">
            <a:extLst xmlns:a="http://schemas.openxmlformats.org/drawingml/2006/main">
              <a:ext uri="{FF2B5EF4-FFF2-40B4-BE49-F238E27FC236}">
                <a16:creationId xmlns:a16="http://schemas.microsoft.com/office/drawing/2014/main" id="{5D2E00E6-281B-4BAE-918A-8333665D894F}"/>
              </a:ext>
            </a:extLst>
          </p:cNvPr>
          <p:cNvSpPr>
            <a:spLocks xmlns:a="http://schemas.openxmlformats.org/drawingml/2006/main" noGrp="1"/>
          </p:cNvSpPr>
          <p:nvPr/>
        </p:nvSpPr>
        <p:spPr>
          <a:xfrm xmlns:a="http://schemas.openxmlformats.org/drawingml/2006/main">
            <a:off x="3895725" y="5200650"/>
            <a:ext cx="7620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D9E4D8"/>
                </a:solidFill>
                <a:latin typeface="Arial"/>
                <a:ea typeface="Arial"/>
                <a:cs typeface="Arial"/>
              </a:defRPr>
            </a:pPr>
            <a:r>
              <a:rPr sz="1650" b="0">
                <a:solidFill>
                  <a:srgbClr val="D9E4D8"/>
                </a:solidFill>
                <a:latin typeface="Arial"/>
                <a:ea typeface="Arial"/>
                <a:cs typeface="Arial"/>
              </a:rPr>
              <a:t>Nếu có development build + beacon thật: đi vào zone và nhận gợi ý</a:t>
            </a:r>
          </a:p>
        </p:txBody>
      </p:sp>
    </p:spTree>
    <p:extLst>
      <p:ext uri="{BB962C8B-B14F-4D97-AF65-F5344CB8AC3E}">
        <p14:creationId xmlns:p14="http://schemas.microsoft.com/office/powerpoint/2010/main" val="68187597"/>
      </p:ext>
    </p:extLst>
  </p:cSld>
</p:sld>
</file>

<file path=ppt/slides/slide9.xml><?xml version="1.0" encoding="utf-8"?>
<p:sld xmlns:p="http://schemas.openxmlformats.org/presentationml/2006/main">
  <p:cSld>
    <p:bg>
      <p:bgPr>
        <a:solidFill xmlns:a="http://schemas.openxmlformats.org/drawingml/2006/main">
          <a:srgbClr val="FCFA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F8FE442-8ED0-46CD-9101-50AB00F8B76E}"/>
              </a:ext>
            </a:extLst>
          </p:cNvPr>
          <p:cNvSpPr>
            <a:spLocks xmlns:a="http://schemas.openxmlformats.org/drawingml/2006/main" noGrp="1"/>
          </p:cNvSpPr>
          <p:nvPr/>
        </p:nvSpPr>
        <p:spPr>
          <a:xfrm xmlns:a="http://schemas.openxmlformats.org/drawingml/2006/main">
            <a:off x="685800" y="476250"/>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15372F"/>
                </a:solidFill>
                <a:latin typeface="Arial"/>
                <a:ea typeface="Arial"/>
                <a:cs typeface="Arial"/>
              </a:defRPr>
            </a:pPr>
            <a:r>
              <a:rPr sz="2850" b="1">
                <a:solidFill>
                  <a:srgbClr val="15372F"/>
                </a:solidFill>
                <a:latin typeface="Arial"/>
                <a:ea typeface="Arial"/>
                <a:cs typeface="Arial"/>
              </a:rPr>
              <a:t>Tiến độ và việc cần hoàn thiện</a:t>
            </a:r>
          </a:p>
        </p:txBody>
      </p:sp>
      <p:sp>
        <p:nvSpPr>
          <p:cNvPr id="2" name="">
            <a:extLst xmlns:a="http://schemas.openxmlformats.org/drawingml/2006/main">
              <a:ext uri="{FF2B5EF4-FFF2-40B4-BE49-F238E27FC236}">
                <a16:creationId xmlns:a16="http://schemas.microsoft.com/office/drawing/2014/main" id="{B0D021ED-5393-49F9-8975-5C724C24DD6C}"/>
              </a:ext>
            </a:extLst>
          </p:cNvPr>
          <p:cNvSpPr>
            <a:spLocks xmlns:a="http://schemas.openxmlformats.org/drawingml/2006/main" noGrp="1"/>
          </p:cNvSpPr>
          <p:nvPr/>
        </p:nvSpPr>
        <p:spPr>
          <a:xfrm xmlns:a="http://schemas.openxmlformats.org/drawingml/2006/main">
            <a:off x="685800" y="1247775"/>
            <a:ext cx="781050" cy="38100"/>
          </a:xfrm>
          <a:prstGeom xmlns:a="http://schemas.openxmlformats.org/drawingml/2006/main" prst="rect">
            <a:avLst/>
          </a:prstGeom>
          <a:solidFill xmlns:a="http://schemas.openxmlformats.org/drawingml/2006/main">
            <a:srgbClr val="B9915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5A87240-E788-4BB6-BDB2-43CC8D6CC147}"/>
              </a:ext>
            </a:extLst>
          </p:cNvPr>
          <p:cNvSpPr>
            <a:spLocks xmlns:a="http://schemas.openxmlformats.org/drawingml/2006/main" noGrp="1"/>
          </p:cNvSpPr>
          <p:nvPr/>
        </p:nvSpPr>
        <p:spPr>
          <a:xfrm xmlns:a="http://schemas.openxmlformats.org/drawingml/2006/main">
            <a:off x="11391900" y="634365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587068"/>
                </a:solidFill>
                <a:latin typeface="Arial"/>
                <a:ea typeface="Arial"/>
                <a:cs typeface="Arial"/>
              </a:defRPr>
            </a:pPr>
            <a:r>
              <a:rPr sz="975" b="1">
                <a:solidFill>
                  <a:srgbClr val="587068"/>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B763968C-54C1-460E-BD81-C03922D8D2B8}"/>
              </a:ext>
            </a:extLst>
          </p:cNvPr>
          <p:cNvSpPr>
            <a:spLocks xmlns:a="http://schemas.openxmlformats.org/drawingml/2006/main" noGrp="1"/>
          </p:cNvSpPr>
          <p:nvPr/>
        </p:nvSpPr>
        <p:spPr>
          <a:xfrm xmlns:a="http://schemas.openxmlformats.org/drawingml/2006/main">
            <a:off x="685800" y="1695450"/>
            <a:ext cx="466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B99155"/>
                </a:solidFill>
                <a:latin typeface="Arial"/>
                <a:ea typeface="Arial"/>
                <a:cs typeface="Arial"/>
              </a:defRPr>
            </a:pPr>
            <a:r>
              <a:rPr sz="1425" b="1">
                <a:solidFill>
                  <a:srgbClr val="B99155"/>
                </a:solidFill>
                <a:latin typeface="Arial"/>
                <a:ea typeface="Arial"/>
                <a:cs typeface="Arial"/>
              </a:rPr>
              <a:t>ĐÃ CÓ TRONG MÃ NGUỒN</a:t>
            </a:r>
          </a:p>
        </p:txBody>
      </p:sp>
      <p:sp>
        <p:nvSpPr>
          <p:cNvPr id="5" name="">
            <a:extLst xmlns:a="http://schemas.openxmlformats.org/drawingml/2006/main">
              <a:ext uri="{FF2B5EF4-FFF2-40B4-BE49-F238E27FC236}">
                <a16:creationId xmlns:a16="http://schemas.microsoft.com/office/drawing/2014/main" id="{12DFBCE4-D7B4-4FD2-8347-8DAA286C95C9}"/>
              </a:ext>
            </a:extLst>
          </p:cNvPr>
          <p:cNvSpPr>
            <a:spLocks xmlns:a="http://schemas.openxmlformats.org/drawingml/2006/main" noGrp="1"/>
          </p:cNvSpPr>
          <p:nvPr/>
        </p:nvSpPr>
        <p:spPr>
          <a:xfrm xmlns:a="http://schemas.openxmlformats.org/drawingml/2006/main">
            <a:off x="685800" y="2219325"/>
            <a:ext cx="4619625"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15372F"/>
                </a:solidFill>
                <a:latin typeface="Arial"/>
                <a:ea typeface="Arial"/>
                <a:cs typeface="Arial"/>
              </a:defRPr>
            </a:pPr>
            <a:r>
              <a:rPr sz="1875" b="0">
                <a:solidFill>
                  <a:srgbClr val="15372F"/>
                </a:solidFill>
                <a:latin typeface="Arial"/>
                <a:ea typeface="Arial"/>
                <a:cs typeface="Arial"/>
              </a:rPr>
              <a:t>Luồng BLE / QR đến zone</a:t>
            </a:r>
          </a:p>
          <a:p xmlns:a="http://schemas.openxmlformats.org/drawingml/2006/main">
            <a:pPr algn="l">
              <a:defRPr sz="1875" b="0">
                <a:solidFill>
                  <a:srgbClr val="15372F"/>
                </a:solidFill>
                <a:latin typeface="Arial"/>
                <a:ea typeface="Arial"/>
                <a:cs typeface="Arial"/>
              </a:defRPr>
            </a:pPr>
            <a:r>
              <a:rPr sz="1875" b="0">
                <a:solidFill>
                  <a:srgbClr val="15372F"/>
                </a:solidFill>
                <a:latin typeface="Arial"/>
                <a:ea typeface="Arial"/>
                <a:cs typeface="Arial"/>
              </a:rPr>
              <a:t>Quản lý hiện vật, zone, beacon</a:t>
            </a:r>
          </a:p>
          <a:p xmlns:a="http://schemas.openxmlformats.org/drawingml/2006/main">
            <a:pPr algn="l">
              <a:defRPr sz="1875" b="0">
                <a:solidFill>
                  <a:srgbClr val="15372F"/>
                </a:solidFill>
                <a:latin typeface="Arial"/>
                <a:ea typeface="Arial"/>
                <a:cs typeface="Arial"/>
              </a:defRPr>
            </a:pPr>
            <a:r>
              <a:rPr sz="1875" b="0">
                <a:solidFill>
                  <a:srgbClr val="15372F"/>
                </a:solidFill>
                <a:latin typeface="Arial"/>
                <a:ea typeface="Arial"/>
                <a:cs typeface="Arial"/>
              </a:rPr>
              <a:t>Nội dung đa ngôn ngữ và audio</a:t>
            </a:r>
          </a:p>
          <a:p xmlns:a="http://schemas.openxmlformats.org/drawingml/2006/main">
            <a:pPr algn="l">
              <a:defRPr sz="1875" b="0">
                <a:solidFill>
                  <a:srgbClr val="15372F"/>
                </a:solidFill>
                <a:latin typeface="Arial"/>
                <a:ea typeface="Arial"/>
                <a:cs typeface="Arial"/>
              </a:defRPr>
            </a:pPr>
            <a:r>
              <a:rPr sz="1875" b="0">
                <a:solidFill>
                  <a:srgbClr val="15372F"/>
                </a:solidFill>
                <a:latin typeface="Arial"/>
                <a:ea typeface="Arial"/>
                <a:cs typeface="Arial"/>
              </a:rPr>
              <a:t>Dữ liệu mẫu cho ba zone</a:t>
            </a:r>
          </a:p>
        </p:txBody>
      </p:sp>
      <p:sp>
        <p:nvSpPr>
          <p:cNvPr id="6" name="">
            <a:extLst xmlns:a="http://schemas.openxmlformats.org/drawingml/2006/main">
              <a:ext uri="{FF2B5EF4-FFF2-40B4-BE49-F238E27FC236}">
                <a16:creationId xmlns:a16="http://schemas.microsoft.com/office/drawing/2014/main" id="{E847686B-4EB4-4517-BD72-B137807307B4}"/>
              </a:ext>
            </a:extLst>
          </p:cNvPr>
          <p:cNvSpPr>
            <a:spLocks xmlns:a="http://schemas.openxmlformats.org/drawingml/2006/main" noGrp="1"/>
          </p:cNvSpPr>
          <p:nvPr/>
        </p:nvSpPr>
        <p:spPr>
          <a:xfrm xmlns:a="http://schemas.openxmlformats.org/drawingml/2006/main">
            <a:off x="5829300" y="1790700"/>
            <a:ext cx="28575" cy="3390900"/>
          </a:xfrm>
          <a:prstGeom xmlns:a="http://schemas.openxmlformats.org/drawingml/2006/main" prst="rect">
            <a:avLst/>
          </a:prstGeom>
          <a:solidFill xmlns:a="http://schemas.openxmlformats.org/drawingml/2006/main">
            <a:srgbClr val="B9915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87D88C8-BD1E-4592-BE9C-05CA20778D3F}"/>
              </a:ext>
            </a:extLst>
          </p:cNvPr>
          <p:cNvSpPr>
            <a:spLocks xmlns:a="http://schemas.openxmlformats.org/drawingml/2006/main" noGrp="1"/>
          </p:cNvSpPr>
          <p:nvPr/>
        </p:nvSpPr>
        <p:spPr>
          <a:xfrm xmlns:a="http://schemas.openxmlformats.org/drawingml/2006/main">
            <a:off x="6324600" y="1695450"/>
            <a:ext cx="516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B99155"/>
                </a:solidFill>
                <a:latin typeface="Arial"/>
                <a:ea typeface="Arial"/>
                <a:cs typeface="Arial"/>
              </a:defRPr>
            </a:pPr>
            <a:r>
              <a:rPr sz="1425" b="1">
                <a:solidFill>
                  <a:srgbClr val="B99155"/>
                </a:solidFill>
                <a:latin typeface="Arial"/>
                <a:ea typeface="Arial"/>
                <a:cs typeface="Arial"/>
              </a:rPr>
              <a:t>CẦN KIỂM CHỨNG TRƯỚC DEMO</a:t>
            </a:r>
          </a:p>
        </p:txBody>
      </p:sp>
      <p:sp>
        <p:nvSpPr>
          <p:cNvPr id="8" name="">
            <a:extLst xmlns:a="http://schemas.openxmlformats.org/drawingml/2006/main">
              <a:ext uri="{FF2B5EF4-FFF2-40B4-BE49-F238E27FC236}">
                <a16:creationId xmlns:a16="http://schemas.microsoft.com/office/drawing/2014/main" id="{D6F52746-31B5-4EE3-B68E-224087F71BAA}"/>
              </a:ext>
            </a:extLst>
          </p:cNvPr>
          <p:cNvSpPr>
            <a:spLocks xmlns:a="http://schemas.openxmlformats.org/drawingml/2006/main" noGrp="1"/>
          </p:cNvSpPr>
          <p:nvPr/>
        </p:nvSpPr>
        <p:spPr>
          <a:xfrm xmlns:a="http://schemas.openxmlformats.org/drawingml/2006/main">
            <a:off x="6324600" y="2219325"/>
            <a:ext cx="5048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15372F"/>
                </a:solidFill>
                <a:latin typeface="Arial"/>
                <a:ea typeface="Arial"/>
                <a:cs typeface="Arial"/>
              </a:defRPr>
            </a:pPr>
            <a:r>
              <a:rPr sz="1875" b="0">
                <a:solidFill>
                  <a:srgbClr val="15372F"/>
                </a:solidFill>
                <a:latin typeface="Arial"/>
                <a:ea typeface="Arial"/>
                <a:cs typeface="Arial"/>
              </a:rPr>
              <a:t>Chạy migration và seed trên máy demo</a:t>
            </a:r>
          </a:p>
          <a:p xmlns:a="http://schemas.openxmlformats.org/drawingml/2006/main">
            <a:pPr algn="l">
              <a:defRPr sz="1875" b="0">
                <a:solidFill>
                  <a:srgbClr val="15372F"/>
                </a:solidFill>
                <a:latin typeface="Arial"/>
                <a:ea typeface="Arial"/>
                <a:cs typeface="Arial"/>
              </a:defRPr>
            </a:pPr>
            <a:r>
              <a:rPr sz="1875" b="0">
                <a:solidFill>
                  <a:srgbClr val="15372F"/>
                </a:solidFill>
                <a:latin typeface="Arial"/>
                <a:ea typeface="Arial"/>
                <a:cs typeface="Arial"/>
              </a:rPr>
              <a:t>Kiểm tra API, Admin và Web cùng mạng</a:t>
            </a:r>
          </a:p>
          <a:p xmlns:a="http://schemas.openxmlformats.org/drawingml/2006/main">
            <a:pPr algn="l">
              <a:defRPr sz="1875" b="0">
                <a:solidFill>
                  <a:srgbClr val="15372F"/>
                </a:solidFill>
                <a:latin typeface="Arial"/>
                <a:ea typeface="Arial"/>
                <a:cs typeface="Arial"/>
              </a:defRPr>
            </a:pPr>
            <a:r>
              <a:rPr sz="1875" b="0">
                <a:solidFill>
                  <a:srgbClr val="15372F"/>
                </a:solidFill>
                <a:latin typeface="Arial"/>
                <a:ea typeface="Arial"/>
                <a:cs typeface="Arial"/>
              </a:rPr>
              <a:t>Thử BLE bằng development build / beacon thật</a:t>
            </a:r>
          </a:p>
          <a:p xmlns:a="http://schemas.openxmlformats.org/drawingml/2006/main">
            <a:pPr algn="l">
              <a:defRPr sz="1875" b="0">
                <a:solidFill>
                  <a:srgbClr val="15372F"/>
                </a:solidFill>
                <a:latin typeface="Arial"/>
                <a:ea typeface="Arial"/>
                <a:cs typeface="Arial"/>
              </a:defRPr>
            </a:pPr>
            <a:r>
              <a:rPr sz="1875" b="0">
                <a:solidFill>
                  <a:srgbClr val="15372F"/>
                </a:solidFill>
                <a:latin typeface="Arial"/>
                <a:ea typeface="Arial"/>
                <a:cs typeface="Arial"/>
              </a:rPr>
              <a:t>Thay ảnh và audio mẫu bằng tư liệu chính thức</a:t>
            </a:r>
          </a:p>
        </p:txBody>
      </p:sp>
      <p:sp>
        <p:nvSpPr>
          <p:cNvPr id="9" name="">
            <a:extLst xmlns:a="http://schemas.openxmlformats.org/drawingml/2006/main">
              <a:ext uri="{FF2B5EF4-FFF2-40B4-BE49-F238E27FC236}">
                <a16:creationId xmlns:a16="http://schemas.microsoft.com/office/drawing/2014/main" id="{735373AB-033F-4929-938B-6C8F62F0752A}"/>
              </a:ext>
            </a:extLst>
          </p:cNvPr>
          <p:cNvSpPr>
            <a:spLocks xmlns:a="http://schemas.openxmlformats.org/drawingml/2006/main" noGrp="1"/>
          </p:cNvSpPr>
          <p:nvPr/>
        </p:nvSpPr>
        <p:spPr>
          <a:xfrm xmlns:a="http://schemas.openxmlformats.org/drawingml/2006/main">
            <a:off x="685800" y="54483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587068"/>
                </a:solidFill>
                <a:latin typeface="Arial"/>
                <a:ea typeface="Arial"/>
                <a:cs typeface="Arial"/>
              </a:defRPr>
            </a:pPr>
            <a:r>
              <a:rPr sz="1875" b="1">
                <a:solidFill>
                  <a:srgbClr val="587068"/>
                </a:solidFill>
                <a:latin typeface="Arial"/>
                <a:ea typeface="Arial"/>
                <a:cs typeface="Arial"/>
              </a:rPr>
              <a:t>Mốc tiếp theo: chạy thử luồng đầy đủ và ghi nhận các lỗi thực tế.</a:t>
            </a:r>
          </a:p>
        </p:txBody>
      </p:sp>
    </p:spTree>
    <p:extLst>
      <p:ext uri="{BB962C8B-B14F-4D97-AF65-F5344CB8AC3E}">
        <p14:creationId xmlns:p14="http://schemas.microsoft.com/office/powerpoint/2010/main" val="816527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2026-09-16T11:49:48.9310000Z</dcterms:created>
  <dcterms:modified xsi:type="dcterms:W3CDTF">2026-09-16T11:49:48.9310000Z</dcterms:modified>
</coreProperties>
</file>